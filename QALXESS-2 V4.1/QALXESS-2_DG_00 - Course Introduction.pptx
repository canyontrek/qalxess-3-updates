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941" r:id="rId5"/>
    <p:sldMasterId id="2147483799" r:id="rId6"/>
    <p:sldMasterId id="2147483885" r:id="rId7"/>
  </p:sldMasterIdLst>
  <p:notesMasterIdLst>
    <p:notesMasterId r:id="rId21"/>
  </p:notesMasterIdLst>
  <p:sldIdLst>
    <p:sldId id="385" r:id="rId8"/>
    <p:sldId id="1149" r:id="rId9"/>
    <p:sldId id="338" r:id="rId10"/>
    <p:sldId id="377" r:id="rId11"/>
    <p:sldId id="378" r:id="rId12"/>
    <p:sldId id="1159" r:id="rId13"/>
    <p:sldId id="1153" r:id="rId14"/>
    <p:sldId id="1145" r:id="rId15"/>
    <p:sldId id="1155" r:id="rId16"/>
    <p:sldId id="1156" r:id="rId17"/>
    <p:sldId id="1150" r:id="rId18"/>
    <p:sldId id="1157" r:id="rId19"/>
    <p:sldId id="115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A8F06CE1-BECE-433A-A682-4C071F90D966}">
          <p14:sldIdLst>
            <p14:sldId id="385"/>
          </p14:sldIdLst>
        </p14:section>
        <p14:section name="Introduction" id="{D71C3838-11FC-3F44-90EC-9E7C8FE30A48}">
          <p14:sldIdLst>
            <p14:sldId id="1149"/>
            <p14:sldId id="338"/>
            <p14:sldId id="377"/>
            <p14:sldId id="378"/>
          </p14:sldIdLst>
        </p14:section>
        <p14:section name="Content Slides" id="{05C53EB9-C633-4D6D-B3BC-F573E1DB951E}">
          <p14:sldIdLst>
            <p14:sldId id="1159"/>
            <p14:sldId id="1153"/>
            <p14:sldId id="1145"/>
            <p14:sldId id="1155"/>
            <p14:sldId id="1156"/>
            <p14:sldId id="1150"/>
            <p14:sldId id="1157"/>
            <p14:sldId id="11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5"/>
    <p:restoredTop sz="82975" autoAdjust="0"/>
  </p:normalViewPr>
  <p:slideViewPr>
    <p:cSldViewPr snapToGrid="0">
      <p:cViewPr varScale="1">
        <p:scale>
          <a:sx n="65" d="100"/>
          <a:sy n="65" d="100"/>
        </p:scale>
        <p:origin x="946" y="53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2"/>
    </p:cViewPr>
  </p:sorterViewPr>
  <p:notesViewPr>
    <p:cSldViewPr snapToGrid="0">
      <p:cViewPr>
        <p:scale>
          <a:sx n="90" d="100"/>
          <a:sy n="90" d="100"/>
        </p:scale>
        <p:origin x="1852" y="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20/04/2026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4981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73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4149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57DA4-DF99-7F3D-5B70-AA32B7660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F52070-2CE8-202B-D2FC-AB0B5ABD2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C1B65-7452-C446-D787-8E57A1C63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6E0D-64E9-411C-09FF-1AD2BB718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3458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0E6C1-B993-DD5F-6CDF-BD59E0BF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BBC9A-5571-DD08-F8DA-C3A2DF9D6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D09F6-9EFA-4EAD-F751-E7D8510C3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2FA45-B8BC-FF86-B382-DE87B8963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6751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9763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38AFA-6D76-50DC-A72B-C9E0DDF5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272AE-06C8-B7EE-5656-0E49EB7A8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7F552-AF88-539C-1542-5A1CEADDC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BF192-2EB6-ABD8-FEAD-A84343DEC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741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142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6.emf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7.png"/><Relationship Id="rId4" Type="http://schemas.openxmlformats.org/officeDocument/2006/relationships/image" Target="../media/image29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ch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close-up of several computer servers&#10;&#10;Description automatically generated">
            <a:extLst>
              <a:ext uri="{FF2B5EF4-FFF2-40B4-BE49-F238E27FC236}">
                <a16:creationId xmlns:a16="http://schemas.microsoft.com/office/drawing/2014/main" id="{1365843A-D3A2-68C3-FA59-BF1C30387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528390" y="-8077"/>
            <a:ext cx="5663610" cy="6857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50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ch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3" name="Picture 12" descr="A person holding a computer&#10;&#10;Description automatically generated">
            <a:extLst>
              <a:ext uri="{FF2B5EF4-FFF2-40B4-BE49-F238E27FC236}">
                <a16:creationId xmlns:a16="http://schemas.microsoft.com/office/drawing/2014/main" id="{3DBF6694-ADC9-CF1B-7E41-5CC393D74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808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4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ch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using a phone&#10;&#10;Description automatically generated">
            <a:extLst>
              <a:ext uri="{FF2B5EF4-FFF2-40B4-BE49-F238E27FC236}">
                <a16:creationId xmlns:a16="http://schemas.microsoft.com/office/drawing/2014/main" id="{B6F286F0-CF25-9242-CA8B-50947E0F1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-8078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73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ch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using a tablet&#10;&#10;Description automatically generated">
            <a:extLst>
              <a:ext uri="{FF2B5EF4-FFF2-40B4-BE49-F238E27FC236}">
                <a16:creationId xmlns:a16="http://schemas.microsoft.com/office/drawing/2014/main" id="{05346C35-9053-75E7-9332-A8F5F094B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980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ech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looking at a computer&#10;&#10;Description automatically generated">
            <a:extLst>
              <a:ext uri="{FF2B5EF4-FFF2-40B4-BE49-F238E27FC236}">
                <a16:creationId xmlns:a16="http://schemas.microsoft.com/office/drawing/2014/main" id="{CC5C5D9A-DEE8-9D3C-2F3E-B017E0A73B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79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ue_profile_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4FD157C-1701-012C-2143-58304C2ED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999485"/>
            <a:ext cx="6648345" cy="129723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389C0BE-4DCC-E9AD-17C1-AD749CACE2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180" y="1218612"/>
            <a:ext cx="5693819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Instructor Name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B631D41-CF16-4587-EE5A-FF7C83B85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181" y="2479805"/>
            <a:ext cx="5693817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i="1"/>
            </a:lvl1pPr>
          </a:lstStyle>
          <a:p>
            <a:pPr lvl="0"/>
            <a:r>
              <a:rPr lang="en-US" dirty="0"/>
              <a:t>Title or experience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CDE3A9-8F99-392E-14C8-A4948C568D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2207" y="3415759"/>
            <a:ext cx="396000" cy="396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D4ED24-762D-EF61-C554-5532DF788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0905" y="330687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lvl="0"/>
            <a:r>
              <a:rPr lang="en-US" dirty="0"/>
              <a:t>Information/profile 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B67202-B9C0-D0F4-0C69-ADF372BC45A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2207" y="4104690"/>
            <a:ext cx="396000" cy="396000"/>
          </a:xfrm>
          <a:prstGeom prst="rect">
            <a:avLst/>
          </a:prstGeom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45B8894-94B7-BA63-DFF3-E0A4A6036B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0905" y="3995802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9CBCC6-1C6C-CEEA-BFC1-9863B0ACD48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2207" y="4793969"/>
            <a:ext cx="396000" cy="396000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AF134F-3754-D28E-D2D1-25D9830F3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905" y="468508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62ED008-750F-5C6C-9BEB-B739BD330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06848" y="0"/>
            <a:ext cx="4885151" cy="685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53FB1D-7147-7175-2301-9A982A22B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82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profi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F0E0695-CF3F-D1A6-C4E9-F1386DF2C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004293"/>
            <a:ext cx="8644114" cy="128762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389C0BE-4DCC-E9AD-17C1-AD749CACE2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555" y="1218612"/>
            <a:ext cx="7011445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Instructor Name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B631D41-CF16-4587-EE5A-FF7C83B85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9556" y="2479805"/>
            <a:ext cx="7011444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i="1"/>
            </a:lvl1pPr>
          </a:lstStyle>
          <a:p>
            <a:pPr lvl="0"/>
            <a:r>
              <a:rPr lang="en-US" dirty="0"/>
              <a:t>Title or experience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CDE3A9-8F99-392E-14C8-A4948C568D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9582" y="3415759"/>
            <a:ext cx="396000" cy="396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D4ED24-762D-EF61-C554-5532DF788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78280" y="330687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lvl="0"/>
            <a:r>
              <a:rPr lang="en-US" dirty="0"/>
              <a:t>Information/profile 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B67202-B9C0-D0F4-0C69-ADF372BC45A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69582" y="4104690"/>
            <a:ext cx="396000" cy="396000"/>
          </a:xfrm>
          <a:prstGeom prst="rect">
            <a:avLst/>
          </a:prstGeom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45B8894-94B7-BA63-DFF3-E0A4A6036B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78280" y="3995802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9CBCC6-1C6C-CEEA-BFC1-9863B0ACD48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582" y="4793969"/>
            <a:ext cx="396000" cy="396000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AF134F-3754-D28E-D2D1-25D9830F3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8280" y="468508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820B1-460B-CED5-4276-F7555EDDA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40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_profile_pic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4FD157C-1701-012C-2143-58304C2ED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999485"/>
            <a:ext cx="6648345" cy="129723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389C0BE-4DCC-E9AD-17C1-AD749CACE2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180" y="1218612"/>
            <a:ext cx="5693819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Instructor Name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B631D41-CF16-4587-EE5A-FF7C83B85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2181" y="2479805"/>
            <a:ext cx="5693817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 i="1"/>
            </a:lvl1pPr>
          </a:lstStyle>
          <a:p>
            <a:pPr lvl="0"/>
            <a:r>
              <a:rPr lang="en-US" dirty="0"/>
              <a:t>Title or experience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CDE3A9-8F99-392E-14C8-A4948C568D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2207" y="3415759"/>
            <a:ext cx="396000" cy="396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D4ED24-762D-EF61-C554-5532DF788F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0905" y="330687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lvl="0"/>
            <a:r>
              <a:rPr lang="en-US" dirty="0"/>
              <a:t>Information/profile 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B67202-B9C0-D0F4-0C69-ADF372BC45A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2207" y="4104690"/>
            <a:ext cx="396000" cy="396000"/>
          </a:xfrm>
          <a:prstGeom prst="rect">
            <a:avLst/>
          </a:prstGeom>
        </p:spPr>
      </p:pic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45B8894-94B7-BA63-DFF3-E0A4A6036B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0905" y="3995802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9CBCC6-1C6C-CEEA-BFC1-9863B0ACD48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2207" y="4793969"/>
            <a:ext cx="396000" cy="396000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E7AF134F-3754-D28E-D2D1-25D9830F3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905" y="4685081"/>
            <a:ext cx="4885150" cy="613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latin typeface="Figtree Light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Information/profile here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62ED008-750F-5C6C-9BEB-B739BD330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06848" y="0"/>
            <a:ext cx="4885151" cy="685800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53FB1D-7147-7175-2301-9A982A22B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81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ouse_keep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9EBF8-C9A6-D8B4-0B6B-44BFEAE13628}"/>
              </a:ext>
            </a:extLst>
          </p:cNvPr>
          <p:cNvSpPr txBox="1"/>
          <p:nvPr userDrawn="1"/>
        </p:nvSpPr>
        <p:spPr>
          <a:xfrm>
            <a:off x="443921" y="652687"/>
            <a:ext cx="53221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+mn-lt"/>
              </a:rPr>
              <a:t>Housekeeping</a:t>
            </a:r>
            <a:endParaRPr lang="en-US" sz="3000" b="1" dirty="0">
              <a:latin typeface="+mn-lt"/>
            </a:endParaRPr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C151B74-EB6F-9AFD-2EC5-2EF8233F94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85" y="2000358"/>
            <a:ext cx="9237430" cy="3700679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19F10-0030-A280-C60F-9390949FD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91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_learning_objectiv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5C72453-C378-A9F5-E1DB-2E1493085A31}"/>
              </a:ext>
            </a:extLst>
          </p:cNvPr>
          <p:cNvSpPr txBox="1"/>
          <p:nvPr userDrawn="1"/>
        </p:nvSpPr>
        <p:spPr>
          <a:xfrm>
            <a:off x="443921" y="652687"/>
            <a:ext cx="53221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latin typeface="+mn-lt"/>
              </a:rPr>
              <a:t>Learning objectives</a:t>
            </a:r>
            <a:endParaRPr lang="en-US" sz="3000" b="1" dirty="0">
              <a:latin typeface="+mn-lt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D954F0F-85CA-F1D6-450D-3519C10B1F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136423-E500-F92E-56A6-33E4AD79D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48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856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174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9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25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58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8" r:id="rId2"/>
    <p:sldLayoutId id="2147483949" r:id="rId3"/>
    <p:sldLayoutId id="2147483950" r:id="rId4"/>
    <p:sldLayoutId id="2147483951" r:id="rId5"/>
    <p:sldLayoutId id="214748395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E6C933-849E-D531-8666-AFFDFC273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30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18" r:id="rId3"/>
    <p:sldLayoutId id="214748380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957" r:id="rId11"/>
    <p:sldLayoutId id="2147483958" r:id="rId12"/>
    <p:sldLayoutId id="21474839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6.png"/><Relationship Id="rId4" Type="http://schemas.openxmlformats.org/officeDocument/2006/relationships/image" Target="../media/image3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BEA1-EE2B-2986-44CE-2891957F24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Linux System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9D1CC-ADAC-1659-10D9-37738043BA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QALXESS-2</a:t>
            </a:r>
          </a:p>
        </p:txBody>
      </p:sp>
    </p:spTree>
    <p:extLst>
      <p:ext uri="{BB962C8B-B14F-4D97-AF65-F5344CB8AC3E}">
        <p14:creationId xmlns:p14="http://schemas.microsoft.com/office/powerpoint/2010/main" val="3933581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1D49-7114-5A83-5EA0-E46AAAFF71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4C51E-45C6-5326-F747-E0DAF880E4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646AD-C62C-F766-DB81-F10B47602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05E25-CB2B-60B4-62DC-3BC379D0F1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A726EF-6E35-85DB-B807-C0A54011B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9A5CDB-0F8C-B576-CFB9-B291759D6F7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60999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74E078-FAA8-617C-1383-51104BCF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810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E15E-958B-479F-9095-1758A7FC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BBC38-C5DD-2C6C-A397-295F83C0A7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noProof="0" dirty="0">
                <a:solidFill>
                  <a:srgbClr val="000000"/>
                </a:solidFill>
                <a:effectLst/>
              </a:rPr>
              <a:t>Work with Linux main shell: BASH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N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avigate the file system and manage files and directories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noProof="0" dirty="0">
                <a:solidFill>
                  <a:srgbClr val="000000"/>
                </a:solidFill>
                <a:effectLst/>
              </a:rPr>
              <a:t>Edit files using vi and nano editors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M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anipulate data with a selection of filter tools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U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se redirection and piping techniques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Archive and compress files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noProof="0" dirty="0">
                <a:solidFill>
                  <a:srgbClr val="000000"/>
                </a:solidFill>
                <a:effectLst/>
              </a:rPr>
              <a:t>Se</a:t>
            </a:r>
            <a:r>
              <a:rPr lang="en-US" noProof="0" dirty="0">
                <a:solidFill>
                  <a:srgbClr val="000000"/>
                </a:solidFill>
              </a:rPr>
              <a:t>cure files and directories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Identify and manage processes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noProof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267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5FA4B-8233-C31D-CCD5-05C640603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3085E-74B9-41C0-366B-6DA7DA9CD7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P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erform basic administrative tasks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Manage 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processes</a:t>
            </a:r>
            <a:r>
              <a:rPr lang="en-US" noProof="0" dirty="0">
                <a:solidFill>
                  <a:srgbClr val="000000"/>
                </a:solidFill>
              </a:rPr>
              <a:t> and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 schedule jobs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Access network information and remote machines</a:t>
            </a:r>
            <a:endParaRPr lang="en-US" b="0" i="0" noProof="0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</a:rPr>
              <a:t>U</a:t>
            </a:r>
            <a:r>
              <a:rPr lang="en-US" b="0" i="0" noProof="0" dirty="0">
                <a:solidFill>
                  <a:srgbClr val="000000"/>
                </a:solidFill>
                <a:effectLst/>
              </a:rPr>
              <a:t>nderstand the nature of X Window System and X applications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noProof="0" dirty="0">
                <a:solidFill>
                  <a:srgbClr val="000000"/>
                </a:solidFill>
              </a:rPr>
              <a:t>Automate by</a:t>
            </a:r>
            <a:r>
              <a:rPr lang="en-US" sz="1800" b="0" i="0" noProof="0" dirty="0">
                <a:solidFill>
                  <a:srgbClr val="000000"/>
                </a:solidFill>
                <a:effectLst/>
              </a:rPr>
              <a:t> writing simple BASH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54688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37C47-E074-1953-DB76-28A75919DC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noProof="0" dirty="0"/>
              <a:t>Course Pre-requisites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DCE3C-7930-B023-6B45-B410762A94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0" y="1733108"/>
            <a:ext cx="7152634" cy="4061405"/>
          </a:xfrm>
        </p:spPr>
        <p:txBody>
          <a:bodyPr/>
          <a:lstStyle/>
          <a:p>
            <a:r>
              <a:rPr lang="en-GB" b="1" dirty="0"/>
              <a:t>Target audience and prerequisites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Good working knowledge of modern operating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Comfortable using the command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Designed for IT professionals with little or no UNIX / Linux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Provides a fast, practical introduction to working in a Linux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Enables learners to use Linux systems confidently and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 prior Linux / UNIX knowledge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Best results achieved if delegates have seen or worked with the system they will use or administer.</a:t>
            </a:r>
          </a:p>
          <a:p>
            <a:endParaRPr 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6823CEB-AF1A-FD7F-BE6B-8A6B0116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CD5FFF-417E-6DCF-383F-C4D9708F2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349" y="2245679"/>
            <a:ext cx="995066" cy="11833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31A811-3229-C5AA-8D24-0EC9D3644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513" y="3602378"/>
            <a:ext cx="1404851" cy="879714"/>
          </a:xfrm>
          <a:prstGeom prst="rect">
            <a:avLst/>
          </a:prstGeom>
        </p:spPr>
      </p:pic>
      <p:pic>
        <p:nvPicPr>
          <p:cNvPr id="1026" name="Picture 2" descr="Unix logo with text: UNIX® An Open Group Standard">
            <a:extLst>
              <a:ext uri="{FF2B5EF4-FFF2-40B4-BE49-F238E27FC236}">
                <a16:creationId xmlns:a16="http://schemas.microsoft.com/office/drawing/2014/main" id="{06488DBC-9ABC-2828-8F79-2DF02C5FE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655" y="4764389"/>
            <a:ext cx="1340709" cy="54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41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6E4F-4AD9-8B71-E8CA-E3CB6358A5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30DFC-7914-F8D0-67ED-79101F68CD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Course Introduction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Just For Fun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Linux Session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3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Files and Directories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4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Editing Text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5 : </a:t>
            </a:r>
            <a:r>
              <a:rPr lang="en-GB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ash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 : </a:t>
            </a:r>
            <a:r>
              <a:rPr lang="en-GB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ash Environment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7 : Escalate Privileges</a:t>
            </a:r>
            <a:endParaRPr lang="en-GB" b="1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8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Data Streams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9 : 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Processes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10 : J</a:t>
            </a:r>
            <a:r>
              <a:rPr lang="en-GB" b="1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ob Control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72D1C-F950-0D58-F6CA-D2758D897B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11 : </a:t>
            </a:r>
            <a:r>
              <a:rPr lang="en-GB" b="1" dirty="0">
                <a:ea typeface="Hack" panose="020B0609030202020204" pitchFamily="49" charset="0"/>
                <a:cs typeface="Hack" panose="020B0609030202020204" pitchFamily="49" charset="0"/>
              </a:rPr>
              <a:t>File Tools</a:t>
            </a:r>
          </a:p>
          <a:p>
            <a:r>
              <a:rPr lang="en-GB" b="1" dirty="0"/>
              <a:t>12 : Backup and Compression Tools</a:t>
            </a:r>
          </a:p>
          <a:p>
            <a:r>
              <a:rPr lang="en-GB" b="1" dirty="0"/>
              <a:t>13 : Pipes and Filters</a:t>
            </a:r>
          </a:p>
          <a:p>
            <a:r>
              <a:rPr lang="en-GB" b="1" dirty="0"/>
              <a:t>14 : Using Basic Regular Expressions</a:t>
            </a:r>
          </a:p>
          <a:p>
            <a:r>
              <a:rPr lang="en-GB" b="1" dirty="0"/>
              <a:t>15 : Filesystem Access</a:t>
            </a:r>
          </a:p>
          <a:p>
            <a:r>
              <a:rPr lang="en-GB" b="1" dirty="0"/>
              <a:t>16 : Working in a Networked Environment</a:t>
            </a:r>
          </a:p>
          <a:p>
            <a:r>
              <a:rPr lang="en-GB" b="1" dirty="0"/>
              <a:t>17: X Windows System</a:t>
            </a:r>
          </a:p>
          <a:p>
            <a:r>
              <a:rPr lang="en-GB" b="1" dirty="0"/>
              <a:t>18 : Writing Shell Scripts</a:t>
            </a:r>
          </a:p>
          <a:p>
            <a:r>
              <a:rPr lang="en-GB" dirty="0"/>
              <a:t>Appendix A : Bash Variables</a:t>
            </a:r>
          </a:p>
          <a:p>
            <a:r>
              <a:rPr lang="en-GB" dirty="0"/>
              <a:t>Appendix B : awk</a:t>
            </a:r>
          </a:p>
          <a:p>
            <a:r>
              <a:rPr lang="en-GB" dirty="0"/>
              <a:t>Appendix C : Tools by Example</a:t>
            </a:r>
          </a:p>
          <a:p>
            <a:r>
              <a:rPr lang="en-GB" dirty="0"/>
              <a:t>Appendix D : Filesystem Hierarchy Standard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42813-13B9-007F-96E2-420A1017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69444-D02B-D446-9CF8-19DEDDE073D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530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B9573B-2646-2BE6-C046-3C957DB3C7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Course Approach and Platform Considerations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DBD580-FB51-B82F-43AA-60EC0E46DD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0" y="1733108"/>
            <a:ext cx="6245637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Instructor-led lectures with live demonstrations.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Regular questions to check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Practical exercises included in every chapter.</a:t>
            </a:r>
          </a:p>
          <a:p>
            <a:endParaRPr lang="en-GB" b="1" dirty="0"/>
          </a:p>
          <a:p>
            <a:r>
              <a:rPr lang="en-GB" b="1" dirty="0"/>
              <a:t>About Linux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Linux distributions evolve rapidly.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Version changes can affect practical exercises.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Core principles remain consistent.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Commands, tools, and implementation details may vary.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Differences can exist even within the same vendor or edition.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23CEB-AF1A-FD7F-BE6B-8A6B0116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A460B3-3920-8CB7-AB91-D37794C9DC9B}"/>
              </a:ext>
            </a:extLst>
          </p:cNvPr>
          <p:cNvGrpSpPr/>
          <p:nvPr/>
        </p:nvGrpSpPr>
        <p:grpSpPr>
          <a:xfrm>
            <a:off x="6689558" y="2049013"/>
            <a:ext cx="5188016" cy="3660007"/>
            <a:chOff x="6943411" y="3644392"/>
            <a:chExt cx="5248589" cy="2952331"/>
          </a:xfrm>
        </p:grpSpPr>
        <p:pic>
          <p:nvPicPr>
            <p:cNvPr id="10" name="Graphic 9" descr="Room with laptops and chairs">
              <a:extLst>
                <a:ext uri="{FF2B5EF4-FFF2-40B4-BE49-F238E27FC236}">
                  <a16:creationId xmlns:a16="http://schemas.microsoft.com/office/drawing/2014/main" id="{AFE2B0ED-D7E0-4084-A13C-FBC2C05587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43411" y="3644392"/>
              <a:ext cx="5248589" cy="2952331"/>
            </a:xfrm>
            <a:prstGeom prst="rect">
              <a:avLst/>
            </a:prstGeom>
          </p:spPr>
        </p:pic>
        <p:pic>
          <p:nvPicPr>
            <p:cNvPr id="11" name="Graphic 10" descr="Woman raising finger">
              <a:extLst>
                <a:ext uri="{FF2B5EF4-FFF2-40B4-BE49-F238E27FC236}">
                  <a16:creationId xmlns:a16="http://schemas.microsoft.com/office/drawing/2014/main" id="{22989566-2B34-4B7B-869E-25B024C024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01984" y="4178201"/>
              <a:ext cx="1181492" cy="2293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7889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3CEFBA-20D5-DFFF-BAC0-9B6B12258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Examples: Command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6D9D9-DFAF-E3A3-82C9-0EFF3AC11F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487322" cy="406140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Example commands will be on a black background. </a:t>
            </a:r>
          </a:p>
          <a:p>
            <a:r>
              <a:rPr lang="en-US" dirty="0">
                <a:solidFill>
                  <a:srgbClr val="000000"/>
                </a:solidFill>
              </a:rPr>
              <a:t>The font will be monospaced: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All characters the same width.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prompt will be yellow.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command will be bright white.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results in a smaller font.</a:t>
            </a:r>
            <a:endParaRPr lang="en-US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r>
              <a:rPr lang="en-US" dirty="0">
                <a:solidFill>
                  <a:srgbClr val="000000"/>
                </a:solidFill>
              </a:rPr>
              <a:t>Special keys will be </a:t>
            </a:r>
            <a:r>
              <a:rPr lang="en-US" b="1" dirty="0">
                <a:solidFill>
                  <a:srgbClr val="00B050"/>
                </a:solidFill>
              </a:rPr>
              <a:t>green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000000"/>
                </a:solidFill>
              </a:rPr>
              <a:t>Using a Control key will be signified by a</a:t>
            </a:r>
            <a:r>
              <a:rPr lang="en-US" dirty="0">
                <a:solidFill>
                  <a:srgbClr val="000000"/>
                </a:solidFill>
                <a:latin typeface="Montserrat" panose="00000500000000000000" pitchFamily="2" charset="0"/>
              </a:rPr>
              <a:t> ^ </a:t>
            </a:r>
            <a:r>
              <a:rPr lang="en-US" dirty="0">
                <a:solidFill>
                  <a:srgbClr val="000000"/>
                </a:solidFill>
              </a:rPr>
              <a:t>or</a:t>
            </a:r>
            <a:r>
              <a:rPr lang="en-US" dirty="0">
                <a:solidFill>
                  <a:srgbClr val="000000"/>
                </a:solidFill>
                <a:latin typeface="Montserrat" panose="00000500000000000000" pitchFamily="2" charset="0"/>
              </a:rPr>
              <a:t> &lt;ctrl&gt;.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Hack" panose="020B0609030202020204" pitchFamily="49" charset="0"/>
                <a:cs typeface="Hack" panose="020B0609030202020204" pitchFamily="49" charset="0"/>
              </a:rPr>
              <a:t>For example: Control d will be ^d or &lt;ctrl&gt; 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Individual special keys within </a:t>
            </a:r>
            <a:r>
              <a:rPr lang="en-US" dirty="0">
                <a:solidFill>
                  <a:srgbClr val="00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&lt;&gt;.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For example: Carriage Return is &lt;CR&gt;.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CB699-3019-E46D-B292-DBCBE32A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6E31DA5-7018-49B2-8E59-CC17486DB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721" y="2215847"/>
            <a:ext cx="4803799" cy="1213153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fr-FR" spc="-4" dirty="0">
                <a:solidFill>
                  <a:srgbClr val="FFFF00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fr-FR" spc="-33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fr-FR" b="1" spc="-4" dirty="0" err="1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wc</a:t>
            </a:r>
            <a:r>
              <a:rPr lang="fr-FR" b="1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fr-FR" b="1" spc="-33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fr-FR" b="1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/etc/hosts </a:t>
            </a:r>
            <a:r>
              <a:rPr lang="fr-FR" b="1" spc="-4" dirty="0">
                <a:solidFill>
                  <a:srgbClr val="92D050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&lt;CR&gt;</a:t>
            </a:r>
          </a:p>
          <a:p>
            <a:pPr marL="77391">
              <a:spcBef>
                <a:spcPts val="154"/>
              </a:spcBef>
            </a:pPr>
            <a:r>
              <a:rPr lang="fr-FR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27   </a:t>
            </a:r>
            <a:r>
              <a:rPr lang="fr-FR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120	</a:t>
            </a:r>
            <a:r>
              <a:rPr lang="fr-FR" sz="1600" spc="-8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998</a:t>
            </a:r>
            <a:r>
              <a:rPr lang="fr-FR" sz="1600" spc="-49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</a:t>
            </a:r>
            <a:r>
              <a:rPr lang="fr-FR" sz="1600" spc="-8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fr-FR" sz="1600" spc="-8" dirty="0" err="1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fr-FR" sz="1600" spc="-8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/hosts</a:t>
            </a:r>
          </a:p>
          <a:p>
            <a:pPr marL="77391">
              <a:spcBef>
                <a:spcPts val="154"/>
              </a:spcBef>
            </a:pPr>
            <a:r>
              <a:rPr lang="en-GB" spc="-4" dirty="0">
                <a:solidFill>
                  <a:srgbClr val="FFFF00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GB" spc="-2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grep</a:t>
            </a:r>
            <a:r>
              <a:rPr lang="en-GB" b="1" spc="-2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</a:t>
            </a:r>
            <a:r>
              <a:rPr lang="en-GB" b="1" spc="-2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b="1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/etc/hosts</a:t>
            </a:r>
            <a:endParaRPr lang="en-GB" dirty="0">
              <a:solidFill>
                <a:schemeClr val="bg1"/>
              </a:solidFill>
              <a:latin typeface="Consolas" panose="020B060902020403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ts val="1710"/>
              </a:lnSpc>
              <a:tabLst>
                <a:tab pos="1555035" algn="l"/>
                <a:tab pos="3108008" algn="l"/>
              </a:tabLst>
            </a:pPr>
            <a:r>
              <a:rPr lang="en-GB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192.16</a:t>
            </a:r>
            <a:r>
              <a:rPr lang="en-GB" sz="1600" spc="-2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8</a:t>
            </a:r>
            <a:r>
              <a:rPr lang="en-GB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.4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GB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1	   </a:t>
            </a:r>
            <a:r>
              <a:rPr lang="en-GB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linux1.</a:t>
            </a:r>
            <a:r>
              <a:rPr lang="en-GB" sz="1600" spc="-8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q</a:t>
            </a:r>
            <a:r>
              <a:rPr lang="en-GB" sz="1600" spc="-2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a.</a:t>
            </a:r>
            <a:r>
              <a:rPr lang="en-GB" sz="1600" spc="-4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co</a:t>
            </a:r>
            <a:r>
              <a:rPr lang="en-GB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m	linux1</a:t>
            </a:r>
            <a:endParaRPr lang="en-GB" sz="1600" dirty="0">
              <a:solidFill>
                <a:schemeClr val="accent6"/>
              </a:solidFill>
              <a:latin typeface="Consolas" panose="020B060902020403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87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E43374-A0B3-CCA1-72A0-CDCFD520A3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Examples: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1C453-6DC3-B619-B16C-49C52B365D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files will have a </a:t>
            </a:r>
            <a:r>
              <a:rPr lang="en-US" b="1" dirty="0"/>
              <a:t>white</a:t>
            </a:r>
            <a:r>
              <a:rPr lang="en-US" dirty="0"/>
              <a:t> background.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font will be monospaced.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characters the same width.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will be black (unless highlighted for clarity).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58AA5-CD54-4D42-2E1A-BFE52989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FF50A1-0DAA-BE40-0F33-4C7235DAC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75" y="3429000"/>
            <a:ext cx="4214175" cy="105157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b="1" spc="-33" dirty="0"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#!</a:t>
            </a:r>
            <a:r>
              <a:rPr lang="en-US" spc="-33" dirty="0"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/usr/bin/bash</a:t>
            </a:r>
          </a:p>
          <a:p>
            <a:pPr marL="78423">
              <a:spcBef>
                <a:spcPts val="292"/>
              </a:spcBef>
            </a:pPr>
            <a:r>
              <a:rPr lang="en-US" b="1" spc="-33" dirty="0"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#</a:t>
            </a:r>
            <a:r>
              <a:rPr lang="en-US" spc="-33" dirty="0"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 comment example:</a:t>
            </a:r>
          </a:p>
          <a:p>
            <a:pPr marL="78423">
              <a:spcBef>
                <a:spcPts val="292"/>
              </a:spcBef>
            </a:pPr>
            <a:r>
              <a:rPr lang="en-US" spc="-33" dirty="0">
                <a:latin typeface="Consolas" panose="020B0609020204030204" pitchFamily="49" charset="0"/>
                <a:ea typeface="Hack" panose="020B0609030202020204" pitchFamily="49" charset="0"/>
                <a:cs typeface="Hack" panose="020B0609030202020204" pitchFamily="49" charset="0"/>
              </a:rPr>
              <a:t>date  +%Y # just show the year</a:t>
            </a:r>
            <a:endParaRPr lang="en-GB" dirty="0">
              <a:latin typeface="Consolas" panose="020B060902020403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971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52115-3F4D-FC65-6F4E-07273F2F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8201EE-4E0B-D0F9-80E9-52ED4B8EF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Labs – Logins and Passwords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8E8370-E2C8-2C4A-74FA-6D36AAE452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user is </a:t>
            </a:r>
            <a:r>
              <a:rPr lang="en-US" b="1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dirty="0">
                <a:ea typeface="Hack" panose="020B0609030202020204" pitchFamily="49" charset="0"/>
                <a:cs typeface="Hack" panose="020B060903020202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Hack" panose="020B0609030202020204" pitchFamily="49" charset="0"/>
                <a:cs typeface="Hack" panose="020B0609030202020204" pitchFamily="49" charset="0"/>
              </a:rPr>
              <a:t>There are two others: </a:t>
            </a:r>
            <a:r>
              <a:rPr lang="en-US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user1</a:t>
            </a:r>
            <a:r>
              <a:rPr lang="en-US" dirty="0">
                <a:latin typeface="Montserrat" panose="00000500000000000000" pitchFamily="2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/>
              <a:t>and</a:t>
            </a:r>
            <a:r>
              <a:rPr lang="en-US" dirty="0">
                <a:latin typeface="Montserrat" panose="00000500000000000000" pitchFamily="2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user2</a:t>
            </a:r>
            <a:r>
              <a:rPr lang="en-US" dirty="0"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endParaRPr lang="en-US" b="1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Hack" panose="020B0609030202020204" pitchFamily="49" charset="0"/>
                <a:cs typeface="Hack" panose="020B0609030202020204" pitchFamily="49" charset="0"/>
              </a:rPr>
              <a:t>The password for all three is </a:t>
            </a:r>
            <a:r>
              <a:rPr lang="en-US" b="1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qa</a:t>
            </a:r>
            <a:r>
              <a:rPr lang="en-US" dirty="0"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endParaRPr lang="en-US" b="1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US" dirty="0">
                <a:latin typeface="Montserrat" panose="00000500000000000000" pitchFamily="2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root</a:t>
            </a:r>
            <a:r>
              <a:rPr lang="en-US" dirty="0">
                <a:latin typeface="Montserrat" panose="00000500000000000000" pitchFamily="2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>
                <a:ea typeface="Hack" panose="020B0609030202020204" pitchFamily="49" charset="0"/>
                <a:cs typeface="Hack" panose="020B0609030202020204" pitchFamily="49" charset="0"/>
              </a:rPr>
              <a:t>account has a password of </a:t>
            </a:r>
            <a:r>
              <a:rPr lang="en-US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secret</a:t>
            </a:r>
            <a:r>
              <a:rPr lang="en-US" dirty="0">
                <a:ea typeface="Hack" panose="020B0609030202020204" pitchFamily="49" charset="0"/>
                <a:cs typeface="Hack" panose="020B0609030202020204" pitchFamily="49" charset="0"/>
              </a:rPr>
              <a:t>.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D48E68F-AF48-8993-91D3-0768002A6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4196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95B1BA1-35E2-1C11-C6AD-8FF3789692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55B9D-E835-F32C-EE57-10CAAD9A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DA0EFBD-6849-A072-0F3C-22FBF8176235}"/>
              </a:ext>
            </a:extLst>
          </p:cNvPr>
          <p:cNvSpPr txBox="1">
            <a:spLocks/>
          </p:cNvSpPr>
          <p:nvPr/>
        </p:nvSpPr>
        <p:spPr>
          <a:xfrm>
            <a:off x="443921" y="1733108"/>
            <a:ext cx="5166047" cy="9763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SzPct val="115000"/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9996" indent="-1799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SzPct val="125000"/>
              <a:buFont typeface="Arial" panose="020B0604020202020204" pitchFamily="34" charset="0"/>
              <a:buChar char="•"/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179996" indent="-1799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SzPct val="120000"/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179996" indent="-1799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SzPct val="120000"/>
              <a:buFont typeface="Arial" panose="020B0604020202020204" pitchFamily="34" charset="0"/>
              <a:buChar char="•"/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179996" indent="-179996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1"/>
              </a:spcAft>
              <a:buSzPct val="125000"/>
              <a:buFont typeface="Arial" panose="020B0604020202020204" pitchFamily="34" charset="0"/>
              <a:buChar char="•"/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Please say a few words about yourself..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Your trainer will indicate whether to use </a:t>
            </a:r>
            <a:r>
              <a:rPr lang="en-US" b="1" dirty="0">
                <a:latin typeface="+mn-lt"/>
              </a:rPr>
              <a:t>audio</a:t>
            </a:r>
            <a:r>
              <a:rPr lang="en-US" dirty="0">
                <a:latin typeface="+mn-lt"/>
              </a:rPr>
              <a:t> or </a:t>
            </a:r>
            <a:r>
              <a:rPr lang="en-US" b="1" dirty="0">
                <a:latin typeface="+mn-lt"/>
              </a:rPr>
              <a:t>chat window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D3302D-4A15-D2B0-98AE-7E49D726A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546" y="1733108"/>
            <a:ext cx="3980567" cy="39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87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45A45-C725-284B-A75D-6822AF52E9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Enjoy the course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C68137E-EB96-88C7-9373-C6B56FAAC4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17803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Cover Slides - Tech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3.xml><?xml version="1.0" encoding="utf-8"?>
<a:theme xmlns:a="http://schemas.openxmlformats.org/drawingml/2006/main" name="Intro Blu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4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C71F1D-A98C-43DF-A986-061295C23702}">
  <ds:schemaRefs>
    <ds:schemaRef ds:uri="http://schemas.microsoft.com/office/infopath/2007/PartnerControls"/>
    <ds:schemaRef ds:uri="52e7f57a-cc1d-4bce-9b60-d9dd785361c7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4851bab5-d36a-4f24-a761-998180967d1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19408</TotalTime>
  <Words>594</Words>
  <Application>Microsoft Office PowerPoint</Application>
  <PresentationFormat>Widescreen</PresentationFormat>
  <Paragraphs>109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Arial</vt:lpstr>
      <vt:lpstr>Consolas</vt:lpstr>
      <vt:lpstr>Figtree</vt:lpstr>
      <vt:lpstr>Figtree Light</vt:lpstr>
      <vt:lpstr>Hack</vt:lpstr>
      <vt:lpstr>Montserrat</vt:lpstr>
      <vt:lpstr>Cover Slides - Business/Marketing</vt:lpstr>
      <vt:lpstr>Cover Slides - Tech</vt:lpstr>
      <vt:lpstr>Intro Blue</vt:lpstr>
      <vt:lpstr>Red Module</vt:lpstr>
      <vt:lpstr>Linux System Fundamentals</vt:lpstr>
      <vt:lpstr>PowerPoint Presentation</vt:lpstr>
      <vt:lpstr>PowerPoint Presentation</vt:lpstr>
      <vt:lpstr>PowerPoint Presentation</vt:lpstr>
      <vt:lpstr>PowerPoint Presentation</vt:lpstr>
      <vt:lpstr>Course Pre-requisites</vt:lpstr>
      <vt:lpstr>Contents</vt:lpstr>
      <vt:lpstr>Course Approach and Platform Considerations</vt:lpstr>
      <vt:lpstr>Examples: Command</vt:lpstr>
      <vt:lpstr>Examples: Files</vt:lpstr>
      <vt:lpstr>Labs – Logins and Passwords</vt:lpstr>
      <vt:lpstr>Introductions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56</cp:revision>
  <cp:lastPrinted>2024-12-13T10:45:27Z</cp:lastPrinted>
  <dcterms:created xsi:type="dcterms:W3CDTF">2024-06-24T11:44:08Z</dcterms:created>
  <dcterms:modified xsi:type="dcterms:W3CDTF">2026-04-20T11:03:19Z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