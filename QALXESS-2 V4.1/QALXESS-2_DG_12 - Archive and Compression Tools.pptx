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6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7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8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660" r:id="rId6"/>
    <p:sldMasterId id="2147483874" r:id="rId7"/>
    <p:sldMasterId id="2147483885" r:id="rId8"/>
    <p:sldMasterId id="2147483897" r:id="rId9"/>
    <p:sldMasterId id="2147483908" r:id="rId10"/>
    <p:sldMasterId id="2147483919" r:id="rId11"/>
    <p:sldMasterId id="2147483930" r:id="rId12"/>
  </p:sldMasterIdLst>
  <p:notesMasterIdLst>
    <p:notesMasterId r:id="rId42"/>
  </p:notesMasterIdLst>
  <p:sldIdLst>
    <p:sldId id="1368" r:id="rId13"/>
    <p:sldId id="1369" r:id="rId14"/>
    <p:sldId id="1370" r:id="rId15"/>
    <p:sldId id="1371" r:id="rId16"/>
    <p:sldId id="1372" r:id="rId17"/>
    <p:sldId id="1373" r:id="rId18"/>
    <p:sldId id="1374" r:id="rId19"/>
    <p:sldId id="1375" r:id="rId20"/>
    <p:sldId id="1376" r:id="rId21"/>
    <p:sldId id="1377" r:id="rId22"/>
    <p:sldId id="1378" r:id="rId23"/>
    <p:sldId id="1379" r:id="rId24"/>
    <p:sldId id="1380" r:id="rId25"/>
    <p:sldId id="1381" r:id="rId26"/>
    <p:sldId id="1382" r:id="rId27"/>
    <p:sldId id="1383" r:id="rId28"/>
    <p:sldId id="1384" r:id="rId29"/>
    <p:sldId id="1385" r:id="rId30"/>
    <p:sldId id="1386" r:id="rId31"/>
    <p:sldId id="1397" r:id="rId32"/>
    <p:sldId id="1387" r:id="rId33"/>
    <p:sldId id="1388" r:id="rId34"/>
    <p:sldId id="1389" r:id="rId35"/>
    <p:sldId id="1390" r:id="rId36"/>
    <p:sldId id="1391" r:id="rId37"/>
    <p:sldId id="1396" r:id="rId38"/>
    <p:sldId id="1392" r:id="rId39"/>
    <p:sldId id="1393" r:id="rId40"/>
    <p:sldId id="139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368"/>
            <p14:sldId id="1369"/>
            <p14:sldId id="1370"/>
            <p14:sldId id="1371"/>
            <p14:sldId id="1372"/>
            <p14:sldId id="1373"/>
            <p14:sldId id="1374"/>
            <p14:sldId id="1375"/>
            <p14:sldId id="1376"/>
            <p14:sldId id="1377"/>
            <p14:sldId id="1378"/>
            <p14:sldId id="1379"/>
            <p14:sldId id="1380"/>
            <p14:sldId id="1381"/>
            <p14:sldId id="1382"/>
            <p14:sldId id="1383"/>
            <p14:sldId id="1384"/>
            <p14:sldId id="1385"/>
            <p14:sldId id="1386"/>
            <p14:sldId id="1397"/>
            <p14:sldId id="1387"/>
            <p14:sldId id="1388"/>
            <p14:sldId id="1389"/>
            <p14:sldId id="1390"/>
            <p14:sldId id="1391"/>
            <p14:sldId id="1396"/>
            <p14:sldId id="1392"/>
            <p14:sldId id="1393"/>
            <p14:sldId id="139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C02AF0-3201-4AFF-8545-0DFD842D4E5D}" v="2" dt="2025-05-30T13:24:46.556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5" autoAdjust="0"/>
    <p:restoredTop sz="96283" autoAdjust="0"/>
  </p:normalViewPr>
  <p:slideViewPr>
    <p:cSldViewPr snapToGrid="0">
      <p:cViewPr>
        <p:scale>
          <a:sx n="100" d="100"/>
          <a:sy n="100" d="100"/>
        </p:scale>
        <p:origin x="-437" y="-898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844"/>
    </p:cViewPr>
  </p:sorterViewPr>
  <p:notesViewPr>
    <p:cSldViewPr snapToGrid="0">
      <p:cViewPr>
        <p:scale>
          <a:sx n="100" d="100"/>
          <a:sy n="100" d="100"/>
        </p:scale>
        <p:origin x="1628" y="-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microsoft.com/office/2018/10/relationships/authors" Target="author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tableStyles" Target="tableStyles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33802261-5852-4C28-9063-1ABE695AED22}"/>
    <pc:docChg chg="undo redo custSel addSld modSld delMainMaster modSection">
      <pc:chgData name="Feist, Ella" userId="992bbaf2-811d-42cb-a4d6-e7fc45e325e8" providerId="ADAL" clId="{33802261-5852-4C28-9063-1ABE695AED22}" dt="2025-05-28T12:32:00.111" v="427" actId="20577"/>
      <pc:docMkLst>
        <pc:docMk/>
      </pc:docMkLst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136637111" sldId="1368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36637111" sldId="1368"/>
            <ac:spMk id="2" creationId="{6EFB7434-059B-9C18-281F-032B994D81AD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36637111" sldId="1368"/>
            <ac:spMk id="4" creationId="{441B5810-8C67-B742-B639-848419728702}"/>
          </ac:spMkLst>
        </pc:spChg>
        <pc:graphicFrameChg chg="mod modGraphic">
          <ac:chgData name="Feist, Ella" userId="992bbaf2-811d-42cb-a4d6-e7fc45e325e8" providerId="ADAL" clId="{33802261-5852-4C28-9063-1ABE695AED22}" dt="2025-05-28T12:31:37.604" v="424" actId="790"/>
          <ac:graphicFrameMkLst>
            <pc:docMk/>
            <pc:sldMk cId="136637111" sldId="1368"/>
            <ac:graphicFrameMk id="6" creationId="{A1C44AD1-2698-E900-0B16-630FF3D4DD2F}"/>
          </ac:graphicFrameMkLst>
        </pc:graphicFrame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4173626290" sldId="1369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173626290" sldId="1369"/>
            <ac:spMk id="4" creationId="{00000000-0000-0000-0000-00000000000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173626290" sldId="1369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959990921" sldId="1370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959990921" sldId="1370"/>
            <ac:spMk id="2" creationId="{42492990-FA67-E9C4-ABA0-9F6BCFE4CE64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959990921" sldId="1370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33802261-5852-4C28-9063-1ABE695AED22}" dt="2025-05-28T12:32:00.111" v="427" actId="20577"/>
        <pc:sldMkLst>
          <pc:docMk/>
          <pc:sldMk cId="3002357051" sldId="1371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002357051" sldId="1371"/>
            <ac:spMk id="3" creationId="{AAFF6B6A-66F8-A394-5296-3E229DE862F1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002357051" sldId="1371"/>
            <ac:spMk id="4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2:00.111" v="427" actId="20577"/>
          <ac:spMkLst>
            <pc:docMk/>
            <pc:sldMk cId="3002357051" sldId="1371"/>
            <ac:spMk id="5" creationId="{91A8ED3D-B755-43C9-BCB1-DCF495C0C9DB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002357051" sldId="1371"/>
            <ac:spMk id="7" creationId="{C1EC2494-B2D7-57C6-7469-6C83D160096C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695309871" sldId="1372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695309871" sldId="1372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695309871" sldId="1372"/>
            <ac:spMk id="3" creationId="{050463A2-60FA-6A1F-F1ED-313E958A5D9E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695309871" sldId="1372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1205406725" sldId="1373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205406725" sldId="1373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205406725" sldId="1373"/>
            <ac:spMk id="3" creationId="{F467A17C-592E-8836-6B3A-BE705807AA55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205406725" sldId="1373"/>
            <ac:spMk id="4" creationId="{307A8D78-10F2-7C4F-B968-5F0713477E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205406725" sldId="1373"/>
            <ac:spMk id="5" creationId="{91A8ED3D-B755-43C9-BCB1-DCF495C0C9DB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205406725" sldId="1373"/>
            <ac:spMk id="7" creationId="{786DEBEF-450F-D1B8-C7F1-8E0A98B25643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2420066786" sldId="1374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420066786" sldId="1374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420066786" sldId="1374"/>
            <ac:spMk id="3" creationId="{E67F202E-16DC-D05E-D1B6-A5461A4B17CB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420066786" sldId="1374"/>
            <ac:spMk id="4" creationId="{8BF5F50A-6321-074F-02C4-A6D2686C987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420066786" sldId="1374"/>
            <ac:spMk id="5" creationId="{91A8ED3D-B755-43C9-BCB1-DCF495C0C9DB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420066786" sldId="1374"/>
            <ac:spMk id="7" creationId="{786DEBEF-450F-D1B8-C7F1-8E0A98B25643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1693002430" sldId="1375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693002430" sldId="1375"/>
            <ac:spMk id="2" creationId="{4E9BFF16-B602-A980-F03D-73F453A941C1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693002430" sldId="1375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2963516339" sldId="1376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963516339" sldId="1376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963516339" sldId="1376"/>
            <ac:spMk id="3" creationId="{01C36D16-F280-FBBC-4DEC-624B220E30A5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963516339" sldId="1376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1275659898" sldId="1377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275659898" sldId="1377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275659898" sldId="1377"/>
            <ac:spMk id="3" creationId="{A2CB6176-BE68-70AC-FCFD-DA50497BDFC6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275659898" sldId="1377"/>
            <ac:spMk id="5" creationId="{91A8ED3D-B755-43C9-BCB1-DCF495C0C9DB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275659898" sldId="1377"/>
            <ac:spMk id="7" creationId="{57FB28D0-A7A3-8783-93C8-8D6670CD0BCF}"/>
          </ac:spMkLst>
        </pc:spChg>
        <pc:graphicFrameChg chg="mod modGraphic">
          <ac:chgData name="Feist, Ella" userId="992bbaf2-811d-42cb-a4d6-e7fc45e325e8" providerId="ADAL" clId="{33802261-5852-4C28-9063-1ABE695AED22}" dt="2025-05-28T12:31:37.604" v="424" actId="790"/>
          <ac:graphicFrameMkLst>
            <pc:docMk/>
            <pc:sldMk cId="1275659898" sldId="1377"/>
            <ac:graphicFrameMk id="6" creationId="{F05AC884-A134-F10B-531F-42D6686FBB63}"/>
          </ac:graphicFrameMkLst>
        </pc:graphicFrame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742228458" sldId="1378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742228458" sldId="1378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742228458" sldId="1378"/>
            <ac:spMk id="3" creationId="{6ABB71D1-3384-6FBD-B8D9-B111F906B06A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742228458" sldId="1378"/>
            <ac:spMk id="4" creationId="{9067B328-4A33-8E51-CF64-7799DFA1AD25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742228458" sldId="1378"/>
            <ac:spMk id="5" creationId="{91A8ED3D-B755-43C9-BCB1-DCF495C0C9DB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742228458" sldId="1378"/>
            <ac:spMk id="7" creationId="{876AE57D-B7AB-2D1F-8316-ED549C756D4D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248228759" sldId="1379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48228759" sldId="1379"/>
            <ac:spMk id="2" creationId="{0EADE2F2-4B2C-FD3C-8307-AC4CC7E22379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48228759" sldId="1379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1440400611" sldId="1380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440400611" sldId="1380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440400611" sldId="1380"/>
            <ac:spMk id="3" creationId="{D1D36022-2EF7-A3B3-45CE-8F70DADFE827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440400611" sldId="1380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33802261-5852-4C28-9063-1ABE695AED22}" dt="2025-05-28T12:31:37.604" v="424" actId="790"/>
          <ac:graphicFrameMkLst>
            <pc:docMk/>
            <pc:sldMk cId="1440400611" sldId="1380"/>
            <ac:graphicFrameMk id="6" creationId="{71CD2C96-5299-4EE8-DE8D-0834A084B49D}"/>
          </ac:graphicFrameMkLst>
        </pc:graphicFrame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4030854950" sldId="1381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030854950" sldId="1381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030854950" sldId="1381"/>
            <ac:spMk id="3" creationId="{8DF60D91-BC61-18CE-8D61-770BB2F16928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030854950" sldId="1381"/>
            <ac:spMk id="4" creationId="{C5F40765-03EA-8C50-1B09-B463A64926D8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030854950" sldId="1381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3758568016" sldId="1382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758568016" sldId="1382"/>
            <ac:spMk id="2" creationId="{5A2CA71F-2FBF-E557-1001-04D8DBADBC58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758568016" sldId="1382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4068943751" sldId="1383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068943751" sldId="1383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068943751" sldId="1383"/>
            <ac:spMk id="3" creationId="{47A54691-9EBA-BF13-A094-383BB435E21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068943751" sldId="1383"/>
            <ac:spMk id="4" creationId="{FF32B24E-0FD7-C0E2-1AA7-1FF97AC82C37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068943751" sldId="1383"/>
            <ac:spMk id="5" creationId="{91A8ED3D-B755-43C9-BCB1-DCF495C0C9DB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068943751" sldId="1383"/>
            <ac:spMk id="7" creationId="{5F837E82-6D21-26CB-619F-445FACB49E7D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068943751" sldId="1383"/>
            <ac:spMk id="8" creationId="{B3438DDC-A387-8C74-9B7E-767100A237AB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4068943751" sldId="1383"/>
            <ac:spMk id="9" creationId="{2705A14D-3EF5-6C05-4F2E-38F2B12CCACB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3382356599" sldId="1384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382356599" sldId="1384"/>
            <ac:spMk id="2" creationId="{649E47BF-BC3C-206B-A5E6-7049F26F059E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382356599" sldId="1384"/>
            <ac:spMk id="4" creationId="{9ED32BBC-8A3B-5FB1-DB0F-B65F461BDA2D}"/>
          </ac:spMkLst>
        </pc:spChg>
      </pc:sldChg>
      <pc:sldChg chg="addSp delSp modSp mod chgLayout">
        <pc:chgData name="Feist, Ella" userId="992bbaf2-811d-42cb-a4d6-e7fc45e325e8" providerId="ADAL" clId="{33802261-5852-4C28-9063-1ABE695AED22}" dt="2025-05-28T12:31:37.604" v="424" actId="790"/>
        <pc:sldMkLst>
          <pc:docMk/>
          <pc:sldMk cId="3388298166" sldId="1385"/>
        </pc:sldMkLst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388298166" sldId="1385"/>
            <ac:spMk id="2" creationId="{A9A6FF77-D641-4417-92E7-11CC6238BF20}"/>
          </ac:spMkLst>
        </pc:spChg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388298166" sldId="1385"/>
            <ac:spMk id="3" creationId="{4F2E2DD1-EDAF-4427-2986-60400C7CDE87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388298166" sldId="1385"/>
            <ac:spMk id="4" creationId="{5D02B93C-7B08-E8DB-86C5-7A4133C8034A}"/>
          </ac:spMkLst>
        </pc:spChg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388298166" sldId="1385"/>
            <ac:spMk id="5" creationId="{91A8ED3D-B755-43C9-BCB1-DCF495C0C9DB}"/>
          </ac:spMkLst>
        </pc:spChg>
      </pc:sldChg>
      <pc:sldChg chg="addSp delSp modSp mod chgLayout">
        <pc:chgData name="Feist, Ella" userId="992bbaf2-811d-42cb-a4d6-e7fc45e325e8" providerId="ADAL" clId="{33802261-5852-4C28-9063-1ABE695AED22}" dt="2025-05-28T12:31:37.604" v="424" actId="790"/>
        <pc:sldMkLst>
          <pc:docMk/>
          <pc:sldMk cId="574386959" sldId="1386"/>
        </pc:sldMkLst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574386959" sldId="1386"/>
            <ac:spMk id="2" creationId="{A9A6FF77-D641-4417-92E7-11CC6238BF20}"/>
          </ac:spMkLst>
        </pc:spChg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574386959" sldId="1386"/>
            <ac:spMk id="3" creationId="{3027D23A-B661-C95A-FFFC-18421373A5DD}"/>
          </ac:spMkLst>
        </pc:spChg>
        <pc:graphicFrameChg chg="add mod modGraphic">
          <ac:chgData name="Feist, Ella" userId="992bbaf2-811d-42cb-a4d6-e7fc45e325e8" providerId="ADAL" clId="{33802261-5852-4C28-9063-1ABE695AED22}" dt="2025-05-28T12:31:37.604" v="424" actId="790"/>
          <ac:graphicFrameMkLst>
            <pc:docMk/>
            <pc:sldMk cId="574386959" sldId="1386"/>
            <ac:graphicFrameMk id="9" creationId="{7CE16E7D-F413-793A-64D0-7659BA8A3028}"/>
          </ac:graphicFrameMkLst>
        </pc:graphicFrame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3853117997" sldId="1387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853117997" sldId="1387"/>
            <ac:spMk id="2" creationId="{6BFC4472-BE3A-233D-2909-BB6E6C5ADAC1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853117997" sldId="1387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1370332905" sldId="1388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370332905" sldId="1388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370332905" sldId="1388"/>
            <ac:spMk id="3" creationId="{855A20A9-A416-83A4-5822-9FF5634727B1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370332905" sldId="1388"/>
            <ac:spMk id="4" creationId="{E632688B-7A2B-02DA-29C0-D2409E9699AA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370332905" sldId="1388"/>
            <ac:spMk id="5" creationId="{91A8ED3D-B755-43C9-BCB1-DCF495C0C9DB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370332905" sldId="1388"/>
            <ac:spMk id="7" creationId="{E711B0AD-FE1A-4B9B-B1BA-DB52459F87B3}"/>
          </ac:spMkLst>
        </pc:spChg>
      </pc:sldChg>
      <pc:sldChg chg="modSp mod modClrScheme chgLayout">
        <pc:chgData name="Feist, Ella" userId="992bbaf2-811d-42cb-a4d6-e7fc45e325e8" providerId="ADAL" clId="{33802261-5852-4C28-9063-1ABE695AED22}" dt="2025-05-28T12:31:37.604" v="424" actId="790"/>
        <pc:sldMkLst>
          <pc:docMk/>
          <pc:sldMk cId="2994913550" sldId="1389"/>
        </pc:sldMkLst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994913550" sldId="1389"/>
            <ac:spMk id="2" creationId="{A9A6FF77-D641-4417-92E7-11CC6238BF20}"/>
          </ac:spMkLst>
        </pc:spChg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994913550" sldId="1389"/>
            <ac:spMk id="3" creationId="{DD7E8287-D6AC-C749-1994-8EE430E20934}"/>
          </ac:spMkLst>
        </pc:spChg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994913550" sldId="1389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3228862189" sldId="1390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228862189" sldId="1390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228862189" sldId="1390"/>
            <ac:spMk id="3" creationId="{51A9FC0C-9B82-BFC5-C9EE-97A09EF7B1DF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228862189" sldId="1390"/>
            <ac:spMk id="4" creationId="{EE0E6A63-B1D6-481C-837A-70D688245F6D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228862189" sldId="1390"/>
            <ac:spMk id="5" creationId="{91A8ED3D-B755-43C9-BCB1-DCF495C0C9DB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228862189" sldId="1390"/>
            <ac:spMk id="7" creationId="{8BE0A43C-2121-916A-288D-8078165642E2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3393849202" sldId="1391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393849202" sldId="1391"/>
            <ac:spMk id="2" creationId="{A9A6FF77-D641-4417-92E7-11CC6238BF2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393849202" sldId="1391"/>
            <ac:spMk id="3" creationId="{1D0EB1B9-974A-6BAF-F230-83624F89B870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393849202" sldId="1391"/>
            <ac:spMk id="4" creationId="{F5EA46FD-FD28-F22E-BAA8-61BE52CDE668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393849202" sldId="1391"/>
            <ac:spMk id="5" creationId="{91A8ED3D-B755-43C9-BCB1-DCF495C0C9DB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393849202" sldId="1391"/>
            <ac:spMk id="7" creationId="{8A27696D-0EB9-43DD-ABBF-0F33CCE3A51C}"/>
          </ac:spMkLst>
        </pc:spChg>
      </pc:sldChg>
      <pc:sldChg chg="delSp modSp mod modClrScheme chgLayout">
        <pc:chgData name="Feist, Ella" userId="992bbaf2-811d-42cb-a4d6-e7fc45e325e8" providerId="ADAL" clId="{33802261-5852-4C28-9063-1ABE695AED22}" dt="2025-05-28T12:31:37.604" v="424" actId="790"/>
        <pc:sldMkLst>
          <pc:docMk/>
          <pc:sldMk cId="3072861239" sldId="1392"/>
        </pc:sldMkLst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072861239" sldId="1392"/>
            <ac:spMk id="2" creationId="{D7EC235F-614F-714E-A97F-4FF50EFF14FD}"/>
          </ac:spMkLst>
        </pc:spChg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072861239" sldId="1392"/>
            <ac:spMk id="4" creationId="{E9C5A723-C0B1-124B-8CB6-AA3105C9A4E6}"/>
          </ac:spMkLst>
        </pc:spChg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072861239" sldId="1392"/>
            <ac:spMk id="7" creationId="{7BC04298-B649-CC9B-A37A-112F1DBE1A0D}"/>
          </ac:spMkLst>
        </pc:spChg>
      </pc:sldChg>
      <pc:sldChg chg="addSp delSp modSp mod chgLayout">
        <pc:chgData name="Feist, Ella" userId="992bbaf2-811d-42cb-a4d6-e7fc45e325e8" providerId="ADAL" clId="{33802261-5852-4C28-9063-1ABE695AED22}" dt="2025-05-28T12:31:37.604" v="424" actId="790"/>
        <pc:sldMkLst>
          <pc:docMk/>
          <pc:sldMk cId="735056049" sldId="1393"/>
        </pc:sldMkLst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735056049" sldId="1393"/>
            <ac:spMk id="2" creationId="{D7EC235F-614F-714E-A97F-4FF50EFF14FD}"/>
          </ac:spMkLst>
        </pc:spChg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735056049" sldId="1393"/>
            <ac:spMk id="4" creationId="{E9C5A723-C0B1-124B-8CB6-AA3105C9A4E6}"/>
          </ac:spMkLst>
        </pc:spChg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735056049" sldId="1393"/>
            <ac:spMk id="5" creationId="{456097F5-B511-A700-E7F9-AD14CA6EBA8F}"/>
          </ac:spMkLst>
        </pc:spChg>
      </pc:sldChg>
      <pc:sldChg chg="modSp mod modClrScheme chgLayout">
        <pc:chgData name="Feist, Ella" userId="992bbaf2-811d-42cb-a4d6-e7fc45e325e8" providerId="ADAL" clId="{33802261-5852-4C28-9063-1ABE695AED22}" dt="2025-05-28T12:31:50.186" v="426" actId="114"/>
        <pc:sldMkLst>
          <pc:docMk/>
          <pc:sldMk cId="1451311382" sldId="1394"/>
        </pc:sldMkLst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451311382" sldId="1394"/>
            <ac:spMk id="2" creationId="{F111C5DB-635E-4576-A4C3-837B7E452E1E}"/>
          </ac:spMkLst>
        </pc:spChg>
        <pc:spChg chg="mod or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1451311382" sldId="1394"/>
            <ac:spMk id="3" creationId="{F2D0B37A-FBFD-F854-C0B7-15FBF36CF93D}"/>
          </ac:spMkLst>
        </pc:spChg>
        <pc:spChg chg="mod ord">
          <ac:chgData name="Feist, Ella" userId="992bbaf2-811d-42cb-a4d6-e7fc45e325e8" providerId="ADAL" clId="{33802261-5852-4C28-9063-1ABE695AED22}" dt="2025-05-28T12:31:50.186" v="426" actId="114"/>
          <ac:spMkLst>
            <pc:docMk/>
            <pc:sldMk cId="1451311382" sldId="1394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33802261-5852-4C28-9063-1ABE695AED22}" dt="2025-05-28T12:31:37.604" v="424" actId="790"/>
        <pc:sldMkLst>
          <pc:docMk/>
          <pc:sldMk cId="2437142714" sldId="1396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437142714" sldId="1396"/>
            <ac:spMk id="5" creationId="{2172141D-3A81-D84F-CDF9-4F694196B74E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2437142714" sldId="1396"/>
            <ac:spMk id="6" creationId="{56AA0EAC-98DA-5C74-F3C2-AEE92FA01D79}"/>
          </ac:spMkLst>
        </pc:spChg>
      </pc:sldChg>
      <pc:sldChg chg="modSp add mod">
        <pc:chgData name="Feist, Ella" userId="992bbaf2-811d-42cb-a4d6-e7fc45e325e8" providerId="ADAL" clId="{33802261-5852-4C28-9063-1ABE695AED22}" dt="2025-05-28T12:31:37.604" v="424" actId="790"/>
        <pc:sldMkLst>
          <pc:docMk/>
          <pc:sldMk cId="3425011871" sldId="1397"/>
        </pc:sldMkLst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425011871" sldId="1397"/>
            <ac:spMk id="2" creationId="{05F7451C-4CD6-7D6C-9EA9-C05F7DEFFEC4}"/>
          </ac:spMkLst>
        </pc:spChg>
        <pc:spChg chg="mod">
          <ac:chgData name="Feist, Ella" userId="992bbaf2-811d-42cb-a4d6-e7fc45e325e8" providerId="ADAL" clId="{33802261-5852-4C28-9063-1ABE695AED22}" dt="2025-05-28T12:31:37.604" v="424" actId="790"/>
          <ac:spMkLst>
            <pc:docMk/>
            <pc:sldMk cId="3425011871" sldId="1397"/>
            <ac:spMk id="3" creationId="{729C027A-1555-F7CC-3CAF-91D20D051109}"/>
          </ac:spMkLst>
        </pc:spChg>
        <pc:graphicFrameChg chg="mod modGraphic">
          <ac:chgData name="Feist, Ella" userId="992bbaf2-811d-42cb-a4d6-e7fc45e325e8" providerId="ADAL" clId="{33802261-5852-4C28-9063-1ABE695AED22}" dt="2025-05-28T12:31:37.604" v="424" actId="790"/>
          <ac:graphicFrameMkLst>
            <pc:docMk/>
            <pc:sldMk cId="3425011871" sldId="1397"/>
            <ac:graphicFrameMk id="6" creationId="{539B2E9D-7015-CF2B-AE6B-D731D1AC9A36}"/>
          </ac:graphicFrameMkLst>
        </pc:graphicFrameChg>
      </pc:sldChg>
      <pc:sldMasterChg chg="del delSldLayout">
        <pc:chgData name="Feist, Ella" userId="992bbaf2-811d-42cb-a4d6-e7fc45e325e8" providerId="ADAL" clId="{33802261-5852-4C28-9063-1ABE695AED22}" dt="2025-05-28T10:42:26.500" v="3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33802261-5852-4C28-9063-1ABE695AED22}" dt="2025-05-28T10:42:26.500" v="3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33802261-5852-4C28-9063-1ABE695AED22}" dt="2025-05-28T10:42:26.500" v="3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33802261-5852-4C28-9063-1ABE695AED22}" dt="2025-05-28T10:42:26.500" v="3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33802261-5852-4C28-9063-1ABE695AED22}" dt="2025-05-28T10:42:26.500" v="3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33802261-5852-4C28-9063-1ABE695AED22}" dt="2025-05-28T10:42:26.500" v="3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33802261-5852-4C28-9063-1ABE695AED22}" dt="2025-05-28T10:42:26.500" v="3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33802261-5852-4C28-9063-1ABE695AED22}" dt="2025-05-28T10:42:26.500" v="3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33802261-5852-4C28-9063-1ABE695AED22}" dt="2025-05-28T10:42:26.500" v="3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33802261-5852-4C28-9063-1ABE695AED22}" dt="2025-05-28T10:42:26.500" v="3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  <pc:docChgLst>
    <pc:chgData name="Feist, Ella" userId="992bbaf2-811d-42cb-a4d6-e7fc45e325e8" providerId="ADAL" clId="{82C02AF0-3201-4AFF-8545-0DFD842D4E5D}"/>
    <pc:docChg chg="undo custSel modSld">
      <pc:chgData name="Feist, Ella" userId="992bbaf2-811d-42cb-a4d6-e7fc45e325e8" providerId="ADAL" clId="{82C02AF0-3201-4AFF-8545-0DFD842D4E5D}" dt="2025-05-30T13:25:06.444" v="41" actId="20577"/>
      <pc:docMkLst>
        <pc:docMk/>
      </pc:docMkLst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136637111" sldId="1368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36637111" sldId="1368"/>
            <ac:spMk id="2" creationId="{6EFB7434-059B-9C18-281F-032B994D81AD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36637111" sldId="1368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82C02AF0-3201-4AFF-8545-0DFD842D4E5D}" dt="2025-05-30T13:22:48.221" v="0" actId="790"/>
          <ac:graphicFrameMkLst>
            <pc:docMk/>
            <pc:sldMk cId="136637111" sldId="1368"/>
            <ac:graphicFrameMk id="6" creationId="{A1C44AD1-2698-E900-0B16-630FF3D4DD2F}"/>
          </ac:graphicFrameMkLst>
        </pc:graphicFrame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4173626290" sldId="1369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173626290" sldId="1369"/>
            <ac:spMk id="4" creationId="{00000000-0000-0000-0000-00000000000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173626290" sldId="1369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959990921" sldId="1370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959990921" sldId="1370"/>
            <ac:spMk id="2" creationId="{42492990-FA67-E9C4-ABA0-9F6BCFE4CE64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959990921" sldId="1370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82C02AF0-3201-4AFF-8545-0DFD842D4E5D}" dt="2025-05-30T13:22:58.354" v="1" actId="207"/>
        <pc:sldMkLst>
          <pc:docMk/>
          <pc:sldMk cId="3002357051" sldId="1371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002357051" sldId="1371"/>
            <ac:spMk id="3" creationId="{AAFF6B6A-66F8-A394-5296-3E229DE862F1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002357051" sldId="1371"/>
            <ac:spMk id="4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002357051" sldId="1371"/>
            <ac:spMk id="5" creationId="{91A8ED3D-B755-43C9-BCB1-DCF495C0C9DB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002357051" sldId="1371"/>
            <ac:spMk id="7" creationId="{C1EC2494-B2D7-57C6-7469-6C83D160096C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695309871" sldId="1372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695309871" sldId="1372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695309871" sldId="1372"/>
            <ac:spMk id="3" creationId="{050463A2-60FA-6A1F-F1ED-313E958A5D9E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695309871" sldId="1372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1205406725" sldId="1373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205406725" sldId="1373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205406725" sldId="1373"/>
            <ac:spMk id="3" creationId="{F467A17C-592E-8836-6B3A-BE705807AA55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205406725" sldId="1373"/>
            <ac:spMk id="4" creationId="{307A8D78-10F2-7C4F-B968-5F0713477E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205406725" sldId="1373"/>
            <ac:spMk id="5" creationId="{91A8ED3D-B755-43C9-BCB1-DCF495C0C9DB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205406725" sldId="1373"/>
            <ac:spMk id="7" creationId="{786DEBEF-450F-D1B8-C7F1-8E0A98B25643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2420066786" sldId="1374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420066786" sldId="1374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420066786" sldId="1374"/>
            <ac:spMk id="3" creationId="{E67F202E-16DC-D05E-D1B6-A5461A4B17CB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420066786" sldId="1374"/>
            <ac:spMk id="4" creationId="{8BF5F50A-6321-074F-02C4-A6D2686C987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420066786" sldId="1374"/>
            <ac:spMk id="5" creationId="{91A8ED3D-B755-43C9-BCB1-DCF495C0C9DB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420066786" sldId="1374"/>
            <ac:spMk id="7" creationId="{786DEBEF-450F-D1B8-C7F1-8E0A98B25643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1693002430" sldId="1375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693002430" sldId="1375"/>
            <ac:spMk id="2" creationId="{4E9BFF16-B602-A980-F03D-73F453A941C1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693002430" sldId="1375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82C02AF0-3201-4AFF-8545-0DFD842D4E5D}" dt="2025-05-30T13:23:10.531" v="4" actId="207"/>
        <pc:sldMkLst>
          <pc:docMk/>
          <pc:sldMk cId="2963516339" sldId="1376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963516339" sldId="1376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963516339" sldId="1376"/>
            <ac:spMk id="3" creationId="{01C36D16-F280-FBBC-4DEC-624B220E30A5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963516339" sldId="1376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1275659898" sldId="1377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275659898" sldId="1377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275659898" sldId="1377"/>
            <ac:spMk id="3" creationId="{A2CB6176-BE68-70AC-FCFD-DA50497BDFC6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275659898" sldId="1377"/>
            <ac:spMk id="5" creationId="{91A8ED3D-B755-43C9-BCB1-DCF495C0C9DB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275659898" sldId="1377"/>
            <ac:spMk id="7" creationId="{57FB28D0-A7A3-8783-93C8-8D6670CD0BCF}"/>
          </ac:spMkLst>
        </pc:spChg>
        <pc:graphicFrameChg chg="modGraphic">
          <ac:chgData name="Feist, Ella" userId="992bbaf2-811d-42cb-a4d6-e7fc45e325e8" providerId="ADAL" clId="{82C02AF0-3201-4AFF-8545-0DFD842D4E5D}" dt="2025-05-30T13:22:48.221" v="0" actId="790"/>
          <ac:graphicFrameMkLst>
            <pc:docMk/>
            <pc:sldMk cId="1275659898" sldId="1377"/>
            <ac:graphicFrameMk id="6" creationId="{F05AC884-A134-F10B-531F-42D6686FBB63}"/>
          </ac:graphicFrameMkLst>
        </pc:graphicFrameChg>
      </pc:sldChg>
      <pc:sldChg chg="modSp mod modNotes">
        <pc:chgData name="Feist, Ella" userId="992bbaf2-811d-42cb-a4d6-e7fc45e325e8" providerId="ADAL" clId="{82C02AF0-3201-4AFF-8545-0DFD842D4E5D}" dt="2025-05-30T13:23:19.507" v="6" actId="12"/>
        <pc:sldMkLst>
          <pc:docMk/>
          <pc:sldMk cId="742228458" sldId="1378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742228458" sldId="1378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742228458" sldId="1378"/>
            <ac:spMk id="3" creationId="{6ABB71D1-3384-6FBD-B8D9-B111F906B06A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742228458" sldId="1378"/>
            <ac:spMk id="4" creationId="{9067B328-4A33-8E51-CF64-7799DFA1AD25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742228458" sldId="1378"/>
            <ac:spMk id="5" creationId="{91A8ED3D-B755-43C9-BCB1-DCF495C0C9DB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742228458" sldId="1378"/>
            <ac:spMk id="7" creationId="{876AE57D-B7AB-2D1F-8316-ED549C756D4D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248228759" sldId="1379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48228759" sldId="1379"/>
            <ac:spMk id="2" creationId="{0EADE2F2-4B2C-FD3C-8307-AC4CC7E22379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48228759" sldId="1379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82C02AF0-3201-4AFF-8545-0DFD842D4E5D}" dt="2025-05-30T13:23:35.417" v="10" actId="20577"/>
        <pc:sldMkLst>
          <pc:docMk/>
          <pc:sldMk cId="1440400611" sldId="1380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440400611" sldId="1380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440400611" sldId="1380"/>
            <ac:spMk id="3" creationId="{D1D36022-2EF7-A3B3-45CE-8F70DADFE827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440400611" sldId="1380"/>
            <ac:spMk id="5" creationId="{91A8ED3D-B755-43C9-BCB1-DCF495C0C9DB}"/>
          </ac:spMkLst>
        </pc:spChg>
        <pc:graphicFrameChg chg="modGraphic">
          <ac:chgData name="Feist, Ella" userId="992bbaf2-811d-42cb-a4d6-e7fc45e325e8" providerId="ADAL" clId="{82C02AF0-3201-4AFF-8545-0DFD842D4E5D}" dt="2025-05-30T13:22:48.221" v="0" actId="790"/>
          <ac:graphicFrameMkLst>
            <pc:docMk/>
            <pc:sldMk cId="1440400611" sldId="1380"/>
            <ac:graphicFrameMk id="6" creationId="{71CD2C96-5299-4EE8-DE8D-0834A084B49D}"/>
          </ac:graphicFrameMkLst>
        </pc:graphicFrameChg>
      </pc:sldChg>
      <pc:sldChg chg="modSp mod modNotes">
        <pc:chgData name="Feist, Ella" userId="992bbaf2-811d-42cb-a4d6-e7fc45e325e8" providerId="ADAL" clId="{82C02AF0-3201-4AFF-8545-0DFD842D4E5D}" dt="2025-05-30T13:23:44.999" v="13" actId="20577"/>
        <pc:sldMkLst>
          <pc:docMk/>
          <pc:sldMk cId="4030854950" sldId="1381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030854950" sldId="1381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030854950" sldId="1381"/>
            <ac:spMk id="3" creationId="{8DF60D91-BC61-18CE-8D61-770BB2F16928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030854950" sldId="1381"/>
            <ac:spMk id="4" creationId="{C5F40765-03EA-8C50-1B09-B463A64926D8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030854950" sldId="1381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3758568016" sldId="1382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758568016" sldId="1382"/>
            <ac:spMk id="2" creationId="{5A2CA71F-2FBF-E557-1001-04D8DBADBC58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758568016" sldId="1382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82C02AF0-3201-4AFF-8545-0DFD842D4E5D}" dt="2025-05-30T13:23:51.215" v="15" actId="20577"/>
        <pc:sldMkLst>
          <pc:docMk/>
          <pc:sldMk cId="4068943751" sldId="1383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068943751" sldId="1383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068943751" sldId="1383"/>
            <ac:spMk id="3" creationId="{47A54691-9EBA-BF13-A094-383BB435E21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068943751" sldId="1383"/>
            <ac:spMk id="4" creationId="{FF32B24E-0FD7-C0E2-1AA7-1FF97AC82C37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068943751" sldId="1383"/>
            <ac:spMk id="5" creationId="{91A8ED3D-B755-43C9-BCB1-DCF495C0C9DB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068943751" sldId="1383"/>
            <ac:spMk id="7" creationId="{5F837E82-6D21-26CB-619F-445FACB49E7D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068943751" sldId="1383"/>
            <ac:spMk id="8" creationId="{B3438DDC-A387-8C74-9B7E-767100A237AB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4068943751" sldId="1383"/>
            <ac:spMk id="9" creationId="{2705A14D-3EF5-6C05-4F2E-38F2B12CCACB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3382356599" sldId="1384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382356599" sldId="1384"/>
            <ac:spMk id="2" creationId="{649E47BF-BC3C-206B-A5E6-7049F26F059E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382356599" sldId="1384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82C02AF0-3201-4AFF-8545-0DFD842D4E5D}" dt="2025-05-30T13:23:58.823" v="18" actId="20577"/>
        <pc:sldMkLst>
          <pc:docMk/>
          <pc:sldMk cId="3388298166" sldId="1385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388298166" sldId="1385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388298166" sldId="1385"/>
            <ac:spMk id="3" creationId="{4F2E2DD1-EDAF-4427-2986-60400C7CDE87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388298166" sldId="1385"/>
            <ac:spMk id="4" creationId="{5D02B93C-7B08-E8DB-86C5-7A4133C8034A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388298166" sldId="1385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574386959" sldId="1386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574386959" sldId="1386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574386959" sldId="1386"/>
            <ac:spMk id="3" creationId="{3027D23A-B661-C95A-FFFC-18421373A5DD}"/>
          </ac:spMkLst>
        </pc:spChg>
        <pc:graphicFrameChg chg="modGraphic">
          <ac:chgData name="Feist, Ella" userId="992bbaf2-811d-42cb-a4d6-e7fc45e325e8" providerId="ADAL" clId="{82C02AF0-3201-4AFF-8545-0DFD842D4E5D}" dt="2025-05-30T13:22:48.221" v="0" actId="790"/>
          <ac:graphicFrameMkLst>
            <pc:docMk/>
            <pc:sldMk cId="574386959" sldId="1386"/>
            <ac:graphicFrameMk id="9" creationId="{7CE16E7D-F413-793A-64D0-7659BA8A3028}"/>
          </ac:graphicFrameMkLst>
        </pc:graphicFrame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3853117997" sldId="1387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853117997" sldId="1387"/>
            <ac:spMk id="2" creationId="{6BFC4472-BE3A-233D-2909-BB6E6C5ADAC1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853117997" sldId="1387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82C02AF0-3201-4AFF-8545-0DFD842D4E5D}" dt="2025-05-30T13:24:14.245" v="23" actId="20577"/>
        <pc:sldMkLst>
          <pc:docMk/>
          <pc:sldMk cId="1370332905" sldId="1388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370332905" sldId="1388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370332905" sldId="1388"/>
            <ac:spMk id="3" creationId="{855A20A9-A416-83A4-5822-9FF5634727B1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370332905" sldId="1388"/>
            <ac:spMk id="4" creationId="{E632688B-7A2B-02DA-29C0-D2409E9699AA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370332905" sldId="1388"/>
            <ac:spMk id="5" creationId="{91A8ED3D-B755-43C9-BCB1-DCF495C0C9DB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370332905" sldId="1388"/>
            <ac:spMk id="7" creationId="{E711B0AD-FE1A-4B9B-B1BA-DB52459F87B3}"/>
          </ac:spMkLst>
        </pc:spChg>
      </pc:sldChg>
      <pc:sldChg chg="modSp mod modNotes">
        <pc:chgData name="Feist, Ella" userId="992bbaf2-811d-42cb-a4d6-e7fc45e325e8" providerId="ADAL" clId="{82C02AF0-3201-4AFF-8545-0DFD842D4E5D}" dt="2025-05-30T13:24:18.306" v="24" actId="207"/>
        <pc:sldMkLst>
          <pc:docMk/>
          <pc:sldMk cId="2994913550" sldId="1389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994913550" sldId="1389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994913550" sldId="1389"/>
            <ac:spMk id="3" creationId="{DD7E8287-D6AC-C749-1994-8EE430E20934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994913550" sldId="1389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82C02AF0-3201-4AFF-8545-0DFD842D4E5D}" dt="2025-05-30T13:24:28.772" v="30" actId="20577"/>
        <pc:sldMkLst>
          <pc:docMk/>
          <pc:sldMk cId="3228862189" sldId="1390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228862189" sldId="1390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228862189" sldId="1390"/>
            <ac:spMk id="3" creationId="{51A9FC0C-9B82-BFC5-C9EE-97A09EF7B1DF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228862189" sldId="1390"/>
            <ac:spMk id="4" creationId="{EE0E6A63-B1D6-481C-837A-70D688245F6D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228862189" sldId="1390"/>
            <ac:spMk id="5" creationId="{91A8ED3D-B755-43C9-BCB1-DCF495C0C9DB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228862189" sldId="1390"/>
            <ac:spMk id="7" creationId="{8BE0A43C-2121-916A-288D-8078165642E2}"/>
          </ac:spMkLst>
        </pc:spChg>
      </pc:sldChg>
      <pc:sldChg chg="modSp mod modNotes">
        <pc:chgData name="Feist, Ella" userId="992bbaf2-811d-42cb-a4d6-e7fc45e325e8" providerId="ADAL" clId="{82C02AF0-3201-4AFF-8545-0DFD842D4E5D}" dt="2025-05-30T13:24:56.575" v="38" actId="20577"/>
        <pc:sldMkLst>
          <pc:docMk/>
          <pc:sldMk cId="3393849202" sldId="1391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393849202" sldId="1391"/>
            <ac:spMk id="2" creationId="{A9A6FF77-D641-4417-92E7-11CC6238BF2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393849202" sldId="1391"/>
            <ac:spMk id="3" creationId="{1D0EB1B9-974A-6BAF-F230-83624F89B870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393849202" sldId="1391"/>
            <ac:spMk id="4" creationId="{F5EA46FD-FD28-F22E-BAA8-61BE52CDE668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393849202" sldId="1391"/>
            <ac:spMk id="5" creationId="{91A8ED3D-B755-43C9-BCB1-DCF495C0C9DB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393849202" sldId="1391"/>
            <ac:spMk id="7" creationId="{8A27696D-0EB9-43DD-ABBF-0F33CCE3A51C}"/>
          </ac:spMkLst>
        </pc:spChg>
      </pc:sldChg>
      <pc:sldChg chg="modSp mod modNotes">
        <pc:chgData name="Feist, Ella" userId="992bbaf2-811d-42cb-a4d6-e7fc45e325e8" providerId="ADAL" clId="{82C02AF0-3201-4AFF-8545-0DFD842D4E5D}" dt="2025-05-30T13:25:06.444" v="41" actId="20577"/>
        <pc:sldMkLst>
          <pc:docMk/>
          <pc:sldMk cId="3072861239" sldId="1392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072861239" sldId="1392"/>
            <ac:spMk id="2" creationId="{D7EC235F-614F-714E-A97F-4FF50EFF14FD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072861239" sldId="1392"/>
            <ac:spMk id="4" creationId="{E9C5A723-C0B1-124B-8CB6-AA3105C9A4E6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072861239" sldId="1392"/>
            <ac:spMk id="7" creationId="{7BC04298-B649-CC9B-A37A-112F1DBE1A0D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735056049" sldId="1393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735056049" sldId="1393"/>
            <ac:spMk id="2" creationId="{D7EC235F-614F-714E-A97F-4FF50EFF14FD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735056049" sldId="1393"/>
            <ac:spMk id="4" creationId="{E9C5A723-C0B1-124B-8CB6-AA3105C9A4E6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735056049" sldId="1393"/>
            <ac:spMk id="5" creationId="{456097F5-B511-A700-E7F9-AD14CA6EBA8F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1451311382" sldId="1394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451311382" sldId="1394"/>
            <ac:spMk id="2" creationId="{F111C5DB-635E-4576-A4C3-837B7E452E1E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451311382" sldId="1394"/>
            <ac:spMk id="3" creationId="{F2D0B37A-FBFD-F854-C0B7-15FBF36CF93D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1451311382" sldId="1394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2437142714" sldId="1396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437142714" sldId="1396"/>
            <ac:spMk id="5" creationId="{2172141D-3A81-D84F-CDF9-4F694196B74E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2437142714" sldId="1396"/>
            <ac:spMk id="6" creationId="{56AA0EAC-98DA-5C74-F3C2-AEE92FA01D79}"/>
          </ac:spMkLst>
        </pc:spChg>
      </pc:sldChg>
      <pc:sldChg chg="modSp mod">
        <pc:chgData name="Feist, Ella" userId="992bbaf2-811d-42cb-a4d6-e7fc45e325e8" providerId="ADAL" clId="{82C02AF0-3201-4AFF-8545-0DFD842D4E5D}" dt="2025-05-30T13:22:48.221" v="0" actId="790"/>
        <pc:sldMkLst>
          <pc:docMk/>
          <pc:sldMk cId="3425011871" sldId="1397"/>
        </pc:sldMkLst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425011871" sldId="1397"/>
            <ac:spMk id="2" creationId="{05F7451C-4CD6-7D6C-9EA9-C05F7DEFFEC4}"/>
          </ac:spMkLst>
        </pc:spChg>
        <pc:spChg chg="mod">
          <ac:chgData name="Feist, Ella" userId="992bbaf2-811d-42cb-a4d6-e7fc45e325e8" providerId="ADAL" clId="{82C02AF0-3201-4AFF-8545-0DFD842D4E5D}" dt="2025-05-30T13:22:48.221" v="0" actId="790"/>
          <ac:spMkLst>
            <pc:docMk/>
            <pc:sldMk cId="3425011871" sldId="1397"/>
            <ac:spMk id="3" creationId="{729C027A-1555-F7CC-3CAF-91D20D051109}"/>
          </ac:spMkLst>
        </pc:spChg>
        <pc:graphicFrameChg chg="modGraphic">
          <ac:chgData name="Feist, Ella" userId="992bbaf2-811d-42cb-a4d6-e7fc45e325e8" providerId="ADAL" clId="{82C02AF0-3201-4AFF-8545-0DFD842D4E5D}" dt="2025-05-30T13:22:48.221" v="0" actId="790"/>
          <ac:graphicFrameMkLst>
            <pc:docMk/>
            <pc:sldMk cId="3425011871" sldId="1397"/>
            <ac:graphicFrameMk id="6" creationId="{539B2E9D-7015-CF2B-AE6B-D731D1AC9A3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05/06/2026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8097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8516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4095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06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Use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dd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convert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copy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files.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convert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character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formats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copy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device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another.</a:t>
            </a:r>
          </a:p>
          <a:p>
            <a:pPr marL="12700" marR="1206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standard input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output </a:t>
            </a:r>
            <a:r>
              <a:rPr lang="en-GB" sz="1200" spc="-15" noProof="0" dirty="0">
                <a:latin typeface="+mn-lt"/>
                <a:cs typeface="Segoe UI"/>
              </a:rPr>
              <a:t>are used as </a:t>
            </a:r>
            <a:r>
              <a:rPr lang="en-GB" sz="1200" spc="-25" noProof="0" dirty="0">
                <a:latin typeface="+mn-lt"/>
                <a:cs typeface="Segoe UI"/>
              </a:rPr>
              <a:t>default,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20" noProof="0" dirty="0">
                <a:latin typeface="+mn-lt"/>
                <a:cs typeface="Segoe UI"/>
              </a:rPr>
              <a:t>files, including special devices files, can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9080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dd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reads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writes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block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sizes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matched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those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suitable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device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used.</a:t>
            </a:r>
            <a:r>
              <a:rPr lang="en-GB" sz="1200" spc="-65" noProof="0" dirty="0">
                <a:latin typeface="+mn-lt"/>
                <a:cs typeface="Segoe UI"/>
              </a:rPr>
              <a:t>  </a:t>
            </a:r>
            <a:r>
              <a:rPr lang="en-GB" sz="1200" spc="-20" noProof="0" dirty="0">
                <a:latin typeface="+mn-lt"/>
                <a:cs typeface="Segoe UI"/>
              </a:rPr>
              <a:t>Hence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separate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block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size.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405765">
              <a:lnSpc>
                <a:spcPct val="100000"/>
              </a:lnSpc>
              <a:spcBef>
                <a:spcPts val="600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indicate </a:t>
            </a:r>
            <a:r>
              <a:rPr lang="en-GB" sz="1200" spc="-15" noProof="0" dirty="0">
                <a:latin typeface="+mn-lt"/>
                <a:cs typeface="Segoe UI"/>
              </a:rPr>
              <a:t>more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conversion,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</a:t>
            </a:r>
            <a:r>
              <a:rPr lang="en-GB" sz="1200" spc="15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conv=ascii,lcase</a:t>
            </a:r>
            <a:r>
              <a:rPr lang="en-GB" sz="1200" b="1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specifies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conversion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lowercase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ASCII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form.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39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Being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image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copier,</a:t>
            </a:r>
            <a:r>
              <a:rPr lang="en-GB" sz="1200" b="1" spc="-50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dd</a:t>
            </a:r>
            <a:r>
              <a:rPr lang="en-GB" sz="1200" b="1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wonderful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variety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handling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operations,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filesystem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type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relevance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is </a:t>
            </a:r>
            <a:r>
              <a:rPr lang="en-GB" sz="1200" spc="-20" noProof="0" dirty="0">
                <a:latin typeface="+mn-lt"/>
                <a:cs typeface="Segoe UI"/>
              </a:rPr>
              <a:t>unknown.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122568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06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28219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06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881578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06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67853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825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06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tar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creates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archive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containing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specified files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directories.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912606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06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94540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065">
              <a:lnSpc>
                <a:spcPct val="100000"/>
              </a:lnSpc>
              <a:spcBef>
                <a:spcPts val="105"/>
              </a:spcBef>
            </a:pPr>
            <a:r>
              <a:rPr lang="en-US" sz="1200" b="1" spc="-20" noProof="0" dirty="0" err="1">
                <a:latin typeface="+mn-lt"/>
                <a:cs typeface="Segoe UI"/>
              </a:rPr>
              <a:t>J</a:t>
            </a:r>
            <a:r>
              <a:rPr lang="en-US" sz="1200" spc="-20" noProof="0" dirty="0" err="1">
                <a:latin typeface="+mn-lt"/>
                <a:cs typeface="Segoe UI"/>
              </a:rPr>
              <a:t>ava</a:t>
            </a:r>
            <a:r>
              <a:rPr lang="en-US" sz="1200" b="1" spc="-20" noProof="0" dirty="0" err="1">
                <a:latin typeface="+mn-lt"/>
                <a:cs typeface="Segoe UI"/>
              </a:rPr>
              <a:t>AR</a:t>
            </a:r>
            <a:r>
              <a:rPr lang="en-US" sz="1200" spc="-20" noProof="0" dirty="0" err="1">
                <a:latin typeface="+mn-lt"/>
                <a:cs typeface="Segoe UI"/>
              </a:rPr>
              <a:t>chive</a:t>
            </a:r>
            <a:r>
              <a:rPr lang="en-US" sz="1200" spc="-20" noProof="0" dirty="0">
                <a:latin typeface="+mn-lt"/>
                <a:cs typeface="Segoe UI"/>
              </a:rPr>
              <a:t> tool was initially designed for archiving, compressing and packaging of Java code, using java's version of the zip program, and as such it is independent of any third-party compression tools. </a:t>
            </a:r>
          </a:p>
          <a:p>
            <a:pPr marL="12700" marR="12065">
              <a:lnSpc>
                <a:spcPct val="100000"/>
              </a:lnSpc>
              <a:spcBef>
                <a:spcPts val="105"/>
              </a:spcBef>
            </a:pPr>
            <a:r>
              <a:rPr lang="en-US" sz="1200" spc="-20" noProof="0" dirty="0">
                <a:latin typeface="+mn-lt"/>
                <a:cs typeface="Segoe UI"/>
              </a:rPr>
              <a:t>A JAR file</a:t>
            </a:r>
            <a:r>
              <a:rPr lang="en-US" spc="-20" dirty="0">
                <a:cs typeface="Segoe UI"/>
              </a:rPr>
              <a:t> </a:t>
            </a:r>
            <a:r>
              <a:rPr lang="en-US" sz="1200" spc="-20" noProof="0" dirty="0">
                <a:latin typeface="+mn-lt"/>
                <a:cs typeface="Segoe UI"/>
              </a:rPr>
              <a:t>gets a default manifest file, which always has the pathname META-INF/MANIFEST.MF. This file can be used for additional packaging information, allowing individual entries in an archive to be signed by the author.</a:t>
            </a:r>
          </a:p>
          <a:p>
            <a:pPr marL="12700" marR="12065">
              <a:lnSpc>
                <a:spcPct val="100000"/>
              </a:lnSpc>
              <a:spcBef>
                <a:spcPts val="105"/>
              </a:spcBef>
            </a:pPr>
            <a:r>
              <a:rPr lang="en-US" sz="1200" spc="-20" noProof="0" dirty="0">
                <a:latin typeface="+mn-lt"/>
                <a:cs typeface="Segoe UI"/>
              </a:rPr>
              <a:t>Some of the jar options:</a:t>
            </a:r>
          </a:p>
          <a:p>
            <a:pPr marL="184150" marR="1206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200" spc="-20" noProof="0" dirty="0">
                <a:latin typeface="+mn-lt"/>
                <a:cs typeface="Segoe UI"/>
              </a:rPr>
              <a:t>- c create new archive</a:t>
            </a:r>
          </a:p>
          <a:p>
            <a:pPr marL="184150" marR="1206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200" spc="-20" noProof="0" dirty="0">
                <a:latin typeface="+mn-lt"/>
                <a:cs typeface="Segoe UI"/>
              </a:rPr>
              <a:t>- t list table of contents for archive</a:t>
            </a:r>
          </a:p>
          <a:p>
            <a:pPr marL="184150" marR="1206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200" spc="-20" noProof="0" dirty="0">
                <a:latin typeface="+mn-lt"/>
                <a:cs typeface="Segoe UI"/>
              </a:rPr>
              <a:t>- x extract named (or all) files from archive</a:t>
            </a:r>
          </a:p>
          <a:p>
            <a:pPr marL="184150" marR="1206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200" spc="-20" noProof="0" dirty="0">
                <a:latin typeface="+mn-lt"/>
                <a:cs typeface="Segoe UI"/>
              </a:rPr>
              <a:t>- u update existing archive</a:t>
            </a:r>
          </a:p>
          <a:p>
            <a:pPr marL="184150" marR="1206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200" spc="-20" noProof="0" dirty="0">
                <a:latin typeface="+mn-lt"/>
                <a:cs typeface="Segoe UI"/>
              </a:rPr>
              <a:t>- v generate verbose output on standard output</a:t>
            </a:r>
          </a:p>
          <a:p>
            <a:pPr marL="184150" marR="1206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200" spc="-20" noProof="0" dirty="0">
                <a:latin typeface="+mn-lt"/>
                <a:cs typeface="Segoe UI"/>
              </a:rPr>
              <a:t>- f specify archive file name</a:t>
            </a:r>
          </a:p>
          <a:p>
            <a:pPr marL="184150" marR="1206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200" spc="-20" noProof="0" dirty="0">
                <a:latin typeface="+mn-lt"/>
                <a:cs typeface="Segoe UI"/>
              </a:rPr>
              <a:t>- m include manifest information from specified manifest file</a:t>
            </a:r>
          </a:p>
          <a:p>
            <a:pPr marL="184150" marR="1206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200" spc="-20" noProof="0" dirty="0">
                <a:latin typeface="+mn-lt"/>
                <a:cs typeface="Segoe UI"/>
              </a:rPr>
              <a:t>- 0 store only; use no ZIP compression</a:t>
            </a:r>
          </a:p>
          <a:p>
            <a:pPr marL="184150" marR="1206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200" spc="-20" noProof="0" dirty="0">
                <a:latin typeface="+mn-lt"/>
                <a:cs typeface="Segoe UI"/>
              </a:rPr>
              <a:t>- M do not create a manifest file for the entries</a:t>
            </a:r>
          </a:p>
          <a:p>
            <a:pPr marL="184150" marR="1206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200" spc="-20" noProof="0" dirty="0">
                <a:latin typeface="+mn-lt"/>
                <a:cs typeface="Segoe UI"/>
              </a:rPr>
              <a:t>- </a:t>
            </a:r>
            <a:r>
              <a:rPr lang="en-US" sz="1200" spc="-20" noProof="0" dirty="0" err="1">
                <a:latin typeface="+mn-lt"/>
                <a:cs typeface="Segoe UI"/>
              </a:rPr>
              <a:t>i</a:t>
            </a:r>
            <a:r>
              <a:rPr lang="en-US" sz="1200" spc="-20" noProof="0" dirty="0">
                <a:latin typeface="+mn-lt"/>
                <a:cs typeface="Segoe UI"/>
              </a:rPr>
              <a:t> generate index information for the specified jar files</a:t>
            </a:r>
          </a:p>
          <a:p>
            <a:pPr marL="184150" marR="1206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1200" spc="-20" noProof="0" dirty="0">
                <a:latin typeface="+mn-lt"/>
                <a:cs typeface="Segoe UI"/>
              </a:rPr>
              <a:t>- C change to the specified directory and include the following file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84036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243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b="1" spc="-20" noProof="0" dirty="0" err="1">
                <a:latin typeface="+mn-lt"/>
                <a:cs typeface="Segoe UI"/>
              </a:rPr>
              <a:t>cpio</a:t>
            </a:r>
            <a:r>
              <a:rPr lang="en-GB" sz="1200" spc="-20" noProof="0" dirty="0">
                <a:latin typeface="+mn-lt"/>
                <a:cs typeface="Segoe UI"/>
              </a:rPr>
              <a:t> was originally developed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15" noProof="0" dirty="0">
                <a:latin typeface="+mn-lt"/>
                <a:cs typeface="Segoe UI"/>
              </a:rPr>
              <a:t>AT&amp;T </a:t>
            </a:r>
            <a:r>
              <a:rPr lang="en-GB" sz="1200" spc="-20" noProof="0" dirty="0">
                <a:latin typeface="+mn-lt"/>
                <a:cs typeface="Segoe UI"/>
              </a:rPr>
              <a:t>versions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Unix </a:t>
            </a:r>
            <a:r>
              <a:rPr lang="en-GB" sz="1200" spc="-20" noProof="0" dirty="0">
                <a:latin typeface="+mn-lt"/>
                <a:cs typeface="Segoe UI"/>
              </a:rPr>
              <a:t>(System III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System </a:t>
            </a:r>
            <a:r>
              <a:rPr lang="en-GB" sz="1200" spc="-15" noProof="0" dirty="0">
                <a:latin typeface="+mn-lt"/>
                <a:cs typeface="Segoe UI"/>
              </a:rPr>
              <a:t>V) and it is </a:t>
            </a:r>
            <a:r>
              <a:rPr lang="en-GB" sz="1200" spc="-20" noProof="0" dirty="0">
                <a:latin typeface="+mn-lt"/>
                <a:cs typeface="Segoe UI"/>
              </a:rPr>
              <a:t>also distributed </a:t>
            </a:r>
            <a:r>
              <a:rPr lang="en-GB" sz="1200" spc="-25" noProof="0" dirty="0">
                <a:latin typeface="+mn-lt"/>
                <a:cs typeface="Segoe UI"/>
              </a:rPr>
              <a:t>with </a:t>
            </a:r>
            <a:r>
              <a:rPr lang="en-GB" sz="1200" spc="-20" noProof="0" dirty="0">
                <a:latin typeface="+mn-lt"/>
                <a:cs typeface="Segoe UI"/>
              </a:rPr>
              <a:t>Linux.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Its basic operation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5" noProof="0" dirty="0">
                <a:latin typeface="+mn-lt"/>
                <a:cs typeface="Segoe UI"/>
              </a:rPr>
              <a:t>similar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b="1" spc="-20" noProof="0" dirty="0">
                <a:latin typeface="+mn-lt"/>
                <a:cs typeface="Segoe UI"/>
              </a:rPr>
              <a:t>tar</a:t>
            </a:r>
            <a:r>
              <a:rPr lang="en-GB" sz="1200" spc="-20" noProof="0" dirty="0">
                <a:latin typeface="+mn-lt"/>
                <a:cs typeface="Segoe UI"/>
              </a:rPr>
              <a:t>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20" noProof="0" dirty="0">
                <a:latin typeface="+mn-lt"/>
                <a:cs typeface="Segoe UI"/>
              </a:rPr>
              <a:t>there </a:t>
            </a:r>
            <a:r>
              <a:rPr lang="en-GB" sz="1200" spc="-15" noProof="0" dirty="0">
                <a:latin typeface="+mn-lt"/>
                <a:cs typeface="Segoe UI"/>
              </a:rPr>
              <a:t>are some </a:t>
            </a:r>
            <a:r>
              <a:rPr lang="en-GB" sz="1200" spc="-20" noProof="0" dirty="0">
                <a:latin typeface="+mn-lt"/>
                <a:cs typeface="Segoe UI"/>
              </a:rPr>
              <a:t>important differences.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The biggest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advantage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 err="1">
                <a:latin typeface="+mn-lt"/>
                <a:cs typeface="Segoe UI"/>
              </a:rPr>
              <a:t>cpio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over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tar</a:t>
            </a:r>
            <a:r>
              <a:rPr lang="en-GB" sz="1200" spc="-15" noProof="0" dirty="0">
                <a:latin typeface="+mn-lt"/>
                <a:cs typeface="Segoe UI"/>
              </a:rPr>
              <a:t> 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fact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 err="1">
                <a:latin typeface="+mn-lt"/>
                <a:cs typeface="Segoe UI"/>
              </a:rPr>
              <a:t>cpio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skips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over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bad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blocks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target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device,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tar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would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bomb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nasty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error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message.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500019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2065">
              <a:lnSpc>
                <a:spcPct val="100000"/>
              </a:lnSpc>
              <a:spcBef>
                <a:spcPts val="105"/>
              </a:spcBef>
            </a:pPr>
            <a:r>
              <a:rPr lang="en-GB" spc="-20" dirty="0" err="1">
                <a:latin typeface="Segoe UI"/>
                <a:cs typeface="Segoe UI"/>
              </a:rPr>
              <a:t>cpio</a:t>
            </a:r>
            <a:r>
              <a:rPr lang="en-GB" sz="1200" spc="-45" noProof="0" dirty="0">
                <a:latin typeface="Segoe UI"/>
                <a:cs typeface="Segoe UI"/>
              </a:rPr>
              <a:t> </a:t>
            </a:r>
            <a:r>
              <a:rPr lang="en-GB" sz="1200" spc="-20" noProof="0" dirty="0">
                <a:latin typeface="Segoe UI"/>
                <a:cs typeface="Segoe UI"/>
              </a:rPr>
              <a:t>creates</a:t>
            </a:r>
            <a:r>
              <a:rPr lang="en-GB" sz="1200" spc="-5" noProof="0" dirty="0">
                <a:latin typeface="Segoe UI"/>
                <a:cs typeface="Segoe UI"/>
              </a:rPr>
              <a:t> </a:t>
            </a:r>
            <a:r>
              <a:rPr lang="en-GB" sz="1200" spc="-15" noProof="0" dirty="0">
                <a:latin typeface="Segoe UI"/>
                <a:cs typeface="Segoe UI"/>
              </a:rPr>
              <a:t>an</a:t>
            </a:r>
            <a:r>
              <a:rPr lang="en-GB" sz="1200" spc="-45" noProof="0" dirty="0">
                <a:latin typeface="Segoe UI"/>
                <a:cs typeface="Segoe UI"/>
              </a:rPr>
              <a:t> </a:t>
            </a:r>
            <a:r>
              <a:rPr lang="en-GB" sz="1200" spc="-20" noProof="0" dirty="0">
                <a:latin typeface="Segoe UI"/>
                <a:cs typeface="Segoe UI"/>
              </a:rPr>
              <a:t>archive</a:t>
            </a:r>
            <a:r>
              <a:rPr lang="en-GB" sz="1200" spc="-30" noProof="0" dirty="0">
                <a:latin typeface="Segoe UI"/>
                <a:cs typeface="Segoe UI"/>
              </a:rPr>
              <a:t> </a:t>
            </a:r>
            <a:r>
              <a:rPr lang="en-GB" sz="1200" spc="-20" noProof="0" dirty="0">
                <a:latin typeface="Segoe UI"/>
                <a:cs typeface="Segoe UI"/>
              </a:rPr>
              <a:t>file</a:t>
            </a:r>
            <a:r>
              <a:rPr lang="en-GB" sz="1200" spc="-30" noProof="0" dirty="0">
                <a:latin typeface="Segoe UI"/>
                <a:cs typeface="Segoe UI"/>
              </a:rPr>
              <a:t> </a:t>
            </a:r>
            <a:r>
              <a:rPr lang="en-GB" sz="1200" spc="-25" noProof="0" dirty="0">
                <a:latin typeface="Segoe UI"/>
                <a:cs typeface="Segoe UI"/>
              </a:rPr>
              <a:t>containing</a:t>
            </a:r>
            <a:r>
              <a:rPr lang="en-GB" sz="1200" spc="-45" noProof="0" dirty="0">
                <a:latin typeface="Segoe UI"/>
                <a:cs typeface="Segoe UI"/>
              </a:rPr>
              <a:t> </a:t>
            </a:r>
            <a:r>
              <a:rPr lang="en-GB" sz="1200" spc="-15" noProof="0" dirty="0">
                <a:latin typeface="Segoe UI"/>
                <a:cs typeface="Segoe UI"/>
              </a:rPr>
              <a:t>the</a:t>
            </a:r>
            <a:r>
              <a:rPr lang="en-GB" sz="1200" spc="-30" noProof="0" dirty="0">
                <a:latin typeface="Segoe UI"/>
                <a:cs typeface="Segoe UI"/>
              </a:rPr>
              <a:t> </a:t>
            </a:r>
            <a:r>
              <a:rPr lang="en-GB" sz="1200" spc="-25" noProof="0" dirty="0">
                <a:latin typeface="Segoe UI"/>
                <a:cs typeface="Segoe UI"/>
              </a:rPr>
              <a:t>specified files</a:t>
            </a:r>
            <a:r>
              <a:rPr lang="en-GB" sz="1200" spc="-45" noProof="0" dirty="0">
                <a:latin typeface="Segoe UI"/>
                <a:cs typeface="Segoe UI"/>
              </a:rPr>
              <a:t> </a:t>
            </a:r>
            <a:r>
              <a:rPr lang="en-GB" sz="1200" spc="-15" noProof="0" dirty="0">
                <a:latin typeface="Segoe UI"/>
                <a:cs typeface="Segoe UI"/>
              </a:rPr>
              <a:t>and</a:t>
            </a:r>
            <a:r>
              <a:rPr lang="en-GB" sz="1200" spc="-25" noProof="0" dirty="0">
                <a:latin typeface="Segoe UI"/>
                <a:cs typeface="Segoe UI"/>
              </a:rPr>
              <a:t> </a:t>
            </a:r>
            <a:r>
              <a:rPr lang="en-GB" sz="1200" spc="-20" noProof="0" dirty="0">
                <a:latin typeface="Segoe UI"/>
                <a:cs typeface="Segoe UI"/>
              </a:rPr>
              <a:t>directories.</a:t>
            </a:r>
            <a:endParaRPr lang="en-GB" sz="1200" noProof="0" dirty="0"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502235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177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0129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The intention</a:t>
            </a:r>
            <a:r>
              <a:rPr lang="en-GB" sz="1200" spc="-75" noProof="0" dirty="0">
                <a:latin typeface="+mn-lt"/>
                <a:cs typeface="Segoe UI"/>
              </a:rPr>
              <a:t> of </a:t>
            </a:r>
            <a:r>
              <a:rPr lang="en-GB" sz="1200" b="1" spc="-75" noProof="0" dirty="0">
                <a:latin typeface="+mn-lt"/>
                <a:cs typeface="Segoe UI"/>
              </a:rPr>
              <a:t>pax </a:t>
            </a:r>
            <a:r>
              <a:rPr lang="en-GB" sz="1200" spc="-20" noProof="0" dirty="0">
                <a:latin typeface="+mn-lt"/>
                <a:cs typeface="Segoe UI"/>
              </a:rPr>
              <a:t>was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introduce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best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both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worlds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provide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unified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capable</a:t>
            </a:r>
            <a:r>
              <a:rPr lang="en-GB" sz="1200" spc="-10" noProof="0" dirty="0">
                <a:latin typeface="+mn-lt"/>
                <a:cs typeface="Segoe UI"/>
              </a:rPr>
              <a:t> 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what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 err="1">
                <a:latin typeface="+mn-lt"/>
                <a:cs typeface="Segoe UI"/>
              </a:rPr>
              <a:t>cpio</a:t>
            </a:r>
            <a:r>
              <a:rPr lang="en-GB" sz="1200" spc="-20" noProof="0" dirty="0">
                <a:latin typeface="+mn-lt"/>
                <a:cs typeface="Segoe UI"/>
              </a:rPr>
              <a:t> and</a:t>
            </a:r>
            <a:r>
              <a:rPr lang="en-GB" sz="1200" b="1" spc="-20" noProof="0" dirty="0">
                <a:latin typeface="+mn-lt"/>
                <a:cs typeface="Segoe UI"/>
              </a:rPr>
              <a:t> tar </a:t>
            </a:r>
            <a:r>
              <a:rPr lang="en-GB" sz="1200" spc="-20" noProof="0" dirty="0">
                <a:latin typeface="+mn-lt"/>
                <a:cs typeface="Segoe UI"/>
              </a:rPr>
              <a:t>could do</a:t>
            </a:r>
            <a:r>
              <a:rPr lang="en-GB" sz="1200" spc="-10" noProof="0" dirty="0">
                <a:latin typeface="+mn-lt"/>
                <a:cs typeface="Segoe UI"/>
              </a:rPr>
              <a:t>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pax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restore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either</a:t>
            </a:r>
            <a:r>
              <a:rPr lang="en-GB" sz="1200" b="1" spc="-5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tar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b="1" spc="-5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 err="1">
                <a:latin typeface="+mn-lt"/>
                <a:cs typeface="Segoe UI"/>
              </a:rPr>
              <a:t>cpio</a:t>
            </a:r>
            <a:r>
              <a:rPr lang="en-GB" sz="1200" b="1" spc="-2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archives.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able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automatically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detect</a:t>
            </a:r>
            <a:r>
              <a:rPr lang="en-GB" sz="1200" spc="-15" noProof="0" dirty="0">
                <a:latin typeface="+mn-lt"/>
                <a:cs typeface="Segoe UI"/>
              </a:rPr>
              <a:t> 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correct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format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you.</a:t>
            </a:r>
          </a:p>
          <a:p>
            <a:pPr marL="12700" marR="1143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However,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should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b="1" spc="-5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file</a:t>
            </a:r>
            <a:r>
              <a:rPr lang="en-GB" sz="1200" b="1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utility</a:t>
            </a:r>
            <a:r>
              <a:rPr lang="en-GB" sz="1200" spc="-15" noProof="0" dirty="0">
                <a:latin typeface="+mn-lt"/>
                <a:cs typeface="Segoe UI"/>
              </a:rPr>
              <a:t> before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attempting </a:t>
            </a:r>
            <a:r>
              <a:rPr lang="en-GB" sz="1200" spc="-15" noProof="0" dirty="0">
                <a:latin typeface="+mn-lt"/>
                <a:cs typeface="Segoe UI"/>
              </a:rPr>
              <a:t>to restore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backup,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determine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whether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compressed: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b="1" noProof="0" dirty="0">
                <a:latin typeface="+mn-lt"/>
                <a:cs typeface="Segoe UI"/>
              </a:rPr>
              <a:t>$</a:t>
            </a:r>
            <a:r>
              <a:rPr lang="en-GB" sz="1200" b="1" spc="-75" noProof="0" dirty="0">
                <a:latin typeface="+mn-lt"/>
                <a:cs typeface="Segoe UI"/>
              </a:rPr>
              <a:t> </a:t>
            </a:r>
            <a:r>
              <a:rPr lang="en-GB" sz="1200" b="1" spc="-30" noProof="0" dirty="0">
                <a:latin typeface="+mn-lt"/>
                <a:cs typeface="Segoe UI"/>
              </a:rPr>
              <a:t>fil</a:t>
            </a:r>
            <a:r>
              <a:rPr lang="en-GB" sz="1200" b="1" noProof="0" dirty="0">
                <a:latin typeface="+mn-lt"/>
                <a:cs typeface="Segoe UI"/>
              </a:rPr>
              <a:t>e</a:t>
            </a:r>
            <a:r>
              <a:rPr lang="en-GB" sz="1200" b="1" spc="-3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b</a:t>
            </a:r>
            <a:r>
              <a:rPr lang="en-GB" sz="1200" b="1" spc="-35" noProof="0" dirty="0">
                <a:latin typeface="+mn-lt"/>
                <a:cs typeface="Segoe UI"/>
              </a:rPr>
              <a:t>ac</a:t>
            </a:r>
            <a:r>
              <a:rPr lang="en-GB" sz="1200" b="1" spc="-25" noProof="0" dirty="0">
                <a:latin typeface="+mn-lt"/>
                <a:cs typeface="Segoe UI"/>
              </a:rPr>
              <a:t>k</a:t>
            </a:r>
            <a:r>
              <a:rPr lang="en-GB" sz="1200" b="1" spc="-20" noProof="0" dirty="0">
                <a:latin typeface="+mn-lt"/>
                <a:cs typeface="Segoe UI"/>
              </a:rPr>
              <a:t>u</a:t>
            </a:r>
            <a:r>
              <a:rPr lang="en-GB" sz="1200" b="1" noProof="0" dirty="0">
                <a:latin typeface="+mn-lt"/>
                <a:cs typeface="Segoe UI"/>
              </a:rPr>
              <a:t>p</a:t>
            </a:r>
          </a:p>
          <a:p>
            <a:pPr marL="12700">
              <a:lnSpc>
                <a:spcPct val="100000"/>
              </a:lnSpc>
            </a:pPr>
            <a:r>
              <a:rPr lang="en-GB" sz="1200" b="1" spc="-20" noProof="0" dirty="0">
                <a:latin typeface="+mn-lt"/>
                <a:cs typeface="Segoe UI"/>
              </a:rPr>
              <a:t>backup:</a:t>
            </a:r>
            <a:r>
              <a:rPr lang="en-GB" sz="1200" b="1" spc="-6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 err="1">
                <a:latin typeface="+mn-lt"/>
                <a:cs typeface="Segoe UI"/>
              </a:rPr>
              <a:t>gzip</a:t>
            </a:r>
            <a:r>
              <a:rPr lang="en-GB" sz="1200" b="1" spc="-8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compressed</a:t>
            </a:r>
            <a:r>
              <a:rPr lang="en-GB" sz="1200" b="1" spc="-55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data,</a:t>
            </a:r>
            <a:r>
              <a:rPr lang="en-GB" sz="1200" b="1" spc="-10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deflated,</a:t>
            </a:r>
            <a:r>
              <a:rPr lang="en-GB" sz="1200" b="1" spc="-40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[…]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meaning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you'll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include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b="1" spc="-55" noProof="0" dirty="0">
                <a:latin typeface="+mn-lt"/>
                <a:cs typeface="Segoe UI"/>
              </a:rPr>
              <a:t> </a:t>
            </a:r>
            <a:r>
              <a:rPr lang="en-GB" sz="1200" b="1" noProof="0" dirty="0">
                <a:latin typeface="+mn-lt"/>
                <a:cs typeface="Segoe UI"/>
              </a:rPr>
              <a:t>z</a:t>
            </a:r>
            <a:r>
              <a:rPr lang="en-GB" sz="1200" b="1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restoring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0985148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3925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pc="-20" dirty="0">
                <a:ea typeface="Hack" panose="020B0609030202020204" pitchFamily="49" charset="0"/>
                <a:cs typeface="Hack" panose="020B0609030202020204" pitchFamily="49" charset="0"/>
              </a:rPr>
              <a:t>Although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b="1" spc="-15" noProof="0" dirty="0" err="1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rsync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stands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b="1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emote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b="1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sync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(of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files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directories),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it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can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used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synchronise</a:t>
            </a:r>
            <a:r>
              <a:rPr lang="en-GB" sz="1200" spc="-8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between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any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two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locations,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whether on the same computer or across a network.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8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most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praised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aspect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b="1" spc="-15" noProof="0" dirty="0" err="1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rsync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pc="-20" dirty="0"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very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effective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algorithm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it uses to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establish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deltas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(differences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between </a:t>
            </a:r>
            <a:r>
              <a:rPr lang="en-GB" sz="1200" spc="-2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data sets)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 the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ability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transfer these differences alone.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spc="-2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initial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backup with </a:t>
            </a:r>
            <a:r>
              <a:rPr lang="en-GB" sz="1200" b="1" spc="-15" noProof="0" dirty="0" err="1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rsync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might take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 </a:t>
            </a:r>
            <a:r>
              <a:rPr lang="en-GB" sz="1200" spc="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while,</a:t>
            </a:r>
            <a:r>
              <a:rPr lang="en-GB" sz="1200" spc="-7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but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all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subsequent</a:t>
            </a:r>
            <a:r>
              <a:rPr lang="en-GB" sz="1200" spc="-9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operations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will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very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fast.</a:t>
            </a:r>
            <a:endParaRPr lang="en-GB" sz="12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917929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604303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1F78D-DE52-1B2C-80F7-A18F2766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2CCB0-CE4A-285A-B8A8-9DAFEE1AC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5D5A7-3693-13C1-B0D0-6A23CB7D5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4FEB477-C751-8CDC-815A-EB470363F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9284965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529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Most of these utilities use a compression algorithm known as Lempel-Ziv (see man pages for </a:t>
            </a:r>
            <a:r>
              <a:rPr lang="en-GB" b="1" noProof="0" dirty="0"/>
              <a:t>compress</a:t>
            </a:r>
            <a:r>
              <a:rPr lang="en-GB" noProof="0" dirty="0"/>
              <a:t> if you are interested).</a:t>
            </a:r>
          </a:p>
          <a:p>
            <a:endParaRPr lang="en-GB" noProof="0" dirty="0"/>
          </a:p>
          <a:p>
            <a:r>
              <a:rPr lang="en-GB" noProof="0" dirty="0"/>
              <a:t>This is compatible with </a:t>
            </a:r>
            <a:r>
              <a:rPr lang="en-GB" b="1" noProof="0" dirty="0" err="1"/>
              <a:t>pkzip</a:t>
            </a:r>
            <a:r>
              <a:rPr lang="en-GB" noProof="0" dirty="0"/>
              <a:t>, which was the de facto compression utility used on MS-DOS. The exception is </a:t>
            </a:r>
            <a:r>
              <a:rPr lang="en-GB" b="1" noProof="0" dirty="0"/>
              <a:t>bzip2</a:t>
            </a:r>
            <a:r>
              <a:rPr lang="en-GB" noProof="0" dirty="0"/>
              <a:t> which uses a "home grown" algorithm (oh all right then, a combination of the Burrows-Wheeler  transform and Huffman entropy encoding – impressed?).</a:t>
            </a: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AB5D3076-F595-5256-0869-0F9D4A22C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786824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39065" algn="just">
              <a:lnSpc>
                <a:spcPct val="100000"/>
              </a:lnSpc>
              <a:spcBef>
                <a:spcPts val="105"/>
              </a:spcBef>
            </a:pPr>
            <a:r>
              <a:rPr lang="en-GB" sz="1200" b="1" spc="-15" noProof="0" dirty="0" err="1">
                <a:latin typeface="+mn-lt"/>
                <a:cs typeface="Segoe UI"/>
              </a:rPr>
              <a:t>gzip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compress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overwrite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bzip2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(by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default). </a:t>
            </a:r>
          </a:p>
          <a:p>
            <a:pPr marL="12700" marR="139065" algn="just">
              <a:lnSpc>
                <a:spcPct val="100000"/>
              </a:lnSpc>
              <a:spcBef>
                <a:spcPts val="105"/>
              </a:spcBef>
            </a:pPr>
            <a:endParaRPr lang="en-GB" spc="-25" dirty="0">
              <a:cs typeface="Segoe UI"/>
            </a:endParaRPr>
          </a:p>
          <a:p>
            <a:pPr marL="12700" marR="139065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H</a:t>
            </a:r>
            <a:r>
              <a:rPr lang="en-GB" sz="1200" spc="-20" noProof="0" dirty="0">
                <a:latin typeface="+mn-lt"/>
                <a:cs typeface="Segoe UI"/>
              </a:rPr>
              <a:t>owever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three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only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produce </a:t>
            </a:r>
            <a:r>
              <a:rPr lang="en-GB" sz="1200" spc="-10" noProof="0" dirty="0">
                <a:latin typeface="+mn-lt"/>
                <a:cs typeface="Segoe UI"/>
              </a:rPr>
              <a:t>one </a:t>
            </a:r>
            <a:r>
              <a:rPr lang="en-GB" sz="1200" spc="-20" noProof="0" dirty="0">
                <a:latin typeface="+mn-lt"/>
                <a:cs typeface="Segoe UI"/>
              </a:rPr>
              <a:t>archive file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each input, unlike </a:t>
            </a:r>
            <a:r>
              <a:rPr lang="en-GB" sz="1200" b="1" spc="-15" noProof="0" dirty="0">
                <a:latin typeface="+mn-lt"/>
                <a:cs typeface="Segoe UI"/>
              </a:rPr>
              <a:t>zip</a:t>
            </a:r>
            <a:r>
              <a:rPr lang="en-GB" sz="1200" spc="-15" noProof="0" dirty="0">
                <a:latin typeface="+mn-lt"/>
                <a:cs typeface="Segoe UI"/>
              </a:rPr>
              <a:t>.</a:t>
            </a:r>
          </a:p>
          <a:p>
            <a:pPr marL="12700" marR="139065" algn="just">
              <a:lnSpc>
                <a:spcPct val="100000"/>
              </a:lnSpc>
              <a:spcBef>
                <a:spcPts val="1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139065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10" noProof="0" dirty="0">
                <a:latin typeface="+mn-lt"/>
                <a:cs typeface="Segoe UI"/>
              </a:rPr>
              <a:t>For </a:t>
            </a:r>
            <a:r>
              <a:rPr lang="en-GB" sz="1200" spc="-20" noProof="0" dirty="0">
                <a:latin typeface="+mn-lt"/>
                <a:cs typeface="Segoe UI"/>
              </a:rPr>
              <a:t>this reason, </a:t>
            </a:r>
            <a:r>
              <a:rPr lang="en-GB" sz="1200" b="1" spc="-20" noProof="0" dirty="0">
                <a:latin typeface="+mn-lt"/>
                <a:cs typeface="Segoe UI"/>
              </a:rPr>
              <a:t>tar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often </a:t>
            </a:r>
            <a:r>
              <a:rPr lang="en-GB" sz="1200" spc="-15" noProof="0" dirty="0">
                <a:latin typeface="+mn-lt"/>
                <a:cs typeface="Segoe UI"/>
              </a:rPr>
              <a:t>used </a:t>
            </a:r>
            <a:r>
              <a:rPr lang="en-GB" sz="1200" spc="-25" noProof="0" dirty="0">
                <a:latin typeface="+mn-lt"/>
                <a:cs typeface="Segoe UI"/>
              </a:rPr>
              <a:t>with </a:t>
            </a:r>
            <a:r>
              <a:rPr lang="en-GB" sz="1200" spc="-20" noProof="0" dirty="0">
                <a:latin typeface="+mn-lt"/>
                <a:cs typeface="Segoe UI"/>
              </a:rPr>
              <a:t>these </a:t>
            </a:r>
            <a:r>
              <a:rPr lang="en-GB" sz="1200" spc="-25" noProof="0" dirty="0">
                <a:latin typeface="+mn-lt"/>
                <a:cs typeface="Segoe UI"/>
              </a:rPr>
              <a:t>utilities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produce</a:t>
            </a:r>
            <a:r>
              <a:rPr lang="en-GB" sz="1200" spc="-11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single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archive.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418104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0574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pc="-80" dirty="0"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GNU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version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b="1" spc="-5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tar </a:t>
            </a:r>
            <a:r>
              <a:rPr lang="en-GB" sz="1200" spc="-20" noProof="0" dirty="0">
                <a:latin typeface="+mn-lt"/>
                <a:cs typeface="Segoe UI"/>
              </a:rPr>
              <a:t>(distributed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 Linux)</a:t>
            </a:r>
            <a:r>
              <a:rPr lang="en-GB" sz="1200" spc="-45" noProof="0" dirty="0">
                <a:latin typeface="+mn-lt"/>
                <a:cs typeface="Segoe UI"/>
              </a:rPr>
              <a:t> has options that tell </a:t>
            </a:r>
            <a:r>
              <a:rPr lang="en-GB" sz="1200" b="1" spc="-45" noProof="0" dirty="0">
                <a:latin typeface="+mn-lt"/>
                <a:cs typeface="Segoe UI"/>
              </a:rPr>
              <a:t>tar </a:t>
            </a:r>
            <a:r>
              <a:rPr lang="en-GB" sz="1200" spc="-45" noProof="0" dirty="0">
                <a:latin typeface="+mn-lt"/>
                <a:cs typeface="Segoe UI"/>
              </a:rPr>
              <a:t>to compress/uncompress the archive using 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 err="1">
                <a:latin typeface="+mn-lt"/>
                <a:cs typeface="Segoe UI"/>
              </a:rPr>
              <a:t>gzip</a:t>
            </a:r>
            <a:r>
              <a:rPr lang="en-GB" sz="1200" spc="-20" noProof="0" dirty="0">
                <a:latin typeface="+mn-lt"/>
                <a:cs typeface="Segoe UI"/>
              </a:rPr>
              <a:t>, </a:t>
            </a:r>
            <a:r>
              <a:rPr lang="en-GB" sz="1200" b="1" spc="-20" noProof="0" dirty="0">
                <a:latin typeface="+mn-lt"/>
                <a:cs typeface="Segoe UI"/>
              </a:rPr>
              <a:t>compress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bzip2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75" noProof="0" dirty="0">
                <a:latin typeface="+mn-lt"/>
                <a:cs typeface="Segoe UI"/>
              </a:rPr>
              <a:t> or </a:t>
            </a:r>
            <a:r>
              <a:rPr lang="en-GB" sz="1200" b="1" spc="-15" noProof="0" dirty="0" err="1">
                <a:latin typeface="+mn-lt"/>
                <a:cs typeface="Segoe UI"/>
              </a:rPr>
              <a:t>xz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. These options are </a:t>
            </a:r>
            <a:r>
              <a:rPr lang="en-GB" sz="1200" b="1" spc="-20" noProof="0" dirty="0">
                <a:latin typeface="+mn-lt"/>
                <a:cs typeface="Segoe UI"/>
              </a:rPr>
              <a:t>z</a:t>
            </a:r>
            <a:r>
              <a:rPr lang="en-GB" sz="1200" spc="-20" noProof="0" dirty="0">
                <a:latin typeface="+mn-lt"/>
                <a:cs typeface="Segoe UI"/>
              </a:rPr>
              <a:t>, </a:t>
            </a:r>
            <a:r>
              <a:rPr lang="en-GB" sz="1200" b="1" spc="-20" noProof="0" dirty="0">
                <a:latin typeface="+mn-lt"/>
                <a:cs typeface="Segoe UI"/>
              </a:rPr>
              <a:t>Z</a:t>
            </a:r>
            <a:r>
              <a:rPr lang="en-GB" sz="1200" spc="-20" noProof="0" dirty="0">
                <a:latin typeface="+mn-lt"/>
                <a:cs typeface="Segoe UI"/>
              </a:rPr>
              <a:t>, </a:t>
            </a:r>
            <a:r>
              <a:rPr lang="en-GB" sz="1200" b="1" spc="-20" noProof="0" dirty="0">
                <a:latin typeface="+mn-lt"/>
                <a:cs typeface="Segoe UI"/>
              </a:rPr>
              <a:t>j</a:t>
            </a:r>
            <a:r>
              <a:rPr lang="en-GB" sz="1200" spc="-20" noProof="0" dirty="0">
                <a:latin typeface="+mn-lt"/>
                <a:cs typeface="Segoe UI"/>
              </a:rPr>
              <a:t>, and</a:t>
            </a:r>
            <a:r>
              <a:rPr lang="en-GB" sz="1200" b="1" spc="-20" noProof="0" dirty="0">
                <a:latin typeface="+mn-lt"/>
                <a:cs typeface="Segoe UI"/>
              </a:rPr>
              <a:t> J </a:t>
            </a:r>
            <a:r>
              <a:rPr lang="en-GB" sz="1200" spc="-20" noProof="0" dirty="0">
                <a:latin typeface="+mn-lt"/>
                <a:cs typeface="Segoe UI"/>
              </a:rPr>
              <a:t>respectively.</a:t>
            </a:r>
          </a:p>
          <a:p>
            <a:pPr marL="12700" marR="205740">
              <a:lnSpc>
                <a:spcPct val="100000"/>
              </a:lnSpc>
              <a:spcBef>
                <a:spcPts val="605"/>
              </a:spcBef>
            </a:pPr>
            <a:endParaRPr lang="en-GB" sz="1200" spc="204" noProof="0" dirty="0">
              <a:latin typeface="+mn-lt"/>
              <a:cs typeface="Segoe UI"/>
            </a:endParaRPr>
          </a:p>
          <a:p>
            <a:pPr marL="12700" marR="205740">
              <a:lnSpc>
                <a:spcPct val="100000"/>
              </a:lnSpc>
              <a:spcBef>
                <a:spcPts val="605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zipped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known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tar-ball.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spc="-2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Earlier </a:t>
            </a:r>
            <a:r>
              <a:rPr lang="en-GB" sz="1200" spc="-20" noProof="0" dirty="0">
                <a:latin typeface="+mn-lt"/>
                <a:cs typeface="Segoe UI"/>
              </a:rPr>
              <a:t>UNIX versions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tar </a:t>
            </a:r>
            <a:r>
              <a:rPr lang="en-GB" sz="1200" spc="-15" noProof="0" dirty="0">
                <a:latin typeface="+mn-lt"/>
                <a:cs typeface="Segoe UI"/>
              </a:rPr>
              <a:t>didn’t support </a:t>
            </a:r>
            <a:r>
              <a:rPr lang="en-GB" sz="1200" spc="-20" noProof="0" dirty="0">
                <a:latin typeface="+mn-lt"/>
                <a:cs typeface="Segoe UI"/>
              </a:rPr>
              <a:t>options requesting compression, so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b="1" spc="-20" noProof="0" dirty="0">
                <a:latin typeface="+mn-lt"/>
                <a:cs typeface="Segoe UI"/>
              </a:rPr>
              <a:t>tar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backup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‘manually’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compressed</a:t>
            </a:r>
            <a:r>
              <a:rPr lang="en-GB" spc="-60" dirty="0">
                <a:cs typeface="Segoe UI"/>
              </a:rPr>
              <a:t>, by piping it into a compression tool.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As you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15" noProof="0" dirty="0">
                <a:latin typeface="+mn-lt"/>
                <a:cs typeface="Segoe UI"/>
              </a:rPr>
              <a:t>see from the </a:t>
            </a:r>
            <a:r>
              <a:rPr lang="en-GB" sz="1200" spc="-25" noProof="0" dirty="0">
                <a:latin typeface="+mn-lt"/>
                <a:cs typeface="Segoe UI"/>
              </a:rPr>
              <a:t>examples, </a:t>
            </a:r>
            <a:r>
              <a:rPr lang="en-GB" sz="1200" spc="-15" noProof="0" dirty="0">
                <a:latin typeface="+mn-lt"/>
                <a:cs typeface="Segoe UI"/>
              </a:rPr>
              <a:t>we </a:t>
            </a:r>
            <a:r>
              <a:rPr lang="en-GB" sz="1200" spc="-20" noProof="0" dirty="0">
                <a:latin typeface="+mn-lt"/>
                <a:cs typeface="Segoe UI"/>
              </a:rPr>
              <a:t>have </a:t>
            </a:r>
            <a:r>
              <a:rPr lang="en-GB" sz="1200" spc="-15" noProof="0" dirty="0">
                <a:latin typeface="+mn-lt"/>
                <a:cs typeface="Segoe UI"/>
              </a:rPr>
              <a:t>used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useful feature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many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programs, including</a:t>
            </a:r>
            <a:r>
              <a:rPr lang="en-GB" sz="1200" b="1" spc="-20" noProof="0" dirty="0">
                <a:latin typeface="+mn-lt"/>
                <a:cs typeface="Segoe UI"/>
              </a:rPr>
              <a:t> tar</a:t>
            </a:r>
            <a:r>
              <a:rPr lang="en-GB" sz="1200" spc="-20" noProof="0" dirty="0">
                <a:latin typeface="+mn-lt"/>
                <a:cs typeface="Segoe UI"/>
              </a:rPr>
              <a:t>,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" noProof="0" dirty="0">
                <a:latin typeface="+mn-lt"/>
                <a:cs typeface="Segoe UI"/>
              </a:rPr>
              <a:t>accepting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hyphen </a:t>
            </a:r>
            <a:r>
              <a:rPr lang="en-GB" sz="1200" spc="-10" noProof="0" dirty="0">
                <a:latin typeface="+mn-lt"/>
                <a:cs typeface="Segoe UI"/>
              </a:rPr>
              <a:t>(-) </a:t>
            </a:r>
            <a:r>
              <a:rPr lang="en-GB" sz="1200" spc="-20" noProof="0" dirty="0">
                <a:latin typeface="+mn-lt"/>
                <a:cs typeface="Segoe UI"/>
              </a:rPr>
              <a:t>instead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file name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command line argument.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means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reading,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writing.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8665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z tools existed in UNIX, so the concept of reading and acting on files that are compressed is not new.</a:t>
            </a:r>
          </a:p>
          <a:p>
            <a:endParaRPr lang="en-GB" noProof="0" dirty="0"/>
          </a:p>
          <a:p>
            <a:r>
              <a:rPr lang="en-GB" noProof="0" dirty="0"/>
              <a:t>The range of the commands, however, has increased with Linux.</a:t>
            </a:r>
          </a:p>
          <a:p>
            <a:endParaRPr lang="en-GB" noProof="0" dirty="0"/>
          </a:p>
          <a:p>
            <a:r>
              <a:rPr lang="en-GB" noProof="0" dirty="0"/>
              <a:t>Some of the most obvious ones are </a:t>
            </a:r>
            <a:r>
              <a:rPr lang="en-GB" b="1" noProof="0" dirty="0" err="1"/>
              <a:t>zcat</a:t>
            </a:r>
            <a:r>
              <a:rPr lang="en-GB" noProof="0" dirty="0"/>
              <a:t>, </a:t>
            </a:r>
            <a:r>
              <a:rPr lang="en-GB" b="1" noProof="0" dirty="0" err="1"/>
              <a:t>zmore</a:t>
            </a:r>
            <a:r>
              <a:rPr lang="en-GB" noProof="0" dirty="0"/>
              <a:t>, </a:t>
            </a:r>
            <a:r>
              <a:rPr lang="en-GB" b="1" noProof="0" dirty="0" err="1"/>
              <a:t>zdiff</a:t>
            </a:r>
            <a:r>
              <a:rPr lang="en-GB" noProof="0" dirty="0"/>
              <a:t>, </a:t>
            </a:r>
            <a:r>
              <a:rPr lang="en-GB" b="1" noProof="0" dirty="0" err="1"/>
              <a:t>zcmp</a:t>
            </a:r>
            <a:r>
              <a:rPr lang="en-GB" noProof="0" dirty="0"/>
              <a:t> and all 'z'-greps. </a:t>
            </a:r>
          </a:p>
          <a:p>
            <a:endParaRPr lang="en-GB" dirty="0"/>
          </a:p>
          <a:p>
            <a:r>
              <a:rPr lang="en-GB" noProof="0" dirty="0"/>
              <a:t>The more obscure commands in</a:t>
            </a:r>
            <a:r>
              <a:rPr lang="en-GB" dirty="0"/>
              <a:t> </a:t>
            </a:r>
            <a:r>
              <a:rPr lang="en-GB" noProof="0" dirty="0"/>
              <a:t>the set are: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noProof="0" dirty="0" err="1"/>
              <a:t>zforce</a:t>
            </a:r>
            <a:r>
              <a:rPr lang="en-GB" noProof="0" dirty="0"/>
              <a:t>, which will assign a .</a:t>
            </a:r>
            <a:r>
              <a:rPr lang="en-GB" noProof="0" dirty="0" err="1"/>
              <a:t>gz</a:t>
            </a:r>
            <a:r>
              <a:rPr lang="en-GB" noProof="0" dirty="0"/>
              <a:t> extension to a compressed file (only if it doesn't have such an  extension already).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noProof="0" dirty="0" err="1"/>
              <a:t>zipsplit</a:t>
            </a:r>
            <a:r>
              <a:rPr lang="en-GB" noProof="0" dirty="0"/>
              <a:t>, which divides a large zip file into several smaller 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noProof="0" dirty="0" err="1"/>
              <a:t>gzexe</a:t>
            </a:r>
            <a:r>
              <a:rPr lang="en-GB" noProof="0" dirty="0"/>
              <a:t>, which converts an executable file into a smaller, compressed (but still executable) version of 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noProof="0" dirty="0" err="1"/>
              <a:t>znew</a:t>
            </a:r>
            <a:r>
              <a:rPr lang="en-GB" noProof="0" dirty="0"/>
              <a:t>, which converts a file compressed with the compress tool into a </a:t>
            </a:r>
            <a:r>
              <a:rPr lang="en-GB" noProof="0" dirty="0" err="1"/>
              <a:t>gzip</a:t>
            </a:r>
            <a:r>
              <a:rPr lang="en-GB" noProof="0" dirty="0"/>
              <a:t> compression format  (recompressed a '.Z' file into a '.</a:t>
            </a:r>
            <a:r>
              <a:rPr lang="en-GB" noProof="0" dirty="0" err="1"/>
              <a:t>gz</a:t>
            </a:r>
            <a:r>
              <a:rPr lang="en-GB" noProof="0" dirty="0"/>
              <a:t>' one)</a:t>
            </a: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0C1087F3-46F0-4A6B-9007-444B8ABEB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626731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56996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dd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xz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Both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dd</a:t>
            </a:r>
            <a:r>
              <a:rPr lang="en-US" noProof="0" dirty="0">
                <a:latin typeface="+mn-lt"/>
              </a:rPr>
              <a:t> and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dump</a:t>
            </a:r>
            <a:r>
              <a:rPr lang="en-US" noProof="0" dirty="0">
                <a:latin typeface="+mn-lt"/>
              </a:rPr>
              <a:t> (the latter not discussed in this course)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 –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tvf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&lt;file&gt;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noProof="0" dirty="0">
                <a:latin typeface="+mn-lt"/>
              </a:rPr>
              <a:t> will extract the files into your current directory. That means you ought to change into the target directory before extracting </a:t>
            </a:r>
            <a:r>
              <a:rPr lang="en-US" noProof="0">
                <a:latin typeface="+mn-lt"/>
              </a:rPr>
              <a:t>tar files.</a:t>
            </a:r>
            <a:endParaRPr lang="en-US" noProof="0" dirty="0">
              <a:latin typeface="+mn-lt"/>
            </a:endParaRP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This is a reminder of bash command completion: type 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z</a:t>
            </a:r>
            <a:r>
              <a:rPr lang="en-US" noProof="0" dirty="0">
                <a:latin typeface="+mn-lt"/>
              </a:rPr>
              <a:t> followed by a &lt;tab&gt; (twice).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3188190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4994262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43836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openxmlformats.org/officeDocument/2006/relationships/image" Target="../media/image30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6.png"/><Relationship Id="rId4" Type="http://schemas.openxmlformats.org/officeDocument/2006/relationships/image" Target="../media/image36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6.png"/><Relationship Id="rId4" Type="http://schemas.openxmlformats.org/officeDocument/2006/relationships/image" Target="../media/image42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6.png"/><Relationship Id="rId4" Type="http://schemas.openxmlformats.org/officeDocument/2006/relationships/image" Target="../media/image48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6.png"/><Relationship Id="rId4" Type="http://schemas.openxmlformats.org/officeDocument/2006/relationships/image" Target="../media/image54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6.png"/><Relationship Id="rId4" Type="http://schemas.openxmlformats.org/officeDocument/2006/relationships/image" Target="../media/image60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6.png"/><Relationship Id="rId4" Type="http://schemas.openxmlformats.org/officeDocument/2006/relationships/image" Target="../media/image66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1136252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277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7801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en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3pPr>
              <a:defRPr/>
            </a:lvl3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2233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0121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673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us Symbol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4pPr>
              <a:defRPr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8016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0620-6E87-D078-F005-280481B46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07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961C-132F-4F5B-9513-3BEEB7EC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720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91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A4A0AF7-E60F-D26C-223A-64972B703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84AA55-C870-2115-4570-2D8A771D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9731A-D775-7881-2ADE-9A501C24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22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10433-18F2-F019-2A4C-866AA14A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15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22282-7C40-5A57-692E-44D409C5B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0" cy="881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AA29C-63B0-9448-5C14-96920038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2344C5-2C6A-6968-FC4F-D7A4F001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08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B0FA7-2EA8-46CD-3DD8-9A8AB864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12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AA4DE-F380-3C2D-4A19-3FFC6A6A4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542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219E7-A5DF-DCFC-ECD4-D3B7C5883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513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07AA-EFC2-FC0D-980D-5A04483F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048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CFEDB-1653-0EED-46D8-475B9846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191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730F2-6DEC-D896-1430-336050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478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A2D6B-ABC5-BCE1-3725-0A105BCE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687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mage+tex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02858F-B20D-C124-765A-91E5E5C49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DA1C70-139A-A7C6-8271-6F38BBB4B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80A5B11-85BD-B494-600D-3402BBF9D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EA56FB2-667C-DAC6-0BC5-0F43E110DB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D56FE-21A4-046E-1FD0-FA742B410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661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B625F-2939-0076-EE39-F5E9774F0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190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EB9C0-B1BF-F2F0-CFBD-DBAA3B7E8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BCE8B-B415-2BED-F4E1-46E84CF60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D993C-5A39-AF81-154F-95170C32D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8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264FC-E45E-4A65-ECA6-F6E6C78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06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BBE13A-E1A6-9F15-F402-BD17E7192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552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6B467-B6E6-07FD-82C2-C8A720A2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026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0924B-6CC7-5CA4-2459-E85A3EB9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802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74DD2-79E4-DA24-0FFC-AA922A46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20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A14C3-7ED5-46A2-17DF-41AE41BFC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89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A2384-AB6C-1FB5-35F0-9F0E3D0A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1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E7C4392-7068-04E6-20E1-4BBCA138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91432-260F-83D5-486C-E3B551E2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EABEF-5D6F-38BC-0E0A-DA96D971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4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63FAD-08EF-BC2C-950C-16B3F0DE1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61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6FEF6-B591-9B6F-F783-763A926B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EBD8F-B578-3E5F-0F06-19261497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EE01A-23C2-F8D5-2384-023AC8FA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58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6DBB-84CC-C614-857B-C35C00C4A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89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AE40-06A7-714E-722E-1EB095B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BAC1-D792-8826-2337-B6A97D9A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1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F8BED-FE48-CDF0-DEFB-8F7954964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4434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0461-FF09-AE3A-830B-60852F9A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476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DAFE-3463-2F49-E910-428222427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860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DD92F-2C07-73B9-B390-73B004796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548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C62C48-B4FC-0C92-2FD2-2D4AACC4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711B9-F295-7F9C-3A4F-1116B45B6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78A0-C5E7-0F91-FA5D-B53388E5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6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64825-0C99-1A6F-72FE-EBD3B38B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1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243CC-3824-5807-3C69-6EEB0749E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F448F-030F-0DD7-92C5-68D5DB7D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2736-0B0C-97D2-6858-41E62A66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571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E57C0-8EB6-2F8A-9E5B-3DC9F8E1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7228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64E92-AD3E-BA76-4490-B706C44AC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272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63842-446F-A21D-AB60-B1E5997B0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30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BBC7E-E4F7-506B-BF90-CAA82E82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224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334A430-5193-9483-EEDE-569F4A32A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97" r:id="rId2"/>
    <p:sldLayoutId id="2147483780" r:id="rId3"/>
    <p:sldLayoutId id="2147483781" r:id="rId4"/>
    <p:sldLayoutId id="2147483798" r:id="rId5"/>
    <p:sldLayoutId id="2147483872" r:id="rId6"/>
    <p:sldLayoutId id="2147483786" r:id="rId7"/>
    <p:sldLayoutId id="2147483788" r:id="rId8"/>
    <p:sldLayoutId id="2147483873" r:id="rId9"/>
    <p:sldLayoutId id="21474837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8A3F5E-1236-23F6-5236-3FAD012C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3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59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83F0D5-4147-71E2-B2A7-09736BD6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2D64E5-DE40-8B2B-7400-731C8C1F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0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12: Archive and </a:t>
            </a:r>
            <a:r>
              <a:rPr lang="en-US" dirty="0"/>
              <a:t>Co</a:t>
            </a:r>
            <a:r>
              <a:rPr lang="en-US" noProof="0" dirty="0" err="1"/>
              <a:t>mpression</a:t>
            </a:r>
            <a:r>
              <a:rPr lang="en-US" noProof="0" dirty="0"/>
              <a:t> Tools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6EFB7434-059B-9C18-281F-032B994D81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C44AD1-2698-E900-0B16-630FF3D4D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99112"/>
              </p:ext>
            </p:extLst>
          </p:nvPr>
        </p:nvGraphicFramePr>
        <p:xfrm>
          <a:off x="473406" y="3779670"/>
          <a:ext cx="5622594" cy="11074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622594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12: </a:t>
                      </a:r>
                      <a:r>
                        <a:rPr lang="en-US" sz="1800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Archivie</a:t>
                      </a:r>
                      <a:r>
                        <a:rPr lang="en-US" sz="1800" noProof="0">
                          <a:solidFill>
                            <a:schemeClr val="tx1"/>
                          </a:solidFill>
                          <a:latin typeface="+mn-lt"/>
                        </a:rPr>
                        <a:t> and 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Compression tools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13: Pipes and Filters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14: </a:t>
                      </a:r>
                      <a:r>
                        <a:rPr lang="en-US" sz="1800" noProof="0">
                          <a:solidFill>
                            <a:schemeClr val="tx1"/>
                          </a:solidFill>
                          <a:latin typeface="+mn-lt"/>
                        </a:rPr>
                        <a:t>Using Regular 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Expressions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37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cpio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pax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rsync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compression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73626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9F383-5409-7767-D61A-1B80C0C147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990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FF6B6A-66F8-A394-5296-3E229DE86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61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dd</a:t>
            </a:r>
            <a:r>
              <a:rPr lang="en-US" sz="1800" b="1" spc="8" noProof="0" dirty="0">
                <a:solidFill>
                  <a:srgbClr val="3333C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converts and copies files.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Named after the dd (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d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ata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d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efinition) command in IBMs JCL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Syntax resembles JCL statements (no dashes, but uses =)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First appeared in Version 5 UNIX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Originally written to convert between ASCII and EBCDIC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By default, it reads from stdin and writes to </a:t>
            </a:r>
            <a:r>
              <a:rPr lang="en-US" sz="1800" spc="-8" noProof="0" dirty="0" err="1">
                <a:solidFill>
                  <a:srgbClr val="2D2C2C"/>
                </a:solidFill>
                <a:latin typeface="+mn-lt"/>
                <a:cs typeface="Segoe UI"/>
              </a:rPr>
              <a:t>stdout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Overridden by</a:t>
            </a:r>
            <a:r>
              <a:rPr lang="en-US" sz="1800" b="1" spc="-4" noProof="0" dirty="0">
                <a:solidFill>
                  <a:srgbClr val="2D2C2C"/>
                </a:solidFill>
                <a:latin typeface="+mn-lt"/>
                <a:cs typeface="Segoe UI"/>
              </a:rPr>
              <a:t> if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(input file) and </a:t>
            </a:r>
            <a:r>
              <a:rPr lang="en-US" sz="1800" b="1" spc="-4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(output file) 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Option format is </a:t>
            </a:r>
            <a:r>
              <a:rPr lang="en-US" sz="1800" b="1" i="1" spc="-4" noProof="0" dirty="0">
                <a:solidFill>
                  <a:srgbClr val="2D2C2C"/>
                </a:solidFill>
                <a:latin typeface="+mn-lt"/>
                <a:cs typeface="Segoe UI"/>
              </a:rPr>
              <a:t>option=value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unlike other tools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Example: Copy Linux to IBM tape</a:t>
            </a:r>
          </a:p>
          <a:p>
            <a:endParaRPr lang="en-US" sz="1800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1EC2494-B2D7-57C6-7469-6C83D1600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2782" y="5116478"/>
            <a:ext cx="7533280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spcBef>
                <a:spcPts val="106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dd</a:t>
            </a:r>
            <a:r>
              <a:rPr lang="en-US" sz="1600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if=/dev/rmt8</a:t>
            </a:r>
            <a:r>
              <a:rPr lang="en-US" sz="1600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of=/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ibm.tape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bs=4096</a:t>
            </a:r>
            <a:r>
              <a:rPr lang="en-US" sz="1600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conv=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ebcdic,swab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2357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0463A2-60FA-6A1F-F1ED-313E958A5D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dd options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61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dd</a:t>
            </a:r>
            <a:r>
              <a:rPr lang="en-US" sz="1800" b="1" spc="8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 options include: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of=file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- Write</a:t>
            </a:r>
            <a:r>
              <a:rPr lang="en-US" sz="1800" spc="8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0D0D0D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0D0D0D"/>
                </a:solidFill>
                <a:latin typeface="+mn-lt"/>
                <a:cs typeface="Segoe UI"/>
              </a:rPr>
              <a:t>named</a:t>
            </a:r>
            <a:r>
              <a:rPr lang="en-US" sz="1800" spc="37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file</a:t>
            </a:r>
            <a:r>
              <a:rPr lang="en-US" sz="1800" spc="24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0D0D0D"/>
                </a:solidFill>
                <a:latin typeface="+mn-lt"/>
                <a:cs typeface="Segoe UI"/>
              </a:rPr>
              <a:t>instead</a:t>
            </a:r>
            <a:r>
              <a:rPr lang="en-US" sz="1800" spc="33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0D0D0D"/>
                </a:solidFill>
                <a:latin typeface="+mn-lt"/>
                <a:cs typeface="Segoe UI"/>
              </a:rPr>
              <a:t>of</a:t>
            </a:r>
            <a:r>
              <a:rPr lang="en-US" sz="1800" spc="16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 err="1">
                <a:solidFill>
                  <a:srgbClr val="0D0D0D"/>
                </a:solidFill>
                <a:latin typeface="+mn-lt"/>
                <a:cs typeface="Segoe UI"/>
              </a:rPr>
              <a:t>stdout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if=file</a:t>
            </a:r>
            <a:r>
              <a:rPr lang="en-US" sz="1800" spc="-4" noProof="0" dirty="0">
                <a:solidFill>
                  <a:srgbClr val="0D0D0D"/>
                </a:solidFill>
                <a:latin typeface="Segoe UI"/>
                <a:cs typeface="Segoe UI"/>
              </a:rPr>
              <a:t> </a:t>
            </a:r>
            <a:r>
              <a:rPr lang="en-US" sz="1800" spc="-16" noProof="0" dirty="0">
                <a:solidFill>
                  <a:srgbClr val="0D0D0D"/>
                </a:solidFill>
                <a:latin typeface="+mn-lt"/>
                <a:cs typeface="Segoe UI"/>
              </a:rPr>
              <a:t>- Read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from</a:t>
            </a:r>
            <a:r>
              <a:rPr lang="en-US" sz="1800" spc="4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0D0D0D"/>
                </a:solidFill>
                <a:latin typeface="+mn-lt"/>
                <a:cs typeface="Segoe UI"/>
              </a:rPr>
              <a:t>named</a:t>
            </a:r>
            <a:r>
              <a:rPr lang="en-US" sz="1800" spc="37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file</a:t>
            </a:r>
            <a:r>
              <a:rPr lang="en-US" sz="1800" spc="4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0D0D0D"/>
                </a:solidFill>
                <a:latin typeface="+mn-lt"/>
                <a:cs typeface="Segoe UI"/>
              </a:rPr>
              <a:t>instead</a:t>
            </a:r>
            <a:r>
              <a:rPr lang="en-US" sz="1800" spc="57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0D0D0D"/>
                </a:solidFill>
                <a:latin typeface="+mn-lt"/>
                <a:cs typeface="Segoe UI"/>
              </a:rPr>
              <a:t>of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 stdin.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bs=size </a:t>
            </a:r>
            <a:r>
              <a:rPr lang="en-US" sz="1800" spc="-431" noProof="0" dirty="0">
                <a:solidFill>
                  <a:srgbClr val="0D0D0D"/>
                </a:solidFill>
                <a:latin typeface="Segoe UI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- Specify</a:t>
            </a:r>
            <a:r>
              <a:rPr lang="en-US" sz="1800" spc="12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block</a:t>
            </a:r>
            <a:r>
              <a:rPr lang="en-US" sz="1800" spc="28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size</a:t>
            </a:r>
            <a:r>
              <a:rPr lang="en-US" sz="1800" spc="12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(also</a:t>
            </a:r>
            <a:r>
              <a:rPr lang="en-US" sz="1800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 err="1">
                <a:solidFill>
                  <a:srgbClr val="0D0D0D"/>
                </a:solidFill>
                <a:latin typeface="+mn-lt"/>
                <a:cs typeface="Segoe UI"/>
              </a:rPr>
              <a:t>ibs</a:t>
            </a:r>
            <a:r>
              <a:rPr lang="en-US" sz="1800" spc="16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and </a:t>
            </a:r>
            <a:r>
              <a:rPr lang="en-US" sz="1800" spc="-4" noProof="0" dirty="0" err="1">
                <a:solidFill>
                  <a:srgbClr val="0D0D0D"/>
                </a:solidFill>
                <a:latin typeface="+mn-lt"/>
                <a:cs typeface="Segoe UI"/>
              </a:rPr>
              <a:t>obs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).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count=n</a:t>
            </a:r>
            <a:r>
              <a:rPr lang="en-US" sz="1800" noProof="0" dirty="0">
                <a:solidFill>
                  <a:srgbClr val="0D0D0D"/>
                </a:solidFill>
                <a:latin typeface="Segoe UI"/>
                <a:cs typeface="Segoe UI"/>
              </a:rPr>
              <a:t> 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- Copy</a:t>
            </a:r>
            <a:r>
              <a:rPr lang="en-US" sz="1800" spc="-24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just</a:t>
            </a:r>
            <a:r>
              <a:rPr lang="en-US" sz="1800" spc="37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n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0D0D0D"/>
                </a:solidFill>
                <a:latin typeface="+mn-lt"/>
                <a:cs typeface="Segoe UI"/>
              </a:rPr>
              <a:t>records.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conv=ascii </a:t>
            </a:r>
            <a:r>
              <a:rPr lang="en-US" sz="1800" noProof="0" dirty="0">
                <a:solidFill>
                  <a:srgbClr val="0D0D0D"/>
                </a:solidFill>
                <a:latin typeface="+mn-lt"/>
                <a:cs typeface="Segoe UI"/>
              </a:rPr>
              <a:t>- Convert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EBCDIC</a:t>
            </a:r>
            <a:r>
              <a:rPr lang="en-US" sz="1800" spc="4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0D0D0D"/>
                </a:solidFill>
                <a:latin typeface="+mn-lt"/>
                <a:cs typeface="Segoe UI"/>
              </a:rPr>
              <a:t>to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ASCII.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nv=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ebc</a:t>
            </a:r>
            <a:r>
              <a:rPr lang="en-US" sz="1800" b="1" spc="-16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</a:t>
            </a:r>
            <a:r>
              <a:rPr lang="en-US" sz="1800" b="1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US" sz="1800" b="1" spc="-4" noProof="0" dirty="0">
                <a:latin typeface="Segoe UI"/>
                <a:ea typeface="Hack" panose="020B0609030202020204" pitchFamily="49" charset="0"/>
                <a:cs typeface="Segoe UI"/>
              </a:rPr>
              <a:t> </a:t>
            </a:r>
            <a:r>
              <a:rPr lang="en-US" sz="1800" noProof="0" dirty="0">
                <a:solidFill>
                  <a:srgbClr val="0D0D0D"/>
                </a:solidFill>
                <a:latin typeface="+mn-lt"/>
                <a:cs typeface="Segoe UI"/>
              </a:rPr>
              <a:t>- Convert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ASCII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0D0D0D"/>
                </a:solidFill>
                <a:latin typeface="+mn-lt"/>
                <a:cs typeface="Segoe UI"/>
              </a:rPr>
              <a:t>to</a:t>
            </a:r>
            <a:r>
              <a:rPr lang="en-US" sz="1800" spc="-12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EBCDIC.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conv=swab </a:t>
            </a:r>
            <a:r>
              <a:rPr lang="en-US" sz="1800" spc="-12" noProof="0" dirty="0">
                <a:solidFill>
                  <a:srgbClr val="0D0D0D"/>
                </a:solidFill>
                <a:latin typeface="+mn-lt"/>
                <a:cs typeface="Segoe UI"/>
              </a:rPr>
              <a:t>- Swap</a:t>
            </a:r>
            <a:r>
              <a:rPr lang="en-US" sz="1800" spc="8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0D0D0D"/>
                </a:solidFill>
                <a:latin typeface="+mn-lt"/>
                <a:cs typeface="Segoe UI"/>
              </a:rPr>
              <a:t>byte</a:t>
            </a:r>
            <a:r>
              <a:rPr lang="en-US" sz="1800" spc="16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pairs</a:t>
            </a:r>
            <a:r>
              <a:rPr lang="en-US" sz="1800" spc="20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(big</a:t>
            </a:r>
            <a:r>
              <a:rPr lang="en-US" sz="1800" spc="12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endian</a:t>
            </a:r>
            <a:r>
              <a:rPr lang="en-US" sz="1800" spc="57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0D0D0D"/>
                </a:solidFill>
                <a:latin typeface="+mn-lt"/>
                <a:cs typeface="Segoe UI"/>
              </a:rPr>
              <a:t>-</a:t>
            </a:r>
            <a:r>
              <a:rPr lang="en-US" sz="1800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little</a:t>
            </a:r>
            <a:r>
              <a:rPr lang="en-US" sz="1800" spc="33" noProof="0" dirty="0">
                <a:solidFill>
                  <a:srgbClr val="0D0D0D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0D0D0D"/>
                </a:solidFill>
                <a:latin typeface="+mn-lt"/>
                <a:cs typeface="Segoe UI"/>
              </a:rPr>
              <a:t>endian).</a:t>
            </a:r>
            <a:endParaRPr lang="en-US" sz="1800" b="1" spc="-8" noProof="0" dirty="0">
              <a:solidFill>
                <a:srgbClr val="0000C7"/>
              </a:solidFill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5309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7A8D78-10F2-7C4F-B968-5F0713477E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Example: Clone a disk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clone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disk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Source is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/dev/</a:t>
            </a:r>
            <a:r>
              <a:rPr lang="en-US" sz="1800" b="1" spc="-8" noProof="0" dirty="0" err="1">
                <a:solidFill>
                  <a:srgbClr val="2D2C2C"/>
                </a:solidFill>
                <a:cs typeface="Segoe UI"/>
              </a:rPr>
              <a:t>sda</a:t>
            </a:r>
            <a:endParaRPr lang="en-US" sz="1800" b="1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Destination is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/dev/</a:t>
            </a:r>
            <a:r>
              <a:rPr lang="en-US" sz="1800" b="1" spc="-8" noProof="0" dirty="0" err="1">
                <a:solidFill>
                  <a:srgbClr val="2D2C2C"/>
                </a:solidFill>
                <a:cs typeface="Segoe UI"/>
              </a:rPr>
              <a:t>sdb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(ensure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destination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device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large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enough)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Block size  is 10 kilo bytes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solidFill>
                  <a:srgbClr val="2D2C2C"/>
                </a:solidFill>
                <a:cs typeface="Segoe UI"/>
              </a:rPr>
              <a:t>Or even to clone a cd/</a:t>
            </a:r>
            <a:r>
              <a:rPr lang="en-US" sz="1800" noProof="0" dirty="0" err="1">
                <a:solidFill>
                  <a:srgbClr val="2D2C2C"/>
                </a:solidFill>
                <a:cs typeface="Segoe UI"/>
              </a:rPr>
              <a:t>dvd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to a file or vice versa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solidFill>
                  <a:srgbClr val="2D2C2C"/>
                </a:solidFill>
                <a:cs typeface="Segoe UI"/>
              </a:rPr>
              <a:t>Swapping</a:t>
            </a:r>
            <a:r>
              <a:rPr lang="en-US" sz="1800" b="1" noProof="0" dirty="0">
                <a:solidFill>
                  <a:srgbClr val="2D2C2C"/>
                </a:solidFill>
                <a:cs typeface="Segoe UI"/>
              </a:rPr>
              <a:t> if 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and </a:t>
            </a:r>
            <a:r>
              <a:rPr lang="en-US" sz="1800" b="1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options</a:t>
            </a: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86DEBEF-450F-D1B8-C7F1-8E0A98B25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3429000"/>
            <a:ext cx="677007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spcBef>
                <a:spcPts val="98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dd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if=/dev/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sda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of=/dev/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sdb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bs=10k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467A17C-592E-8836-6B3A-BE705807A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5088315"/>
            <a:ext cx="677007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spcBef>
                <a:spcPts val="98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dd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if=/dev/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cdrom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of=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image.iso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bs=10k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3FB095-4A75-9D21-7616-3585F9DF0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143" y="735489"/>
            <a:ext cx="3375919" cy="191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0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F5F50A-6321-074F-02C4-A6D2686C9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Example: Create a zeroed-out file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solidFill>
                  <a:srgbClr val="2D2C2C"/>
                </a:solidFill>
                <a:cs typeface="Segoe UI"/>
              </a:rPr>
              <a:t>Takes advantage of </a:t>
            </a:r>
            <a:r>
              <a:rPr lang="en-US" sz="1800" b="1" noProof="0" dirty="0">
                <a:solidFill>
                  <a:srgbClr val="2D2C2C"/>
                </a:solidFill>
                <a:cs typeface="Segoe UI"/>
              </a:rPr>
              <a:t>device/dev/zero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solidFill>
                  <a:srgbClr val="2D2C2C"/>
                </a:solidFill>
                <a:cs typeface="Segoe UI"/>
              </a:rPr>
              <a:t>Can be used to zero out sectors for security reasons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solidFill>
                  <a:srgbClr val="2D2C2C"/>
                </a:solidFill>
                <a:cs typeface="Segoe UI"/>
              </a:rPr>
              <a:t>Useful to create </a:t>
            </a:r>
            <a:r>
              <a:rPr lang="en-US" sz="1800" noProof="0" dirty="0" err="1">
                <a:solidFill>
                  <a:srgbClr val="2D2C2C"/>
                </a:solidFill>
                <a:cs typeface="Segoe UI"/>
              </a:rPr>
              <a:t>swapfiles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if no partition is available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solidFill>
                  <a:srgbClr val="2D2C2C"/>
                </a:solidFill>
                <a:cs typeface="Segoe UI"/>
              </a:rPr>
              <a:t>Using </a:t>
            </a:r>
            <a:r>
              <a:rPr lang="en-US" sz="1800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chmod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, </a:t>
            </a:r>
            <a:r>
              <a:rPr lang="en-US" sz="1800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mkswp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, and </a:t>
            </a:r>
            <a:r>
              <a:rPr lang="en-US" sz="1800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swapon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commands to complete the activity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0" indent="0">
              <a:buNone/>
            </a:pPr>
            <a:endParaRPr lang="en-US" sz="18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86DEBEF-450F-D1B8-C7F1-8E0A98B25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104119"/>
            <a:ext cx="8389018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spcBef>
                <a:spcPts val="98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dd if=/dev/zero of=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swapfile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bs=1M count=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sizeMB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67F202E-16DC-D05E-D1B6-A5461A4B1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469040"/>
            <a:ext cx="6704609" cy="126444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7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chmod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600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swapfile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mkswap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swap</a:t>
            </a:r>
          </a:p>
          <a:p>
            <a:pPr marL="10319">
              <a:spcBef>
                <a:spcPts val="77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b="1" spc="-2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swapon</a:t>
            </a:r>
            <a:r>
              <a:rPr lang="en-US" b="1" spc="-20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swapfile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b="1" spc="-16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swapon</a:t>
            </a:r>
            <a:r>
              <a:rPr lang="en-US" b="1" spc="-16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</a:t>
            </a:r>
            <a:endParaRPr lang="en-US" noProof="0" dirty="0">
              <a:solidFill>
                <a:schemeClr val="bg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3AB8CC-5A1C-9BEB-E868-D5F0AD745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613" y="770515"/>
            <a:ext cx="2378520" cy="126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66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9DD2C-72EE-6A02-7F82-BF9471C31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00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C36D16-F280-FBBC-4DEC-624B220E30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tar command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61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sz="1800" b="1" spc="8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collects many files into one archive file.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 file is often called a </a:t>
            </a:r>
            <a:r>
              <a:rPr lang="en-US" sz="1800" b="1" spc="-8" noProof="0" dirty="0" err="1">
                <a:solidFill>
                  <a:srgbClr val="2D2C2C"/>
                </a:solidFill>
                <a:cs typeface="Segoe UI"/>
              </a:rPr>
              <a:t>tarball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 name </a:t>
            </a:r>
            <a:r>
              <a:rPr lang="en-US" sz="1800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is derived from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t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ape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ar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chive.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 was originally developed to write data to sequential I/O devices with no file system of their own (tapes).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Initially it had no built-in compression, but some options have been added so that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 tar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 compress files as it archives them.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When used with pipes, use </a:t>
            </a:r>
            <a:r>
              <a:rPr lang="en-US" sz="1800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to specify stdin or std out with the </a:t>
            </a:r>
            <a:r>
              <a:rPr lang="en-US" sz="1800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–f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switch.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Syntax: </a:t>
            </a:r>
            <a:r>
              <a:rPr lang="en-US" sz="1800" b="1" spc="-4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sz="1800" b="1" spc="-4" noProof="0" dirty="0">
                <a:solidFill>
                  <a:srgbClr val="2D2C2C"/>
                </a:solidFill>
                <a:cs typeface="Segoe UI"/>
              </a:rPr>
              <a:t> [-options] &lt;name of the tar archive file&gt; [which files or directories to add into archive]</a:t>
            </a:r>
          </a:p>
          <a:p>
            <a:pPr marL="284797" lvl="1" indent="0">
              <a:spcBef>
                <a:spcPts val="488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endParaRPr lang="en-US" spc="-4" noProof="0" dirty="0">
              <a:solidFill>
                <a:srgbClr val="2D2C2C"/>
              </a:solidFill>
              <a:cs typeface="Segoe UI"/>
            </a:endParaRPr>
          </a:p>
          <a:p>
            <a:pPr marL="284797" lvl="1" indent="0">
              <a:spcBef>
                <a:spcPts val="488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cs typeface="Segoe UI"/>
              </a:rPr>
              <a:t>A good motto for using tar is “Be There”.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17A646-68E5-0F2C-21DE-F950E3C74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3811" y="619761"/>
            <a:ext cx="1842251" cy="188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16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FB28D0-A7A3-8783-93C8-8D6670CD0B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tar options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Some </a:t>
            </a:r>
            <a:r>
              <a:rPr lang="en-US" sz="1800" b="1" spc="-61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sz="1800" spc="8" noProof="0" dirty="0">
                <a:solidFill>
                  <a:schemeClr val="tx1"/>
                </a:solidFill>
                <a:cs typeface="Segoe UI"/>
              </a:rPr>
              <a:t> options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include: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Example of use (notice the – is optional):</a:t>
            </a:r>
            <a:endParaRPr lang="en-US" sz="1800" noProof="0" dirty="0">
              <a:solidFill>
                <a:schemeClr val="tx1"/>
              </a:solidFill>
              <a:cs typeface="Segoe UI"/>
            </a:endParaRP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A2CB6176-BE68-70AC-FCFD-DA50497BD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442" y="5108395"/>
            <a:ext cx="6770687" cy="120032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800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cd</a:t>
            </a:r>
            <a:endParaRPr lang="en-US" sz="1800" noProof="0" dirty="0">
              <a:solidFill>
                <a:srgbClr val="FFFF0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spcBef>
                <a:spcPct val="0"/>
              </a:spcBef>
            </a:pPr>
            <a:r>
              <a:rPr lang="en-US" sz="1800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tar </a:t>
            </a:r>
            <a:r>
              <a:rPr lang="en-US" sz="1800" b="1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cvf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/</a:t>
            </a:r>
            <a:r>
              <a:rPr lang="en-US" sz="1800" b="1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/myhome.tar .</a:t>
            </a:r>
          </a:p>
          <a:p>
            <a:pPr>
              <a:spcBef>
                <a:spcPct val="0"/>
              </a:spcBef>
            </a:pPr>
            <a:r>
              <a:rPr lang="en-US" sz="1800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800" b="1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 </a:t>
            </a:r>
            <a:r>
              <a:rPr lang="en-US" sz="1800" b="1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tvf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/</a:t>
            </a:r>
            <a:r>
              <a:rPr lang="en-US" sz="1800" b="1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/myhome.tar</a:t>
            </a:r>
          </a:p>
          <a:p>
            <a:pPr>
              <a:spcBef>
                <a:spcPct val="0"/>
              </a:spcBef>
            </a:pPr>
            <a:r>
              <a:rPr lang="en-US" sz="1800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tar </a:t>
            </a:r>
            <a:r>
              <a:rPr lang="en-US" sz="1800" b="1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xvf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/</a:t>
            </a:r>
            <a:r>
              <a:rPr lang="en-US" sz="1800" b="1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/myhome.tar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05AC884-A134-F10B-531F-42D6686FB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448520"/>
              </p:ext>
            </p:extLst>
          </p:nvPr>
        </p:nvGraphicFramePr>
        <p:xfrm>
          <a:off x="5246255" y="1660553"/>
          <a:ext cx="6561874" cy="29667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67886">
                  <a:extLst>
                    <a:ext uri="{9D8B030D-6E8A-4147-A177-3AD203B41FA5}">
                      <a16:colId xmlns:a16="http://schemas.microsoft.com/office/drawing/2014/main" val="2686669966"/>
                    </a:ext>
                  </a:extLst>
                </a:gridCol>
                <a:gridCol w="5193988">
                  <a:extLst>
                    <a:ext uri="{9D8B030D-6E8A-4147-A177-3AD203B41FA5}">
                      <a16:colId xmlns:a16="http://schemas.microsoft.com/office/drawing/2014/main" val="3218906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Switch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83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-f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Output </a:t>
                      </a:r>
                      <a:r>
                        <a:rPr lang="en-US" sz="1800" b="1" noProof="0" dirty="0"/>
                        <a:t>f</a:t>
                      </a:r>
                      <a:r>
                        <a:rPr lang="en-US" sz="1800" noProof="0" dirty="0"/>
                        <a:t>ile/device, instead of </a:t>
                      </a:r>
                      <a:r>
                        <a:rPr lang="en-US" sz="1800" noProof="0" dirty="0" err="1"/>
                        <a:t>stdout</a:t>
                      </a:r>
                      <a:endParaRPr lang="en-US" sz="18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234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-v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noProof="0" dirty="0"/>
                        <a:t>V</a:t>
                      </a:r>
                      <a:r>
                        <a:rPr lang="en-US" sz="1800" noProof="0" dirty="0"/>
                        <a:t>erbose, show files being processed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82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-c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noProof="0" dirty="0"/>
                        <a:t>C</a:t>
                      </a:r>
                      <a:r>
                        <a:rPr lang="en-US" sz="1800" noProof="0" dirty="0"/>
                        <a:t>reate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528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-t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noProof="0" dirty="0"/>
                        <a:t>T</a:t>
                      </a:r>
                      <a:r>
                        <a:rPr lang="en-US" sz="1800" noProof="0" dirty="0"/>
                        <a:t>est (list)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731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-x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E</a:t>
                      </a:r>
                      <a:r>
                        <a:rPr lang="en-US" sz="1800" b="1" noProof="0" dirty="0"/>
                        <a:t>x</a:t>
                      </a:r>
                      <a:r>
                        <a:rPr lang="en-US" sz="1800" noProof="0" dirty="0"/>
                        <a:t>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372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-u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noProof="0" dirty="0"/>
                        <a:t>U</a:t>
                      </a:r>
                      <a:r>
                        <a:rPr lang="en-US" sz="1800" noProof="0" dirty="0"/>
                        <a:t>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806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  <a:latin typeface="Hack" panose="020B0609030202020204"/>
                        </a:rPr>
                        <a:t>-r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Append files to an existing a</a:t>
                      </a:r>
                      <a:r>
                        <a:rPr lang="en-US" sz="1800" b="1" noProof="0" dirty="0"/>
                        <a:t>r</a:t>
                      </a:r>
                      <a:r>
                        <a:rPr lang="en-US" sz="1800" noProof="0" dirty="0"/>
                        <a:t>chive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0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659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6AE57D-B7AB-2D1F-8316-ED549C756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jar command (</a:t>
            </a:r>
            <a:r>
              <a:rPr lang="en-US" noProof="0" dirty="0" err="1"/>
              <a:t>solaris</a:t>
            </a:r>
            <a:r>
              <a:rPr lang="en-US" noProof="0" dirty="0"/>
              <a:t>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1800" b="1" noProof="0" dirty="0">
                <a:solidFill>
                  <a:schemeClr val="tx1"/>
                </a:solidFill>
              </a:rPr>
              <a:t>J</a:t>
            </a:r>
            <a:r>
              <a:rPr lang="en-US" sz="1800" noProof="0" dirty="0">
                <a:solidFill>
                  <a:schemeClr val="tx1"/>
                </a:solidFill>
              </a:rPr>
              <a:t>ava </a:t>
            </a:r>
            <a:r>
              <a:rPr lang="en-US" sz="1800" b="1" noProof="0" dirty="0" err="1">
                <a:solidFill>
                  <a:schemeClr val="tx1"/>
                </a:solidFill>
              </a:rPr>
              <a:t>AR</a:t>
            </a:r>
            <a:r>
              <a:rPr lang="en-US" sz="1800" noProof="0" dirty="0" err="1">
                <a:solidFill>
                  <a:schemeClr val="tx1"/>
                </a:solidFill>
              </a:rPr>
              <a:t>chive</a:t>
            </a:r>
            <a:r>
              <a:rPr lang="en-US" sz="1800" noProof="0" dirty="0">
                <a:solidFill>
                  <a:schemeClr val="tx1"/>
                </a:solidFill>
              </a:rPr>
              <a:t> and compression tool</a:t>
            </a:r>
          </a:p>
          <a:p>
            <a:pPr lvl="1">
              <a:lnSpc>
                <a:spcPct val="100000"/>
              </a:lnSpc>
            </a:pPr>
            <a:r>
              <a:rPr lang="en-US" sz="1800" noProof="0" dirty="0"/>
              <a:t>Syntax very similar to </a:t>
            </a:r>
            <a:r>
              <a: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</a:p>
          <a:p>
            <a:pPr lvl="1">
              <a:lnSpc>
                <a:spcPct val="100000"/>
              </a:lnSpc>
            </a:pPr>
            <a:r>
              <a:rPr lang="en-US" sz="1800" noProof="0" dirty="0"/>
              <a:t>Availability varies (always available on Solaris)</a:t>
            </a:r>
          </a:p>
          <a:p>
            <a:pPr lvl="1">
              <a:lnSpc>
                <a:spcPct val="100000"/>
              </a:lnSpc>
            </a:pPr>
            <a:endParaRPr lang="en-US" sz="1800" noProof="0" dirty="0"/>
          </a:p>
          <a:p>
            <a:pPr>
              <a:lnSpc>
                <a:spcPct val="100000"/>
              </a:lnSpc>
            </a:pPr>
            <a:r>
              <a:rPr lang="en-US" sz="1800" noProof="0" dirty="0">
                <a:solidFill>
                  <a:schemeClr val="tx1"/>
                </a:solidFill>
              </a:rPr>
              <a:t>Main differences between </a:t>
            </a:r>
            <a:r>
              <a:rPr lang="en-US" sz="1800" b="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jar</a:t>
            </a:r>
            <a:r>
              <a:rPr lang="en-US" sz="1800" noProof="0" dirty="0"/>
              <a:t> </a:t>
            </a:r>
            <a:r>
              <a:rPr lang="en-US" sz="1800" noProof="0" dirty="0">
                <a:solidFill>
                  <a:schemeClr val="tx1"/>
                </a:solidFill>
              </a:rPr>
              <a:t>and</a:t>
            </a:r>
            <a:r>
              <a:rPr lang="en-US" sz="1800" noProof="0" dirty="0"/>
              <a:t> </a:t>
            </a:r>
            <a:r>
              <a:rPr lang="en-US" sz="1800" b="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tar:</a:t>
            </a:r>
            <a:endParaRPr lang="en-US" sz="1800" b="0" noProof="0" dirty="0">
              <a:solidFill>
                <a:schemeClr val="tx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jar</a:t>
            </a:r>
            <a:r>
              <a:rPr lang="en-US" sz="1800" noProof="0" dirty="0"/>
              <a:t> automatically compresses data (unlike </a:t>
            </a:r>
            <a:r>
              <a:rPr lang="en-US" sz="1800" noProof="0" dirty="0">
                <a:solidFill>
                  <a:srgbClr val="0000C8"/>
                </a:solidFill>
                <a:latin typeface="DejaVu Sans Mono" pitchFamily="49" charset="0"/>
              </a:rPr>
              <a:t>tar</a:t>
            </a:r>
            <a:r>
              <a:rPr lang="en-US" sz="1800" noProof="0" dirty="0"/>
              <a:t>).</a:t>
            </a:r>
          </a:p>
          <a:p>
            <a:pPr lvl="1">
              <a:lnSpc>
                <a:spcPct val="100000"/>
              </a:lnSpc>
            </a:pPr>
            <a:r>
              <a: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jar</a:t>
            </a:r>
            <a:r>
              <a:rPr lang="en-US" sz="1800" noProof="0" dirty="0"/>
              <a:t> automatically follows symbolic links (</a:t>
            </a:r>
            <a:r>
              <a:rPr lang="en-US" sz="1800" noProof="0" dirty="0">
                <a:solidFill>
                  <a:srgbClr val="0000C8"/>
                </a:solidFill>
                <a:latin typeface="+mn-lt"/>
              </a:rPr>
              <a:t>tar's</a:t>
            </a:r>
            <a:r>
              <a:rPr lang="en-US" sz="1800" noProof="0" dirty="0"/>
              <a:t> defaults vary).</a:t>
            </a:r>
          </a:p>
          <a:p>
            <a:pPr lvl="1">
              <a:lnSpc>
                <a:spcPct val="100000"/>
              </a:lnSpc>
            </a:pPr>
            <a:r>
              <a: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jar</a:t>
            </a:r>
            <a:r>
              <a:rPr lang="en-US" sz="1800" noProof="0" dirty="0"/>
              <a:t> always creates the manifest file.</a:t>
            </a:r>
          </a:p>
          <a:p>
            <a:pPr marL="284797" lvl="1" indent="0">
              <a:spcBef>
                <a:spcPts val="488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endParaRPr lang="en-US" sz="1600" spc="-4" noProof="0" dirty="0">
              <a:solidFill>
                <a:srgbClr val="2D2C2C"/>
              </a:solidFill>
              <a:cs typeface="Segoe UI"/>
            </a:endParaRP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6ABB71D1-3384-6FBD-B8D9-B111F906B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979999"/>
            <a:ext cx="5580062" cy="92333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sz="1800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jar </a:t>
            </a:r>
            <a:r>
              <a:rPr lang="en-US" sz="1800" b="1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cvf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arch.jar /</a:t>
            </a:r>
            <a:r>
              <a:rPr lang="en-US" sz="1800" b="1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proj</a:t>
            </a:r>
            <a:endParaRPr lang="en-US" sz="1800" b="1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spcBef>
                <a:spcPct val="0"/>
              </a:spcBef>
            </a:pPr>
            <a:r>
              <a:rPr lang="en-US" sz="1800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800" b="1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jar </a:t>
            </a:r>
            <a:r>
              <a:rPr lang="en-US" sz="1800" b="1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tvf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arch.jar</a:t>
            </a:r>
          </a:p>
          <a:p>
            <a:pPr>
              <a:spcBef>
                <a:spcPct val="0"/>
              </a:spcBef>
            </a:pPr>
            <a:r>
              <a:rPr lang="en-US" sz="1800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jar </a:t>
            </a:r>
            <a:r>
              <a:rPr lang="en-US" sz="1800" b="1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xvf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arch.jar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9067B328-4A33-8E51-CF64-7799DFA1A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5081392"/>
            <a:ext cx="6771297" cy="12280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1800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jar </a:t>
            </a:r>
            <a:r>
              <a:rPr lang="en-US" sz="1800" b="1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xvf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arch.jar META-INF/MANIFEST.MF</a:t>
            </a:r>
          </a:p>
          <a:p>
            <a:pPr>
              <a:spcBef>
                <a:spcPct val="0"/>
              </a:spcBef>
            </a:pPr>
            <a:r>
              <a:rPr lang="en-US" sz="1800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8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cat META-INF/MANIFEST.MF</a:t>
            </a:r>
          </a:p>
          <a:p>
            <a:pPr>
              <a:spcBef>
                <a:spcPct val="0"/>
              </a:spcBef>
            </a:pPr>
            <a:r>
              <a:rPr lang="en-US" sz="18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Manifest-Version: 1.0</a:t>
            </a:r>
          </a:p>
          <a:p>
            <a:pPr>
              <a:spcBef>
                <a:spcPct val="0"/>
              </a:spcBef>
            </a:pPr>
            <a:r>
              <a:rPr lang="en-US" sz="18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Created-By: 1.4.0.00 (Sun Microsystems Inc)</a:t>
            </a:r>
          </a:p>
        </p:txBody>
      </p:sp>
    </p:spTree>
    <p:extLst>
      <p:ext uri="{BB962C8B-B14F-4D97-AF65-F5344CB8AC3E}">
        <p14:creationId xmlns:p14="http://schemas.microsoft.com/office/powerpoint/2010/main" val="74222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cpio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87E0B-0615-48CB-AF5C-330C000F94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28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D36022-2EF7-A3B3-45CE-8F70DADFE8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cpio</a:t>
            </a:r>
            <a:r>
              <a:rPr lang="en-US" noProof="0" dirty="0"/>
              <a:t> command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61" noProof="0" dirty="0" err="1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cpio</a:t>
            </a:r>
            <a:r>
              <a:rPr lang="en-US" sz="1800" b="1" spc="8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 a general file archiver utility.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 name </a:t>
            </a:r>
            <a:r>
              <a:rPr lang="en-US" sz="1800" b="1" spc="-61" noProof="0" dirty="0" err="1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cpio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is derived from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“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c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o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p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y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i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 copy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o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ut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”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 was originally intended as a tape archiving program.</a:t>
            </a: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1CD2C96-5299-4EE8-DE8D-0834A084B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170457"/>
              </p:ext>
            </p:extLst>
          </p:nvPr>
        </p:nvGraphicFramePr>
        <p:xfrm>
          <a:off x="1285657" y="2951092"/>
          <a:ext cx="6770077" cy="2956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11288">
                  <a:extLst>
                    <a:ext uri="{9D8B030D-6E8A-4147-A177-3AD203B41FA5}">
                      <a16:colId xmlns:a16="http://schemas.microsoft.com/office/drawing/2014/main" val="4061759465"/>
                    </a:ext>
                  </a:extLst>
                </a:gridCol>
                <a:gridCol w="5358789">
                  <a:extLst>
                    <a:ext uri="{9D8B030D-6E8A-4147-A177-3AD203B41FA5}">
                      <a16:colId xmlns:a16="http://schemas.microsoft.com/office/drawing/2014/main" val="43753803"/>
                    </a:ext>
                  </a:extLst>
                </a:gridCol>
              </a:tblGrid>
              <a:tr h="356212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451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-o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noProof="0" dirty="0"/>
                        <a:t>O</a:t>
                      </a:r>
                      <a:r>
                        <a:rPr lang="en-US" sz="1800" noProof="0" dirty="0"/>
                        <a:t>utput file (backup 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900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</a:t>
                      </a:r>
                      <a:r>
                        <a:rPr lang="en-US" sz="1800" b="1" noProof="0" dirty="0" err="1">
                          <a:solidFill>
                            <a:srgbClr val="7030A0"/>
                          </a:solidFill>
                        </a:rPr>
                        <a:t>i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noProof="0" dirty="0"/>
                        <a:t>I</a:t>
                      </a:r>
                      <a:r>
                        <a:rPr lang="en-US" sz="1800" noProof="0" dirty="0"/>
                        <a:t>nput file (restore from)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1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-v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noProof="0" dirty="0"/>
                        <a:t>V</a:t>
                      </a:r>
                      <a:r>
                        <a:rPr lang="en-US" sz="1800" noProof="0" dirty="0"/>
                        <a:t>erbose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36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-t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noProof="0" dirty="0"/>
                        <a:t>T</a:t>
                      </a:r>
                      <a:r>
                        <a:rPr lang="en-US" sz="1800" noProof="0" dirty="0"/>
                        <a:t>est (list)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402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-d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Create leading </a:t>
                      </a:r>
                      <a:r>
                        <a:rPr lang="en-US" sz="1800" b="1" noProof="0" dirty="0"/>
                        <a:t>d</a:t>
                      </a:r>
                      <a:r>
                        <a:rPr lang="en-US" sz="1800" noProof="0" dirty="0"/>
                        <a:t>irectories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426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-m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Preserve </a:t>
                      </a:r>
                      <a:r>
                        <a:rPr lang="en-US" sz="1800" b="1" noProof="0" dirty="0"/>
                        <a:t>m</a:t>
                      </a:r>
                      <a:r>
                        <a:rPr lang="en-US" sz="1800" noProof="0" dirty="0"/>
                        <a:t>odification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130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-c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Use the svr4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043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0400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F40765-03EA-8C50-1B09-B463A64926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Examples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61" noProof="0" dirty="0" err="1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cpio</a:t>
            </a:r>
            <a:r>
              <a:rPr lang="en-US" sz="1800" b="1" spc="8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takes the list of file names to from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stdin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, when backing up (</a:t>
            </a:r>
            <a:r>
              <a:rPr lang="en-US" sz="1800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800" b="1" spc="-8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).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Find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 an excellent way of producing this list programmatically.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 sends the backup to </a:t>
            </a:r>
            <a:r>
              <a:rPr lang="en-US" sz="1800" b="1" spc="-8" noProof="0" dirty="0" err="1">
                <a:solidFill>
                  <a:srgbClr val="2D2C2C"/>
                </a:solidFill>
                <a:cs typeface="Segoe UI"/>
              </a:rPr>
              <a:t>stdout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hence the </a:t>
            </a:r>
            <a:r>
              <a:rPr lang="en-US" sz="2000" b="1" spc="-8" noProof="0" dirty="0">
                <a:solidFill>
                  <a:srgbClr val="00206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to redirect to file/device.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61" noProof="0" dirty="0" err="1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cpio</a:t>
            </a:r>
            <a:r>
              <a:rPr lang="en-US" sz="1800" b="1" spc="8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gets the archive from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stdin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when restoring (</a:t>
            </a:r>
            <a:r>
              <a:rPr lang="en-US" sz="1800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).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Hence the </a:t>
            </a:r>
            <a:r>
              <a:rPr lang="en-US" sz="2000" b="1" spc="-8" noProof="0" dirty="0">
                <a:solidFill>
                  <a:srgbClr val="00206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to redirect from file/device.</a:t>
            </a: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DF60D91-BC61-18CE-8D61-770BB2F16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049" y="4024276"/>
            <a:ext cx="7146314" cy="129009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spcBef>
                <a:spcPts val="102"/>
              </a:spcBef>
            </a:pPr>
            <a:r>
              <a:rPr lang="en-US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find</a:t>
            </a:r>
            <a:r>
              <a:rPr lang="en-US" b="1" spc="-8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. -</a:t>
            </a:r>
            <a:r>
              <a:rPr lang="en-US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mtime</a:t>
            </a:r>
            <a:r>
              <a:rPr lang="en-US" b="1" spc="-8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-2</a:t>
            </a:r>
            <a:r>
              <a:rPr lang="en-US" b="1" spc="-8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-print | </a:t>
            </a:r>
            <a:r>
              <a:rPr lang="en-US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cpio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-</a:t>
            </a:r>
            <a:r>
              <a:rPr lang="en-US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ovc</a:t>
            </a:r>
            <a:r>
              <a:rPr lang="en-US" b="1" spc="-8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&gt;/dev/rmt0</a:t>
            </a:r>
          </a:p>
          <a:p>
            <a:pPr marL="71199">
              <a:spcBef>
                <a:spcPts val="102"/>
              </a:spcBef>
            </a:pPr>
            <a:r>
              <a:rPr lang="en-US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pc="-4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cpio</a:t>
            </a:r>
            <a:r>
              <a:rPr lang="en-US" b="1" spc="-12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-</a:t>
            </a:r>
            <a:r>
              <a:rPr lang="en-US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itvc</a:t>
            </a:r>
            <a:r>
              <a:rPr lang="en-US" b="1" spc="-16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&lt;</a:t>
            </a:r>
            <a:r>
              <a:rPr lang="en-US" b="1" spc="-16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/dev/rmt0</a:t>
            </a:r>
            <a:endParaRPr lang="en-US" noProof="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1199">
              <a:spcBef>
                <a:spcPts val="102"/>
              </a:spcBef>
            </a:pPr>
            <a:r>
              <a:rPr lang="en-US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pc="-12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cpio</a:t>
            </a:r>
            <a:r>
              <a:rPr lang="en-US" b="1" spc="-12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-</a:t>
            </a:r>
            <a:r>
              <a:rPr lang="en-US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ivcdm</a:t>
            </a:r>
            <a:r>
              <a:rPr lang="en-US" b="1" spc="-12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&lt;</a:t>
            </a:r>
            <a:r>
              <a:rPr lang="en-US" b="1" spc="-12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/dev/rmt0</a:t>
            </a:r>
            <a:endParaRPr lang="en-US" noProof="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1199">
              <a:spcBef>
                <a:spcPts val="102"/>
              </a:spcBef>
            </a:pPr>
            <a:r>
              <a:rPr lang="en-US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cpio</a:t>
            </a:r>
            <a:r>
              <a:rPr lang="en-US" b="1" spc="-12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-</a:t>
            </a:r>
            <a:r>
              <a:rPr lang="en-US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ivcdm</a:t>
            </a:r>
            <a:r>
              <a:rPr lang="en-US" b="1" spc="-8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'./file*'</a:t>
            </a:r>
            <a:r>
              <a:rPr lang="en-US" b="1" spc="-16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./.profile</a:t>
            </a:r>
            <a:r>
              <a:rPr lang="en-US" b="1" spc="-12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&lt;/dev/rmt0</a:t>
            </a:r>
            <a:endParaRPr lang="en-US" noProof="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30854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pax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2E7CA-8F1F-E343-7600-5FCC5ECD9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568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705A14D-3EF5-6C05-4F2E-38F2B12CCA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pax command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61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pax</a:t>
            </a:r>
            <a:r>
              <a:rPr lang="en-US" sz="1800" b="1" spc="8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 compatible with both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tar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and </a:t>
            </a:r>
            <a:r>
              <a:rPr lang="en-US" sz="1800" b="1" spc="-8" noProof="0" dirty="0" err="1">
                <a:solidFill>
                  <a:srgbClr val="2D2C2C"/>
                </a:solidFill>
                <a:cs typeface="Segoe UI"/>
              </a:rPr>
              <a:t>cpio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formats.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Create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(</a:t>
            </a:r>
            <a:r>
              <a:rPr lang="en-US" sz="1800" b="1" spc="20" noProof="0" dirty="0">
                <a:solidFill>
                  <a:srgbClr val="2D2C2C"/>
                </a:solidFill>
                <a:latin typeface="+mn-lt"/>
                <a:cs typeface="Segoe UI"/>
              </a:rPr>
              <a:t>w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rite)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backup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directory:</a:t>
            </a:r>
            <a:endParaRPr lang="en-US" sz="1800" noProof="0" dirty="0">
              <a:latin typeface="+mn-lt"/>
              <a:cs typeface="Segoe UI"/>
            </a:endParaRPr>
          </a:p>
          <a:p>
            <a:pPr marL="350838">
              <a:spcBef>
                <a:spcPts val="715"/>
              </a:spcBef>
            </a:pPr>
            <a:endParaRPr lang="en-US" sz="1800" spc="-4" noProof="0" dirty="0">
              <a:solidFill>
                <a:schemeClr val="bg1"/>
              </a:solidFill>
              <a:latin typeface="+mn-lt"/>
              <a:cs typeface="Courier New"/>
            </a:endParaRPr>
          </a:p>
          <a:p>
            <a:pPr marL="350838">
              <a:spcBef>
                <a:spcPts val="715"/>
              </a:spcBef>
            </a:pPr>
            <a:endParaRPr lang="en-US" sz="1800" noProof="0" dirty="0">
              <a:solidFill>
                <a:schemeClr val="bg1"/>
              </a:solidFill>
              <a:latin typeface="+mn-lt"/>
              <a:cs typeface="Courier New"/>
            </a:endParaRPr>
          </a:p>
          <a:p>
            <a:pPr marL="289957" indent="-280154">
              <a:spcBef>
                <a:spcPts val="123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Read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the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content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backup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 (</a:t>
            </a:r>
            <a:r>
              <a:rPr lang="en-US" sz="2000" b="1" spc="-4" noProof="0" dirty="0">
                <a:solidFill>
                  <a:srgbClr val="2D2C2C"/>
                </a:solidFill>
                <a:latin typeface="+mn-lt"/>
                <a:cs typeface="Segoe UI"/>
              </a:rPr>
              <a:t>v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erbosely):</a:t>
            </a:r>
          </a:p>
          <a:p>
            <a:pPr marL="289957" indent="-280154">
              <a:spcBef>
                <a:spcPts val="123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123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123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20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estore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the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backup:</a:t>
            </a:r>
          </a:p>
          <a:p>
            <a:pPr marL="289957" indent="-280154">
              <a:spcBef>
                <a:spcPts val="123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123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I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nteractively:</a:t>
            </a:r>
            <a:endParaRPr lang="en-US" sz="1800" noProof="0" dirty="0">
              <a:latin typeface="+mn-lt"/>
              <a:cs typeface="Segoe UI"/>
            </a:endParaRP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7A54691-9EBA-BF13-A094-383BB435E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0695" y="5487222"/>
            <a:ext cx="9106719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65524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pax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rif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dir.pax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32B24E-0FD7-C0E2-1AA7-1FF97AC82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800" y="3616946"/>
            <a:ext cx="5764614" cy="71045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spcBef>
                <a:spcPts val="10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pax -f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dir.pax</a:t>
            </a: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1199">
              <a:spcBef>
                <a:spcPts val="10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pax -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dir.pax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F837E82-6D21-26CB-619F-445FACB49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788" y="4701326"/>
            <a:ext cx="8708273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65524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pax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-rf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dir.pax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3438DDC-A387-8C74-9B7E-767100A23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272" y="2494564"/>
            <a:ext cx="6780789" cy="71045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spcBef>
                <a:spcPts val="10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dir</a:t>
            </a: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1199">
              <a:spcBef>
                <a:spcPts val="10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pax –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dir.pax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.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B61B9B-8207-A929-C0D6-0E7374FC8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4572" y="677443"/>
            <a:ext cx="1602842" cy="160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43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rsync</a:t>
            </a:r>
            <a:endParaRPr lang="en-US" noProof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7CC43E9-0C22-0535-FA9A-D76E942EF6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356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2E2DD1-EDAF-4427-2986-60400C7CD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rsync</a:t>
            </a:r>
            <a:r>
              <a:rPr lang="en-US" noProof="0" dirty="0"/>
              <a:t> command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359180"/>
            <a:ext cx="11303578" cy="4722644"/>
          </a:xfrm>
        </p:spPr>
        <p:txBody>
          <a:bodyPr/>
          <a:lstStyle/>
          <a:p>
            <a:r>
              <a:rPr lang="en-US" b="1" spc="-61" noProof="0" dirty="0" err="1">
                <a:solidFill>
                  <a:srgbClr val="3333CC"/>
                </a:solidFill>
                <a:latin typeface="Hack" panose="020B0609030202020204" pitchFamily="49" charset="0"/>
              </a:rPr>
              <a:t>Rsync</a:t>
            </a:r>
            <a:r>
              <a:rPr lang="en-US" noProof="0" dirty="0">
                <a:solidFill>
                  <a:schemeClr val="tx1"/>
                </a:solidFill>
              </a:rPr>
              <a:t> transfers and synchronizes files between two locations, either locally </a:t>
            </a:r>
            <a:r>
              <a:rPr lang="en-US" dirty="0">
                <a:solidFill>
                  <a:schemeClr val="tx1"/>
                </a:solidFill>
              </a:rPr>
              <a:t>on one computer, or across a network to another device. </a:t>
            </a:r>
          </a:p>
          <a:p>
            <a:r>
              <a:rPr lang="en-US" dirty="0">
                <a:solidFill>
                  <a:schemeClr val="tx1"/>
                </a:solidFill>
              </a:rPr>
              <a:t>It transfers only changes to the files that have occurred since the last synchronization, </a:t>
            </a:r>
            <a:r>
              <a:rPr lang="en-US" noProof="0" dirty="0">
                <a:solidFill>
                  <a:schemeClr val="tx1"/>
                </a:solidFill>
              </a:rPr>
              <a:t> by comparing the modification times and sizes of the files.</a:t>
            </a:r>
          </a:p>
          <a:p>
            <a:r>
              <a:rPr lang="en-US" noProof="0" dirty="0">
                <a:solidFill>
                  <a:schemeClr val="tx1"/>
                </a:solidFill>
              </a:rPr>
              <a:t>It’s similar to the </a:t>
            </a:r>
            <a:r>
              <a:rPr lang="en-US" b="1" noProof="0" dirty="0">
                <a:solidFill>
                  <a:schemeClr val="tx1"/>
                </a:solidFill>
              </a:rPr>
              <a:t>robocopy</a:t>
            </a:r>
            <a:r>
              <a:rPr lang="en-US" noProof="0" dirty="0">
                <a:solidFill>
                  <a:schemeClr val="tx1"/>
                </a:solidFill>
              </a:rPr>
              <a:t> command on Windows systems.</a:t>
            </a:r>
          </a:p>
          <a:p>
            <a:r>
              <a:rPr lang="en-US" noProof="0" dirty="0">
                <a:solidFill>
                  <a:schemeClr val="tx1"/>
                </a:solidFill>
              </a:rPr>
              <a:t>On first use, it copies the files/directories from source to target.</a:t>
            </a:r>
          </a:p>
          <a:p>
            <a:pPr lvl="1"/>
            <a:r>
              <a:rPr lang="en-US" noProof="0" dirty="0"/>
              <a:t>Subsequently, just the changes are transferred</a:t>
            </a:r>
          </a:p>
          <a:p>
            <a:pPr lvl="1"/>
            <a:r>
              <a:rPr lang="en-US" noProof="0" dirty="0"/>
              <a:t>This </a:t>
            </a:r>
            <a:r>
              <a:rPr lang="en-US" dirty="0"/>
              <a:t>k</a:t>
            </a:r>
            <a:r>
              <a:rPr lang="en-US" noProof="0" dirty="0" err="1"/>
              <a:t>eeps</a:t>
            </a:r>
            <a:r>
              <a:rPr lang="en-US" noProof="0" dirty="0"/>
              <a:t> network traffic to a minimum and speeds up the data transfer operation.</a:t>
            </a:r>
          </a:p>
          <a:p>
            <a:r>
              <a:rPr lang="en-US" noProof="0" dirty="0">
                <a:solidFill>
                  <a:schemeClr val="tx1"/>
                </a:solidFill>
              </a:rPr>
              <a:t>When specifying directories:</a:t>
            </a:r>
          </a:p>
          <a:p>
            <a:pPr lvl="1"/>
            <a:r>
              <a:rPr lang="en-US" noProof="0" dirty="0"/>
              <a:t>Dir – means the source directory and its content.</a:t>
            </a:r>
          </a:p>
          <a:p>
            <a:pPr lvl="1"/>
            <a:r>
              <a:rPr lang="en-US" noProof="0" dirty="0"/>
              <a:t>Dir/ – means just the contents of the source directory.</a:t>
            </a:r>
          </a:p>
          <a:p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02B93C-7B08-E8DB-86C5-7A4133C80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4876904"/>
            <a:ext cx="11161711" cy="142603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spcBef>
                <a:spcPts val="102"/>
              </a:spcBef>
            </a:pPr>
            <a:r>
              <a:rPr lang="en-US" sz="16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these two commands above do the same thing</a:t>
            </a:r>
          </a:p>
          <a:p>
            <a:pPr marL="71199">
              <a:spcBef>
                <a:spcPts val="102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sz="16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rsync</a:t>
            </a:r>
            <a:r>
              <a:rPr lang="en-US" sz="1600" b="1" spc="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avzH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/root/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rpmpkgs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/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/backups/</a:t>
            </a:r>
          </a:p>
          <a:p>
            <a:pPr marL="71199">
              <a:spcBef>
                <a:spcPts val="102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sz="16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rsync</a:t>
            </a:r>
            <a:r>
              <a:rPr lang="en-US" sz="1600" b="1" spc="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avzH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/root/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rpmpkgs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  /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/backups/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rpmpkgs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</a:p>
          <a:p>
            <a:pPr marL="71199">
              <a:spcBef>
                <a:spcPts val="102"/>
              </a:spcBef>
            </a:pPr>
            <a:r>
              <a:rPr lang="en-US" sz="1600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# This command changes the target directory</a:t>
            </a:r>
          </a:p>
          <a:p>
            <a:pPr marL="71199">
              <a:spcBef>
                <a:spcPts val="102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sz="16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rsync</a:t>
            </a:r>
            <a:r>
              <a:rPr lang="en-US" sz="1600" b="1" spc="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avzH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/root/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rpmpkgs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  /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/backups/rpms/</a:t>
            </a:r>
          </a:p>
        </p:txBody>
      </p:sp>
    </p:spTree>
    <p:extLst>
      <p:ext uri="{BB962C8B-B14F-4D97-AF65-F5344CB8AC3E}">
        <p14:creationId xmlns:p14="http://schemas.microsoft.com/office/powerpoint/2010/main" val="3388298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27D23A-B661-C95A-FFFC-18421373A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rsync</a:t>
            </a:r>
            <a:r>
              <a:rPr lang="en-US" noProof="0" dirty="0"/>
              <a:t> options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7CE16E7D-F413-793A-64D0-7659BA8A3028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015000093"/>
              </p:ext>
            </p:extLst>
          </p:nvPr>
        </p:nvGraphicFramePr>
        <p:xfrm>
          <a:off x="444500" y="1733550"/>
          <a:ext cx="11302999" cy="3657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61749">
                  <a:extLst>
                    <a:ext uri="{9D8B030D-6E8A-4147-A177-3AD203B41FA5}">
                      <a16:colId xmlns:a16="http://schemas.microsoft.com/office/drawing/2014/main" val="626263416"/>
                    </a:ext>
                  </a:extLst>
                </a:gridCol>
                <a:gridCol w="8941250">
                  <a:extLst>
                    <a:ext uri="{9D8B030D-6E8A-4147-A177-3AD203B41FA5}">
                      <a16:colId xmlns:a16="http://schemas.microsoft.com/office/drawing/2014/main" val="4168138251"/>
                    </a:ext>
                  </a:extLst>
                </a:gridCol>
              </a:tblGrid>
              <a:tr h="278097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751878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-a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Archive mode; equals </a:t>
                      </a:r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</a:t>
                      </a:r>
                      <a:r>
                        <a:rPr lang="en-US" sz="1800" b="1" noProof="0" dirty="0" err="1">
                          <a:solidFill>
                            <a:srgbClr val="7030A0"/>
                          </a:solidFill>
                        </a:rPr>
                        <a:t>rlptgoD</a:t>
                      </a:r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 </a:t>
                      </a:r>
                      <a:r>
                        <a:rPr lang="en-US" sz="1800" noProof="0" dirty="0"/>
                        <a:t>(no </a:t>
                      </a:r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-H,-A,-X</a:t>
                      </a:r>
                      <a:r>
                        <a:rPr lang="en-US" sz="1800" noProof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18696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-v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Increase verbosity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657688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-z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Compress file data during the transfer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178288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--delete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Delete extraneous files from destination </a:t>
                      </a:r>
                      <a:r>
                        <a:rPr lang="en-US" sz="1800" noProof="0" dirty="0" err="1"/>
                        <a:t>dirs</a:t>
                      </a:r>
                      <a:endParaRPr lang="en-US" sz="18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22832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pPr algn="just"/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-u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Skip files that are newer on the receiver (</a:t>
                      </a:r>
                      <a:r>
                        <a:rPr lang="en-US" sz="1800" b="1" noProof="0" dirty="0"/>
                        <a:t>u</a:t>
                      </a:r>
                      <a:r>
                        <a:rPr lang="en-US" sz="1800" noProof="0" dirty="0"/>
                        <a:t>pdate)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096324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pPr algn="just"/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-p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Preserve </a:t>
                      </a:r>
                      <a:r>
                        <a:rPr lang="en-US" sz="1800" b="1" noProof="0" dirty="0"/>
                        <a:t>p</a:t>
                      </a:r>
                      <a:r>
                        <a:rPr lang="en-US" sz="1800" noProof="0" dirty="0"/>
                        <a:t>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042724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pPr algn="just"/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-D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Same as </a:t>
                      </a:r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--devices --specials</a:t>
                      </a:r>
                      <a:endParaRPr lang="en-US" sz="18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319189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pPr algn="just"/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--devices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Preserve </a:t>
                      </a:r>
                      <a:r>
                        <a:rPr lang="en-US" sz="1800" b="1" noProof="0" dirty="0"/>
                        <a:t>device</a:t>
                      </a:r>
                      <a:r>
                        <a:rPr lang="en-US" sz="1800" noProof="0" dirty="0"/>
                        <a:t> files (super-user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569482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--specials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Preserve </a:t>
                      </a:r>
                      <a:r>
                        <a:rPr lang="en-US" sz="1800" b="1" noProof="0" dirty="0"/>
                        <a:t>special</a:t>
                      </a:r>
                      <a:r>
                        <a:rPr lang="en-US" sz="1800" noProof="0" dirty="0"/>
                        <a:t>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0700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4386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CEEA9-D636-C2DA-ACB2-368DF3E63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9C027A-1555-F7CC-3CAF-91D20D0511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rsync</a:t>
            </a:r>
            <a:r>
              <a:rPr lang="en-US" noProof="0" dirty="0"/>
              <a:t> options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6E1DE-D425-B5FC-7F42-BFC8D9B119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7451C-4CD6-7D6C-9EA9-C05F7DEF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20</a:t>
            </a:fld>
            <a:endParaRPr lang="en-US" noProof="0" dirty="0"/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539B2E9D-7015-CF2B-AE6B-D731D1AC9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04329"/>
              </p:ext>
            </p:extLst>
          </p:nvPr>
        </p:nvGraphicFramePr>
        <p:xfrm>
          <a:off x="2719818" y="1631649"/>
          <a:ext cx="6751783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10777">
                  <a:extLst>
                    <a:ext uri="{9D8B030D-6E8A-4147-A177-3AD203B41FA5}">
                      <a16:colId xmlns:a16="http://schemas.microsoft.com/office/drawing/2014/main" val="626263416"/>
                    </a:ext>
                  </a:extLst>
                </a:gridCol>
                <a:gridCol w="5341006">
                  <a:extLst>
                    <a:ext uri="{9D8B030D-6E8A-4147-A177-3AD203B41FA5}">
                      <a16:colId xmlns:a16="http://schemas.microsoft.com/office/drawing/2014/main" val="4168138251"/>
                    </a:ext>
                  </a:extLst>
                </a:gridCol>
              </a:tblGrid>
              <a:tr h="278097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751878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-A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Preserve </a:t>
                      </a:r>
                      <a:r>
                        <a:rPr lang="en-US" sz="1800" b="1" noProof="0" dirty="0"/>
                        <a:t>ACLs</a:t>
                      </a:r>
                      <a:r>
                        <a:rPr lang="en-US" sz="1800" noProof="0" dirty="0"/>
                        <a:t> (implies </a:t>
                      </a:r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–p</a:t>
                      </a:r>
                      <a:r>
                        <a:rPr lang="en-US" sz="1800" noProof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242606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-g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Preserve </a:t>
                      </a:r>
                      <a:r>
                        <a:rPr lang="en-US" sz="1800" b="1" noProof="0" dirty="0"/>
                        <a:t>g</a:t>
                      </a:r>
                      <a:r>
                        <a:rPr lang="en-US" sz="1800" noProof="0" dirty="0"/>
                        <a:t>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151255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-o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Preserve </a:t>
                      </a:r>
                      <a:r>
                        <a:rPr lang="en-US" sz="1800" b="1" noProof="0" dirty="0"/>
                        <a:t>o</a:t>
                      </a:r>
                      <a:r>
                        <a:rPr lang="en-US" sz="1800" noProof="0" dirty="0"/>
                        <a:t>wner (super-user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228242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-t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Preserve modification </a:t>
                      </a:r>
                      <a:r>
                        <a:rPr lang="en-US" sz="1800" b="1" noProof="0" dirty="0"/>
                        <a:t>t</a:t>
                      </a:r>
                      <a:r>
                        <a:rPr lang="en-US" sz="1800" noProof="0" dirty="0"/>
                        <a:t>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360032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-H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Preserve </a:t>
                      </a:r>
                      <a:r>
                        <a:rPr lang="en-US" sz="1800" b="1" noProof="0" dirty="0"/>
                        <a:t>h</a:t>
                      </a:r>
                      <a:r>
                        <a:rPr lang="en-US" sz="1800" noProof="0" dirty="0"/>
                        <a:t>ard links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58988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-X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Preserve e</a:t>
                      </a:r>
                      <a:r>
                        <a:rPr lang="en-US" sz="1800" b="1" noProof="0" dirty="0"/>
                        <a:t>x</a:t>
                      </a:r>
                      <a:r>
                        <a:rPr lang="en-US" sz="1800" noProof="0" dirty="0"/>
                        <a:t>tended attributes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976005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-r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/>
                        <a:t>R</a:t>
                      </a:r>
                      <a:r>
                        <a:rPr lang="en-US" sz="1800" noProof="0" dirty="0"/>
                        <a:t>ecurse into directories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324166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-l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Copy </a:t>
                      </a:r>
                      <a:r>
                        <a:rPr lang="en-US" sz="1800" noProof="0" dirty="0" err="1"/>
                        <a:t>sym</a:t>
                      </a:r>
                      <a:r>
                        <a:rPr lang="en-US" sz="1800" b="1" noProof="0" dirty="0" err="1"/>
                        <a:t>l</a:t>
                      </a:r>
                      <a:r>
                        <a:rPr lang="en-US" sz="1800" noProof="0" dirty="0" err="1"/>
                        <a:t>inks</a:t>
                      </a:r>
                      <a:r>
                        <a:rPr lang="en-US" sz="1800" noProof="0" dirty="0"/>
                        <a:t> as </a:t>
                      </a:r>
                      <a:r>
                        <a:rPr lang="en-US" sz="1800" noProof="0" dirty="0" err="1"/>
                        <a:t>symlinks</a:t>
                      </a:r>
                      <a:endParaRPr lang="en-US" sz="18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980732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-q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Suppress non-error messages (</a:t>
                      </a:r>
                      <a:r>
                        <a:rPr lang="en-US" sz="1800" b="1" noProof="0" dirty="0"/>
                        <a:t>q</a:t>
                      </a:r>
                      <a:r>
                        <a:rPr lang="en-US" sz="1800" noProof="0" dirty="0"/>
                        <a:t>uiet)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646853"/>
                  </a:ext>
                </a:extLst>
              </a:tr>
              <a:tr h="278097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solidFill>
                            <a:srgbClr val="7030A0"/>
                          </a:solidFill>
                        </a:rPr>
                        <a:t>--progress</a:t>
                      </a:r>
                      <a:endParaRPr lang="en-US" sz="1800" b="1" noProof="0" dirty="0">
                        <a:solidFill>
                          <a:srgbClr val="7030A0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 View the </a:t>
                      </a:r>
                      <a:r>
                        <a:rPr lang="en-US" sz="1800" noProof="0" dirty="0" err="1"/>
                        <a:t>rsync</a:t>
                      </a:r>
                      <a:r>
                        <a:rPr lang="en-US" sz="1800" noProof="0" dirty="0"/>
                        <a:t> </a:t>
                      </a:r>
                      <a:r>
                        <a:rPr lang="en-US" sz="1800" b="1" noProof="0" dirty="0"/>
                        <a:t>progress</a:t>
                      </a:r>
                      <a:r>
                        <a:rPr lang="en-US" sz="1800" noProof="0" dirty="0"/>
                        <a:t> during transfer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738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011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Compression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62743-16E5-4976-58E7-2545D03EA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117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32688B-7A2B-02DA-29C0-D2409E9699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Traditional tools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3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>
                <a:solidFill>
                  <a:srgbClr val="00206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compress</a:t>
            </a:r>
            <a:r>
              <a:rPr lang="en-US" sz="1800" b="1" spc="-20" noProof="0" dirty="0">
                <a:solidFill>
                  <a:srgbClr val="002060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002060"/>
                </a:solidFill>
                <a:latin typeface="+mn-lt"/>
                <a:cs typeface="Segoe UI"/>
              </a:rPr>
              <a:t>/</a:t>
            </a:r>
            <a:r>
              <a:rPr lang="en-US" sz="1800" noProof="0" dirty="0">
                <a:solidFill>
                  <a:srgbClr val="002060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206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uncompress</a:t>
            </a:r>
            <a:endParaRPr lang="en-US" sz="1800" noProof="0" dirty="0">
              <a:solidFill>
                <a:srgbClr val="00206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Standard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Unix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compression</a:t>
            </a:r>
            <a:r>
              <a:rPr lang="en-US" sz="1800" spc="7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utility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Very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poor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compression ratio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Might be included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compatibility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(if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at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all: ubuntu needs </a:t>
            </a:r>
            <a:r>
              <a:rPr lang="en-US" sz="1800" b="1" spc="-8" noProof="0" dirty="0" err="1">
                <a:solidFill>
                  <a:srgbClr val="00206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ncompress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installed)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297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accessed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206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sz="1800" b="1" spc="12" noProof="0" dirty="0">
                <a:solidFill>
                  <a:srgbClr val="00206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noProof="0" dirty="0">
                <a:solidFill>
                  <a:srgbClr val="00206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–Z</a:t>
            </a:r>
          </a:p>
          <a:p>
            <a:pPr marL="518001" lvl="1" indent="-233204">
              <a:spcBef>
                <a:spcPts val="297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noProof="0" dirty="0">
              <a:solidFill>
                <a:srgbClr val="3333CC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>
                <a:solidFill>
                  <a:srgbClr val="00206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zip</a:t>
            </a:r>
            <a:r>
              <a:rPr lang="en-US" sz="1800" b="1" spc="-49" noProof="0" dirty="0">
                <a:solidFill>
                  <a:srgbClr val="002060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002060"/>
                </a:solidFill>
                <a:latin typeface="+mn-lt"/>
                <a:cs typeface="Segoe UI"/>
              </a:rPr>
              <a:t>/</a:t>
            </a:r>
            <a:r>
              <a:rPr lang="en-US" sz="1800" spc="-24" noProof="0" dirty="0">
                <a:solidFill>
                  <a:srgbClr val="002060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206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unzip</a:t>
            </a:r>
            <a:endParaRPr lang="en-US" sz="1800" noProof="0" dirty="0">
              <a:solidFill>
                <a:srgbClr val="00206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Compatible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206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pkzip</a:t>
            </a:r>
            <a:endParaRPr lang="en-US" sz="1800" noProof="0" dirty="0">
              <a:solidFill>
                <a:srgbClr val="00206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Supports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self-extracting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archives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Produces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archive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multiple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input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files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55A20A9-A416-83A4-5822-9FF563472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602" y="5082467"/>
            <a:ext cx="677068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spcBef>
                <a:spcPts val="10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zip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–r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arch.zip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11B0AD-FE1A-4B9B-B1BA-DB52459F8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601" y="5850489"/>
            <a:ext cx="6770687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spcBef>
                <a:spcPts val="106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zip</a:t>
            </a:r>
            <a:r>
              <a:rPr lang="en-US" sz="1600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–r</a:t>
            </a:r>
            <a:r>
              <a:rPr lang="en-US" sz="1600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arch.zip</a:t>
            </a:r>
            <a:r>
              <a:rPr lang="en-US" sz="1600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332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7E8287-D6AC-C749-1994-8EE430E209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Modern tools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105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 err="1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gzip</a:t>
            </a:r>
            <a:r>
              <a:rPr lang="en-US" sz="1800" b="1" spc="-16" noProof="0" dirty="0">
                <a:solidFill>
                  <a:srgbClr val="3333C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/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gunzip</a:t>
            </a:r>
            <a:r>
              <a:rPr lang="en-US" sz="1800" b="1" spc="8" noProof="0" dirty="0">
                <a:solidFill>
                  <a:srgbClr val="3333C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/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zcat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 un-compress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files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3333CC"/>
                </a:solidFill>
                <a:latin typeface="+mn-lt"/>
                <a:cs typeface="Segoe UI"/>
              </a:rPr>
              <a:t>zip</a:t>
            </a:r>
            <a:r>
              <a:rPr lang="en-US" sz="1800" b="1" spc="-8" noProof="0" dirty="0">
                <a:solidFill>
                  <a:srgbClr val="3333C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also </a:t>
            </a:r>
            <a:r>
              <a:rPr lang="en-US" sz="1800" b="1" spc="-4" noProof="0" dirty="0">
                <a:solidFill>
                  <a:srgbClr val="3333CC"/>
                </a:solidFill>
                <a:latin typeface="+mn-lt"/>
                <a:cs typeface="Segoe UI"/>
              </a:rPr>
              <a:t>compress</a:t>
            </a:r>
          </a:p>
          <a:p>
            <a:pPr marL="518001" lvl="1" indent="-23320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sz="1800" b="1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-z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8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bzip2</a:t>
            </a:r>
            <a:r>
              <a:rPr lang="en-US" sz="1800" b="1" spc="-4" noProof="0" dirty="0">
                <a:solidFill>
                  <a:srgbClr val="3333C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/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3333CC"/>
                </a:solidFill>
                <a:latin typeface="+mn-lt"/>
                <a:cs typeface="Segoe UI"/>
              </a:rPr>
              <a:t>bunzip2</a:t>
            </a:r>
            <a:r>
              <a:rPr lang="en-US" sz="1800" b="1" spc="16" noProof="0" dirty="0">
                <a:solidFill>
                  <a:srgbClr val="3333C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/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3333CC"/>
                </a:solidFill>
                <a:latin typeface="+mn-lt"/>
                <a:cs typeface="Segoe UI"/>
              </a:rPr>
              <a:t>bzcat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Block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oriented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resilient</a:t>
            </a:r>
          </a:p>
          <a:p>
            <a:pPr marL="518001" lvl="1" indent="-23320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GNU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3333CC"/>
                </a:solidFill>
                <a:latin typeface="+mn-lt"/>
                <a:cs typeface="Segoe UI"/>
              </a:rPr>
              <a:t>tar</a:t>
            </a:r>
            <a:r>
              <a:rPr lang="en-US" sz="1800" b="1" spc="16" noProof="0" dirty="0">
                <a:solidFill>
                  <a:srgbClr val="3333CC"/>
                </a:solidFill>
                <a:latin typeface="+mn-lt"/>
                <a:cs typeface="Segoe UI"/>
              </a:rPr>
              <a:t> </a:t>
            </a:r>
            <a:r>
              <a:rPr lang="en-US" sz="1800" b="1" noProof="0" dirty="0">
                <a:solidFill>
                  <a:srgbClr val="3333CC"/>
                </a:solidFill>
                <a:latin typeface="+mn-lt"/>
                <a:cs typeface="Segoe UI"/>
              </a:rPr>
              <a:t>–j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78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 err="1">
                <a:solidFill>
                  <a:srgbClr val="3333CC"/>
                </a:solidFill>
                <a:latin typeface="+mn-lt"/>
                <a:cs typeface="Segoe UI"/>
              </a:rPr>
              <a:t>xz</a:t>
            </a:r>
            <a:r>
              <a:rPr lang="en-US" sz="1800" b="1" spc="-41" noProof="0" dirty="0">
                <a:solidFill>
                  <a:srgbClr val="3333C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/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3333CC"/>
                </a:solidFill>
                <a:latin typeface="+mn-lt"/>
                <a:cs typeface="Segoe UI"/>
              </a:rPr>
              <a:t>unxz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Standard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Unix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compression</a:t>
            </a:r>
            <a:r>
              <a:rPr lang="en-US" sz="1800" spc="8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utility</a:t>
            </a:r>
          </a:p>
          <a:p>
            <a:pPr marL="518001" lvl="1" indent="-23320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GNU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3333CC"/>
                </a:solidFill>
                <a:latin typeface="+mn-lt"/>
                <a:cs typeface="Segoe UI"/>
              </a:rPr>
              <a:t>tar</a:t>
            </a:r>
            <a:r>
              <a:rPr lang="en-US" sz="1800" b="1" noProof="0" dirty="0">
                <a:solidFill>
                  <a:srgbClr val="3333CC"/>
                </a:solidFill>
                <a:latin typeface="+mn-lt"/>
                <a:cs typeface="Segoe UI"/>
              </a:rPr>
              <a:t> –J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94913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E0A43C-2121-916A-288D-8078165642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Modern tools with tar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8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O</a:t>
            </a:r>
            <a:r>
              <a:rPr lang="en-US" sz="1800" spc="-8" noProof="0" dirty="0" err="1">
                <a:solidFill>
                  <a:srgbClr val="2D2C2C"/>
                </a:solidFill>
                <a:latin typeface="+mn-lt"/>
                <a:cs typeface="Segoe UI"/>
              </a:rPr>
              <a:t>lder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24" dirty="0">
                <a:solidFill>
                  <a:srgbClr val="2D2C2C"/>
                </a:solidFill>
                <a:cs typeface="Segoe UI"/>
              </a:rPr>
              <a:t>tar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versions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 cannot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compress the files as they archive them. However, the output from </a:t>
            </a:r>
            <a:r>
              <a:rPr lang="en-US" spc="24" dirty="0">
                <a:solidFill>
                  <a:srgbClr val="2D2C2C"/>
                </a:solidFill>
                <a:cs typeface="Segoe UI"/>
              </a:rPr>
              <a:t>tar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can be piped into one of the compression tools, so that the result is a compressed tar file.</a:t>
            </a: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747157" lvl="1" indent="-280154">
              <a:spcBef>
                <a:spcPts val="78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noProof="0" dirty="0">
                <a:solidFill>
                  <a:schemeClr val="tx1"/>
                </a:solidFill>
                <a:latin typeface="+mn-lt"/>
                <a:cs typeface="Segoe UI"/>
              </a:rPr>
              <a:t>Note: The </a:t>
            </a:r>
            <a:r>
              <a:rPr lang="en-US" b="1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noProof="0" dirty="0">
                <a:solidFill>
                  <a:schemeClr val="tx1"/>
                </a:solidFill>
                <a:latin typeface="+mn-lt"/>
                <a:cs typeface="Segoe UI"/>
              </a:rPr>
              <a:t> as the output file forces it to output into the pipe in the compression and read from the pipe in the decompression.</a:t>
            </a:r>
          </a:p>
          <a:p>
            <a:pPr marL="9803" indent="0">
              <a:spcBef>
                <a:spcPts val="780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78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latin typeface="+mn-lt"/>
              <a:cs typeface="Segoe UI"/>
            </a:endParaRPr>
          </a:p>
          <a:p>
            <a:pPr marL="9803" indent="0">
              <a:spcBef>
                <a:spcPts val="780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78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M</a:t>
            </a:r>
            <a:r>
              <a:rPr lang="en-US" sz="1800" spc="-8" noProof="0" dirty="0" err="1">
                <a:solidFill>
                  <a:srgbClr val="2D2C2C"/>
                </a:solidFill>
                <a:latin typeface="+mn-lt"/>
                <a:cs typeface="Segoe UI"/>
              </a:rPr>
              <a:t>odern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GNU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sz="1800" b="1" spc="-4" noProof="0" dirty="0">
                <a:solidFill>
                  <a:srgbClr val="3333C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versions have options that tell </a:t>
            </a:r>
            <a:r>
              <a:rPr lang="en-US" b="1" spc="24" dirty="0">
                <a:solidFill>
                  <a:srgbClr val="0070C0"/>
                </a:solidFill>
                <a:cs typeface="Segoe UI"/>
              </a:rPr>
              <a:t>tar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to compress the archive file.  </a:t>
            </a:r>
          </a:p>
          <a:p>
            <a:pPr marL="747157" lvl="1" indent="-280154">
              <a:spcBef>
                <a:spcPts val="78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These 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options are </a:t>
            </a:r>
            <a:r>
              <a:rPr lang="en-US" b="1" spc="-4" dirty="0">
                <a:solidFill>
                  <a:srgbClr val="2D2C2C"/>
                </a:solidFill>
                <a:cs typeface="Segoe UI"/>
              </a:rPr>
              <a:t>z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 (to use </a:t>
            </a:r>
            <a:r>
              <a:rPr lang="en-US" spc="-4" dirty="0" err="1">
                <a:solidFill>
                  <a:srgbClr val="2D2C2C"/>
                </a:solidFill>
                <a:cs typeface="Segoe UI"/>
              </a:rPr>
              <a:t>gzip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),</a:t>
            </a:r>
            <a:r>
              <a:rPr lang="en-US" b="1" spc="-4" dirty="0">
                <a:solidFill>
                  <a:srgbClr val="2D2C2C"/>
                </a:solidFill>
                <a:cs typeface="Segoe UI"/>
              </a:rPr>
              <a:t> Z 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(to use compress),</a:t>
            </a:r>
            <a:r>
              <a:rPr lang="en-US" b="1" spc="-4" dirty="0">
                <a:solidFill>
                  <a:srgbClr val="2D2C2C"/>
                </a:solidFill>
                <a:cs typeface="Segoe UI"/>
              </a:rPr>
              <a:t> j 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(to use bzip2) and </a:t>
            </a:r>
            <a:r>
              <a:rPr lang="en-US" b="1" spc="-4" dirty="0">
                <a:solidFill>
                  <a:srgbClr val="2D2C2C"/>
                </a:solidFill>
                <a:cs typeface="Segoe UI"/>
              </a:rPr>
              <a:t>J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 (to use </a:t>
            </a:r>
            <a:r>
              <a:rPr lang="en-US" spc="-4" dirty="0" err="1">
                <a:solidFill>
                  <a:srgbClr val="2D2C2C"/>
                </a:solidFill>
                <a:cs typeface="Segoe UI"/>
              </a:rPr>
              <a:t>xz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).</a:t>
            </a:r>
          </a:p>
          <a:p>
            <a:pPr marL="747157" lvl="1" indent="-280154">
              <a:spcBef>
                <a:spcPts val="78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dirty="0">
                <a:solidFill>
                  <a:srgbClr val="2D2C2C"/>
                </a:solidFill>
                <a:cs typeface="Segoe UI"/>
              </a:rPr>
              <a:t>The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two examples below do the same as the two examples above, but using a single </a:t>
            </a:r>
            <a:r>
              <a:rPr lang="en-US" b="1" spc="-4" noProof="0" dirty="0">
                <a:solidFill>
                  <a:srgbClr val="0070C0"/>
                </a:solidFill>
                <a:latin typeface="+mn-lt"/>
                <a:cs typeface="Segoe UI"/>
              </a:rPr>
              <a:t>tar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 option, </a:t>
            </a:r>
            <a:r>
              <a:rPr lang="en-US" b="1" spc="-4" noProof="0" dirty="0">
                <a:solidFill>
                  <a:srgbClr val="2D2C2C"/>
                </a:solidFill>
                <a:latin typeface="+mn-lt"/>
                <a:cs typeface="Segoe UI"/>
              </a:rPr>
              <a:t>z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.  </a:t>
            </a:r>
            <a:endParaRPr lang="en-US" noProof="0" dirty="0">
              <a:latin typeface="+mn-lt"/>
              <a:cs typeface="Segoe U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1A9FC0C-9B82-BFC5-C9EE-97A09EF7B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777" y="2927786"/>
            <a:ext cx="5406097" cy="69762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715">
              <a:spcBef>
                <a:spcPts val="10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cvf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|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gzip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arch.tgz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1715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gunzip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–c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arch.tgz | tar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xvf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0E6A63-B1D6-481C-837A-70D688245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776" y="5193899"/>
            <a:ext cx="5406097" cy="69762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spcBef>
                <a:spcPts val="110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xzvf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arch.tgz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1199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czvf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arch.tgz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862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A27696D-0EB9-43DD-ABBF-0F33CCE3A5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z tools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Some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utilities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work directly on compressed files, without needing to decompress them first. 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For example, </a:t>
            </a:r>
            <a:r>
              <a:rPr lang="en-US" b="1" spc="16" noProof="0" dirty="0" err="1">
                <a:solidFill>
                  <a:srgbClr val="2D2C2C"/>
                </a:solidFill>
                <a:latin typeface="+mn-lt"/>
                <a:cs typeface="Segoe UI"/>
              </a:rPr>
              <a:t>zcat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displays the contents of a compressed file (ending in .</a:t>
            </a:r>
            <a:r>
              <a:rPr lang="en-US" spc="16" noProof="0" dirty="0" err="1">
                <a:solidFill>
                  <a:srgbClr val="2D2C2C"/>
                </a:solidFill>
                <a:latin typeface="+mn-lt"/>
                <a:cs typeface="Segoe UI"/>
              </a:rPr>
              <a:t>gz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or .z) without decompressing it.</a:t>
            </a:r>
            <a:endParaRPr lang="en-US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12" noProof="0" dirty="0">
                <a:solidFill>
                  <a:srgbClr val="2D2C2C"/>
                </a:solidFill>
                <a:cs typeface="Segoe UI"/>
              </a:rPr>
              <a:t>These are referred to as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noProof="0" dirty="0">
                <a:solidFill>
                  <a:srgbClr val="2D2C2C"/>
                </a:solidFill>
                <a:latin typeface="+mn-lt"/>
                <a:cs typeface="Segoe UI"/>
              </a:rPr>
              <a:t>“</a:t>
            </a:r>
            <a:r>
              <a:rPr lang="en-US" b="1" noProof="0" dirty="0">
                <a:solidFill>
                  <a:srgbClr val="0000C7"/>
                </a:solidFill>
                <a:latin typeface="+mn-lt"/>
                <a:cs typeface="Segoe UI"/>
              </a:rPr>
              <a:t>z</a:t>
            </a:r>
            <a:r>
              <a:rPr lang="en-US" noProof="0" dirty="0">
                <a:solidFill>
                  <a:srgbClr val="2D2C2C"/>
                </a:solidFill>
                <a:latin typeface="+mn-lt"/>
                <a:cs typeface="Segoe UI"/>
              </a:rPr>
              <a:t>”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tools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, because they typically start with z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noProof="0" dirty="0">
              <a:latin typeface="+mn-lt"/>
              <a:cs typeface="Segoe UI"/>
            </a:endParaRP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D0EB1B9-974A-6BAF-F230-83624F89B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352475"/>
            <a:ext cx="6770687" cy="148694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7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usermod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-c "log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daemon" syslog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lnSpc>
                <a:spcPts val="1905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zdiff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/passwd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passwd.gz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lnSpc>
                <a:spcPts val="1641"/>
              </a:lnSpc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20c20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lnSpc>
                <a:spcPts val="1629"/>
              </a:lnSpc>
            </a:pPr>
            <a:r>
              <a:rPr lang="en-US" sz="14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lang="en-US" sz="14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syslog:x:101:103:log</a:t>
            </a:r>
            <a:r>
              <a:rPr lang="en-US" sz="1400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daemon:/home/syslog:/bin/false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lnSpc>
                <a:spcPts val="1629"/>
              </a:lnSpc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---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lnSpc>
                <a:spcPts val="1686"/>
              </a:lnSpc>
            </a:pPr>
            <a:r>
              <a:rPr lang="en-US" sz="14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400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syslog:x:101:103::/home/syslog:/bin/false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EA46FD-FD28-F22E-BAA8-61BE52CDE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926349"/>
            <a:ext cx="6770686" cy="104131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1199">
              <a:lnSpc>
                <a:spcPts val="1629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cp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/passwd ~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1199">
              <a:lnSpc>
                <a:spcPts val="1788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gzip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~/passwd</a:t>
            </a:r>
          </a:p>
          <a:p>
            <a:pPr marL="71199">
              <a:lnSpc>
                <a:spcPts val="1788"/>
              </a:lnSpc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zgrep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~/passwd.gz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1199">
              <a:lnSpc>
                <a:spcPts val="1788"/>
              </a:lnSpc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root::0:0:root:/root:/bin/bash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849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72141D-3A81-D84F-CDF9-4F694196B7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6AA0EAC-98DA-5C74-F3C2-AEE92FA01D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7142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BC04298-B649-CC9B-A37A-112F1DBE1A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8003393" cy="4665747"/>
          </a:xfrm>
        </p:spPr>
        <p:txBody>
          <a:bodyPr>
            <a:normAutofit/>
          </a:bodyPr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noProof="0" dirty="0"/>
              <a:t>You need to create an image copy of a disk. The tools available to you are </a:t>
            </a:r>
            <a:r>
              <a:rPr lang="en-US" b="1" noProof="0" dirty="0"/>
              <a:t>tar</a:t>
            </a:r>
            <a:r>
              <a:rPr lang="en-US" noProof="0" dirty="0"/>
              <a:t>, </a:t>
            </a:r>
            <a:r>
              <a:rPr lang="en-US" b="1" noProof="0" dirty="0"/>
              <a:t>dd</a:t>
            </a:r>
            <a:r>
              <a:rPr lang="en-US" noProof="0" dirty="0"/>
              <a:t>, </a:t>
            </a:r>
            <a:r>
              <a:rPr lang="en-US" b="1" noProof="0" dirty="0" err="1"/>
              <a:t>cpio</a:t>
            </a:r>
            <a:r>
              <a:rPr lang="en-US" noProof="0" dirty="0"/>
              <a:t>, and </a:t>
            </a:r>
            <a:r>
              <a:rPr lang="en-US" b="1" noProof="0" dirty="0"/>
              <a:t>dump</a:t>
            </a:r>
            <a:r>
              <a:rPr lang="en-US" noProof="0" dirty="0"/>
              <a:t>. Which of them is best for the task?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noProof="0" dirty="0"/>
              <a:t>Which of the contemporary compression tools gives the best compression ratio?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noProof="0" dirty="0"/>
              <a:t>Out of</a:t>
            </a:r>
            <a:r>
              <a:rPr lang="en-US" b="1" noProof="0" dirty="0"/>
              <a:t> tar</a:t>
            </a:r>
            <a:r>
              <a:rPr lang="en-US" noProof="0" dirty="0"/>
              <a:t>, </a:t>
            </a:r>
            <a:r>
              <a:rPr lang="en-US" b="1" noProof="0" dirty="0"/>
              <a:t>dd</a:t>
            </a:r>
            <a:r>
              <a:rPr lang="en-US" noProof="0" dirty="0"/>
              <a:t>, </a:t>
            </a:r>
            <a:r>
              <a:rPr lang="en-US" b="1" noProof="0" dirty="0" err="1"/>
              <a:t>cpio</a:t>
            </a:r>
            <a:r>
              <a:rPr lang="en-US" noProof="0" dirty="0"/>
              <a:t>, and </a:t>
            </a:r>
            <a:r>
              <a:rPr lang="en-US" b="1" noProof="0" dirty="0"/>
              <a:t>dump</a:t>
            </a:r>
            <a:r>
              <a:rPr lang="en-US" noProof="0" dirty="0"/>
              <a:t>, which utility backs up an entire ext3 file system?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noProof="0" dirty="0"/>
              <a:t>Which option to </a:t>
            </a:r>
            <a:r>
              <a:rPr lang="en-US" b="1" noProof="0" dirty="0"/>
              <a:t>tar </a:t>
            </a:r>
            <a:r>
              <a:rPr lang="en-US" noProof="0" dirty="0"/>
              <a:t>will list the contents of a tar archive?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noProof="0" dirty="0"/>
              <a:t>Which directory will</a:t>
            </a:r>
            <a:r>
              <a:rPr lang="en-US" b="1" noProof="0" dirty="0"/>
              <a:t> tar </a:t>
            </a:r>
            <a:r>
              <a:rPr lang="en-US" noProof="0" dirty="0"/>
              <a:t>place the files being restored (extracted)?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noProof="0" dirty="0"/>
              <a:t>What is (arguably) the simplest method of identifying all z tools available to you on your system? (Hint: this is more about using bash than testing your compression tool knowledge.) </a:t>
            </a:r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2861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6097F5-B511-A700-E7F9-AD14CA6EB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12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5056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D0B37A-FBFD-F854-C0B7-15FBF36CF9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399837"/>
          </a:xfrm>
        </p:spPr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Traditional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include: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53" noProof="0" dirty="0">
                <a:solidFill>
                  <a:srgbClr val="2D2C2C"/>
                </a:solidFill>
                <a:latin typeface="+mn-lt"/>
                <a:cs typeface="Segoe UI"/>
              </a:rPr>
              <a:t>Tape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archive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tar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Copying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stdin</a:t>
            </a:r>
            <a:r>
              <a:rPr lang="en-US" sz="1800" b="1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2D2C2C"/>
                </a:solidFill>
                <a:latin typeface="+mn-lt"/>
                <a:cs typeface="Segoe UI"/>
              </a:rPr>
              <a:t>stdout</a:t>
            </a:r>
            <a:r>
              <a:rPr lang="en-US" sz="1800" b="1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cpio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Copy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convert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6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dd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systems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synchronized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rsync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They’re applied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either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delta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copy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tool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network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service.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Modern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compression</a:t>
            </a:r>
            <a:r>
              <a:rPr lang="en-US" sz="1800" spc="6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tools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include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zip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gzip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,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bzip2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, and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xz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Compressed</a:t>
            </a:r>
            <a:r>
              <a:rPr lang="en-US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files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opened</a:t>
            </a:r>
            <a:r>
              <a:rPr lang="en-US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z</a:t>
            </a:r>
            <a:r>
              <a:rPr lang="en-US" b="1" spc="-4" noProof="0" dirty="0">
                <a:solidFill>
                  <a:srgbClr val="0000C7"/>
                </a:solidFill>
                <a:ea typeface="Hack" panose="020B0609030202020204" pitchFamily="49" charset="0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tools.</a:t>
            </a:r>
            <a:endParaRPr lang="en-US" noProof="0" dirty="0">
              <a:latin typeface="+mn-lt"/>
              <a:cs typeface="Segoe UI"/>
            </a:endParaRPr>
          </a:p>
          <a:p>
            <a:endParaRPr lang="en-US" sz="1800" noProof="0" dirty="0"/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131138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Blu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Yello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Red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Green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9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C71F1D-A98C-43DF-A986-061295C23702}">
  <ds:schemaRefs>
    <ds:schemaRef ds:uri="52e7f57a-cc1d-4bce-9b60-d9dd785361c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851bab5-d36a-4f24-a761-998180967d1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19575</TotalTime>
  <Words>3077</Words>
  <Application>Microsoft Office PowerPoint</Application>
  <PresentationFormat>Widescreen</PresentationFormat>
  <Paragraphs>416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29</vt:i4>
      </vt:variant>
    </vt:vector>
  </HeadingPairs>
  <TitlesOfParts>
    <vt:vector size="46" baseType="lpstr">
      <vt:lpstr>Aptos</vt:lpstr>
      <vt:lpstr>Arial</vt:lpstr>
      <vt:lpstr>Courier New</vt:lpstr>
      <vt:lpstr>DejaVu Sans Mono</vt:lpstr>
      <vt:lpstr>Figtree</vt:lpstr>
      <vt:lpstr>Hack</vt:lpstr>
      <vt:lpstr>Montserrat</vt:lpstr>
      <vt:lpstr>Segoe UI</vt:lpstr>
      <vt:lpstr>Cover Slides - Business/Marketing</vt:lpstr>
      <vt:lpstr>Divider Slides</vt:lpstr>
      <vt:lpstr>Blue Module</vt:lpstr>
      <vt:lpstr>Yellow Module</vt:lpstr>
      <vt:lpstr>Red Module</vt:lpstr>
      <vt:lpstr>Purple Module</vt:lpstr>
      <vt:lpstr>Orange Module</vt:lpstr>
      <vt:lpstr>Green Module</vt:lpstr>
      <vt:lpstr>B/W Module</vt:lpstr>
      <vt:lpstr>Module 12: Archive and Compression Tools</vt:lpstr>
      <vt:lpstr>Contents</vt:lpstr>
      <vt:lpstr>dd</vt:lpstr>
      <vt:lpstr>dd</vt:lpstr>
      <vt:lpstr>dd options</vt:lpstr>
      <vt:lpstr>Example: Clone a disk</vt:lpstr>
      <vt:lpstr>Example: Create a zeroed-out file</vt:lpstr>
      <vt:lpstr>tar</vt:lpstr>
      <vt:lpstr>tar command</vt:lpstr>
      <vt:lpstr>tar options</vt:lpstr>
      <vt:lpstr>jar command (solaris)</vt:lpstr>
      <vt:lpstr>cpio</vt:lpstr>
      <vt:lpstr>cpio command</vt:lpstr>
      <vt:lpstr>Examples</vt:lpstr>
      <vt:lpstr>pax</vt:lpstr>
      <vt:lpstr>pax command</vt:lpstr>
      <vt:lpstr>rsync</vt:lpstr>
      <vt:lpstr>rsync command</vt:lpstr>
      <vt:lpstr>rsync options</vt:lpstr>
      <vt:lpstr>rsync options</vt:lpstr>
      <vt:lpstr>Compression</vt:lpstr>
      <vt:lpstr>Traditional tools</vt:lpstr>
      <vt:lpstr>Modern tools</vt:lpstr>
      <vt:lpstr>Modern tools with tar</vt:lpstr>
      <vt:lpstr>z tools</vt:lpstr>
      <vt:lpstr>Review and lab</vt:lpstr>
      <vt:lpstr>Review questions</vt:lpstr>
      <vt:lpstr>Practical exercise 12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Cameron, Donald</cp:lastModifiedBy>
  <cp:revision>50</cp:revision>
  <dcterms:created xsi:type="dcterms:W3CDTF">2024-06-24T11:44:08Z</dcterms:created>
  <dcterms:modified xsi:type="dcterms:W3CDTF">2026-06-05T09:02:51Z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