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5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6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7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660" r:id="rId6"/>
    <p:sldMasterId id="2147483885" r:id="rId7"/>
    <p:sldMasterId id="2147483897" r:id="rId8"/>
    <p:sldMasterId id="2147483908" r:id="rId9"/>
    <p:sldMasterId id="2147483919" r:id="rId10"/>
    <p:sldMasterId id="2147483930" r:id="rId11"/>
  </p:sldMasterIdLst>
  <p:notesMasterIdLst>
    <p:notesMasterId r:id="rId40"/>
  </p:notesMasterIdLst>
  <p:sldIdLst>
    <p:sldId id="1252" r:id="rId12"/>
    <p:sldId id="1253" r:id="rId13"/>
    <p:sldId id="1254" r:id="rId14"/>
    <p:sldId id="1255" r:id="rId15"/>
    <p:sldId id="1256" r:id="rId16"/>
    <p:sldId id="1257" r:id="rId17"/>
    <p:sldId id="1258" r:id="rId18"/>
    <p:sldId id="1259" r:id="rId19"/>
    <p:sldId id="1260" r:id="rId20"/>
    <p:sldId id="1636" r:id="rId21"/>
    <p:sldId id="749" r:id="rId22"/>
    <p:sldId id="1261" r:id="rId23"/>
    <p:sldId id="1262" r:id="rId24"/>
    <p:sldId id="1263" r:id="rId25"/>
    <p:sldId id="1634" r:id="rId26"/>
    <p:sldId id="1265" r:id="rId27"/>
    <p:sldId id="747" r:id="rId28"/>
    <p:sldId id="1266" r:id="rId29"/>
    <p:sldId id="748" r:id="rId30"/>
    <p:sldId id="1267" r:id="rId31"/>
    <p:sldId id="1268" r:id="rId32"/>
    <p:sldId id="1269" r:id="rId33"/>
    <p:sldId id="1270" r:id="rId34"/>
    <p:sldId id="1637" r:id="rId35"/>
    <p:sldId id="1271" r:id="rId36"/>
    <p:sldId id="1635" r:id="rId37"/>
    <p:sldId id="1273" r:id="rId38"/>
    <p:sldId id="127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252"/>
            <p14:sldId id="1253"/>
            <p14:sldId id="1254"/>
            <p14:sldId id="1255"/>
            <p14:sldId id="1256"/>
            <p14:sldId id="1257"/>
            <p14:sldId id="1258"/>
            <p14:sldId id="1259"/>
            <p14:sldId id="1260"/>
            <p14:sldId id="1636"/>
            <p14:sldId id="749"/>
            <p14:sldId id="1261"/>
            <p14:sldId id="1262"/>
            <p14:sldId id="1263"/>
            <p14:sldId id="1634"/>
            <p14:sldId id="1265"/>
            <p14:sldId id="747"/>
            <p14:sldId id="1266"/>
            <p14:sldId id="748"/>
            <p14:sldId id="1267"/>
            <p14:sldId id="1268"/>
            <p14:sldId id="1269"/>
            <p14:sldId id="1270"/>
            <p14:sldId id="1637"/>
            <p14:sldId id="1271"/>
            <p14:sldId id="1635"/>
            <p14:sldId id="1273"/>
            <p14:sldId id="12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5"/>
    <p:restoredTop sz="87663" autoAdjust="0"/>
  </p:normalViewPr>
  <p:slideViewPr>
    <p:cSldViewPr snapToGrid="0">
      <p:cViewPr>
        <p:scale>
          <a:sx n="100" d="100"/>
          <a:sy n="100" d="100"/>
        </p:scale>
        <p:origin x="58" y="-2006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399"/>
    </p:cViewPr>
  </p:sorterViewPr>
  <p:notesViewPr>
    <p:cSldViewPr snapToGrid="0">
      <p:cViewPr>
        <p:scale>
          <a:sx n="90" d="100"/>
          <a:sy n="90" d="100"/>
        </p:scale>
        <p:origin x="1808" y="-38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microsoft.com/office/2018/10/relationships/authors" Target="authors.xml"/><Relationship Id="rId20" Type="http://schemas.openxmlformats.org/officeDocument/2006/relationships/slide" Target="slides/slide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26440A78-53DD-414F-9F58-CE168696DAF9}"/>
    <pc:docChg chg="undo redo custSel modSld delMainMaster">
      <pc:chgData name="Feist, Ella" userId="992bbaf2-811d-42cb-a4d6-e7fc45e325e8" providerId="ADAL" clId="{26440A78-53DD-414F-9F58-CE168696DAF9}" dt="2025-05-28T08:39:03.139" v="427" actId="790"/>
      <pc:docMkLst>
        <pc:docMk/>
      </pc:docMkLst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2760337147" sldId="747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3" creationId="{66786781-6D75-A6D0-B973-385376969E23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4" creationId="{3CBA3E78-18CA-67BE-AF26-948D0B4E11D9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0337147" sldId="747"/>
            <ac:spMk id="7" creationId="{4AAEFC68-9C8F-B16B-FB05-0398F772A960}"/>
          </ac:spMkLst>
        </pc:spChg>
      </pc:sldChg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2762441717" sldId="748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3" creationId="{7686CAC8-6EFF-247C-CC47-C88684D07EFA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4" creationId="{E03E1C48-67DC-5580-6689-3001DA0248A1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7" creationId="{BCB729FF-935A-8BD9-68A9-9BCD1AFC3846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8" creationId="{0D35924D-066B-8A12-F131-746B9937EF98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2441717" sldId="748"/>
            <ac:spMk id="9" creationId="{C595A5B3-6C0F-1FFF-D5AD-EDAD38DE3DA4}"/>
          </ac:spMkLst>
        </pc:spChg>
      </pc:sldChg>
      <pc:sldChg chg="addSp delSp modSp mod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4113635062" sldId="749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13635062" sldId="749"/>
            <ac:spMk id="2" creationId="{D7EC235F-614F-714E-A97F-4FF50EFF14FD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13635062" sldId="749"/>
            <ac:spMk id="4" creationId="{E9C5A723-C0B1-124B-8CB6-AA3105C9A4E6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13635062" sldId="749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3150091271" sldId="1252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50091271" sldId="1252"/>
            <ac:spMk id="2" creationId="{0D6F7DA0-515F-00A6-F8A6-49243C6BE32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50091271" sldId="1252"/>
            <ac:spMk id="4" creationId="{441B5810-8C67-B742-B639-848419728702}"/>
          </ac:spMkLst>
        </pc:spChg>
        <pc:graphicFrameChg chg="mod modGraphic">
          <ac:chgData name="Feist, Ella" userId="992bbaf2-811d-42cb-a4d6-e7fc45e325e8" providerId="ADAL" clId="{26440A78-53DD-414F-9F58-CE168696DAF9}" dt="2025-05-28T08:39:03.139" v="427" actId="790"/>
          <ac:graphicFrameMkLst>
            <pc:docMk/>
            <pc:sldMk cId="3150091271" sldId="1252"/>
            <ac:graphicFrameMk id="6" creationId="{4AFD6687-52B8-85AB-03C8-FA0459E22E43}"/>
          </ac:graphicFrameMkLst>
        </pc:graphicFrame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3744305856" sldId="1253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744305856" sldId="1253"/>
            <ac:spMk id="4" creationId="{00000000-0000-0000-0000-00000000000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744305856" sldId="1253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824525718" sldId="1254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24525718" sldId="1254"/>
            <ac:spMk id="2" creationId="{3441686D-C4C6-333C-53A6-744DAC9EF1FE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24525718" sldId="1254"/>
            <ac:spMk id="4" creationId="{9ED32BBC-8A3B-5FB1-DB0F-B65F461BDA2D}"/>
          </ac:spMkLst>
        </pc:spChg>
      </pc:sldChg>
      <pc:sldChg chg="addSp delSp modSp mod modClrScheme chgLayout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361999749" sldId="1255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61999749" sldId="1255"/>
            <ac:spMk id="2" creationId="{A9A6FF77-D641-4417-92E7-11CC6238BF20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61999749" sldId="1255"/>
            <ac:spMk id="3" creationId="{4EC83D9C-9D8D-AA37-6B35-591B5802A7A5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61999749" sldId="1255"/>
            <ac:spMk id="5" creationId="{91A8ED3D-B755-43C9-BCB1-DCF495C0C9DB}"/>
          </ac:spMkLst>
        </pc:spChg>
      </pc:sldChg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4154788712" sldId="1256"/>
        </pc:sldMkLst>
        <pc:spChg chg="mod">
          <ac:chgData name="Feist, Ella" userId="992bbaf2-811d-42cb-a4d6-e7fc45e325e8" providerId="ADAL" clId="{26440A78-53DD-414F-9F58-CE168696DAF9}" dt="2025-05-28T08:24:27.814" v="57" actId="114"/>
          <ac:spMkLst>
            <pc:docMk/>
            <pc:sldMk cId="4154788712" sldId="1256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8" creationId="{6F4C12C0-25D3-0A76-3694-F2A4E845FE8E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17" creationId="{0834A03F-A917-A6A5-6CFD-490084402651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19" creationId="{DA6F94D3-2B87-01B5-E8A1-8645B644DA6A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0" creationId="{292ECA2B-E890-E725-AACB-362AE8C783B9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2" creationId="{4AA7ECCE-AD2A-DEB4-4B12-6782DBC72354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4" creationId="{4B896EA5-AD23-FFF2-E1D5-685A855F4537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5" creationId="{0A2D9C34-6246-BE3A-8126-7D25456AA10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6" creationId="{3AE4D251-A03F-4322-E283-7A321B22B89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7" creationId="{6AB54F5C-C286-EC95-854E-9289F5B0CBB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4154788712" sldId="1256"/>
            <ac:spMk id="29" creationId="{0820A2A5-2BA3-3C83-D9D2-063CEC39E489}"/>
          </ac:spMkLst>
        </pc:spChg>
      </pc:sldChg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3160525289" sldId="1257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3" creationId="{331F8CEB-7DE2-4521-EBF8-0C7F36DB8E6C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7" creationId="{CF4F9CDB-FBBB-8DED-4995-E86B75AA029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8" creationId="{6925EDF9-DAA6-4D98-301F-DF6FAE09C5DD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9" creationId="{1ADB2644-50F8-76B4-FB8A-18258561F32D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10" creationId="{5A2EA8B5-7149-6F56-BFB4-9B1011741CCC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11" creationId="{1A024438-FC1B-F197-8C51-D8EE9E1DE43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60525289" sldId="1257"/>
            <ac:spMk id="12" creationId="{CDBB7197-F7F5-D7BD-05FF-0474B44F8A1C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1582559393" sldId="1258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82559393" sldId="1258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82559393" sldId="1258"/>
            <ac:spMk id="4" creationId="{F390711B-2B17-0C8D-55EF-835A11A94E33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82559393" sldId="1258"/>
            <ac:spMk id="5" creationId="{91A8ED3D-B755-43C9-BCB1-DCF495C0C9DB}"/>
          </ac:spMkLst>
        </pc:spChg>
        <pc:graphicFrameChg chg="mod modGraphic">
          <ac:chgData name="Feist, Ella" userId="992bbaf2-811d-42cb-a4d6-e7fc45e325e8" providerId="ADAL" clId="{26440A78-53DD-414F-9F58-CE168696DAF9}" dt="2025-05-28T08:39:03.139" v="427" actId="790"/>
          <ac:graphicFrameMkLst>
            <pc:docMk/>
            <pc:sldMk cId="1582559393" sldId="1258"/>
            <ac:graphicFrameMk id="6" creationId="{E48FEC91-E751-16C2-19B6-DAD86199BCA0}"/>
          </ac:graphicFrameMkLst>
        </pc:graphicFrame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588544599" sldId="1259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3" creationId="{CE623A3A-35EF-5600-C98A-346E08B73431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24" creationId="{087FB8D9-BDA6-0A4F-5B0E-D6DA78EC1CE1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26" creationId="{C464C011-A7EA-981B-9DD9-0024A01CB303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588544599" sldId="1259"/>
            <ac:spMk id="27" creationId="{5BDBF962-E7E2-E376-B119-63F83E804BBF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2785559713" sldId="1260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85559713" sldId="1260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85559713" sldId="1260"/>
            <ac:spMk id="3" creationId="{FA86B48D-2965-AB1A-4ED2-BA9D3042FABF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85559713" sldId="1260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85559713" sldId="1260"/>
            <ac:spMk id="27" creationId="{5BDBF962-E7E2-E376-B119-63F83E804BBF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2203625735" sldId="1261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203625735" sldId="1261"/>
            <ac:spMk id="2" creationId="{DEB6C192-60F2-5F67-1FA2-0906BB25BB8E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203625735" sldId="1261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1541242203" sldId="1262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3" creationId="{965BAD86-C4BF-324D-00F6-D2A8CCB0ADA8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0" creationId="{8958387E-9E44-6F8D-0CFD-EDC2615C987F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1" creationId="{4B324039-4CE0-927F-B58E-B5AC2B2A0365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2" creationId="{AA9C8CE5-4382-5ABE-67F8-99C551341F5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4" creationId="{67AD576E-BC91-4824-986D-37E2D0FF668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5" creationId="{1DF3A382-FC47-6D3B-2898-B408A20A98E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41242203" sldId="1262"/>
            <ac:spMk id="26" creationId="{E7715AB1-E7F9-D77F-4291-F0E2A8E950DD}"/>
          </ac:spMkLst>
        </pc:spChg>
        <pc:graphicFrameChg chg="mod modGraphic">
          <ac:chgData name="Feist, Ella" userId="992bbaf2-811d-42cb-a4d6-e7fc45e325e8" providerId="ADAL" clId="{26440A78-53DD-414F-9F58-CE168696DAF9}" dt="2025-05-28T08:39:03.139" v="427" actId="790"/>
          <ac:graphicFrameMkLst>
            <pc:docMk/>
            <pc:sldMk cId="1541242203" sldId="1262"/>
            <ac:graphicFrameMk id="6" creationId="{984930CA-9A73-146E-4B61-FB0F1E14A6AB}"/>
          </ac:graphicFrameMkLst>
        </pc:graphicFrameChg>
      </pc:sldChg>
      <pc:sldChg chg="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1745394595" sldId="1263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745394595" sldId="1263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745394595" sldId="1263"/>
            <ac:spMk id="4" creationId="{C0FF8B7A-B8B6-1A01-043A-42918C06FC14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745394595" sldId="1263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745394595" sldId="1263"/>
            <ac:spMk id="27" creationId="{31015B42-C6C7-BEA3-AF27-9C4D7CCA9314}"/>
          </ac:spMkLst>
        </pc:spChg>
        <pc:graphicFrameChg chg="mod modGraphic">
          <ac:chgData name="Feist, Ella" userId="992bbaf2-811d-42cb-a4d6-e7fc45e325e8" providerId="ADAL" clId="{26440A78-53DD-414F-9F58-CE168696DAF9}" dt="2025-05-28T08:39:03.139" v="427" actId="790"/>
          <ac:graphicFrameMkLst>
            <pc:docMk/>
            <pc:sldMk cId="1745394595" sldId="1263"/>
            <ac:graphicFrameMk id="6" creationId="{2B28CDC4-84D2-D0D0-939F-04CD00A7C9C1}"/>
          </ac:graphicFrameMkLst>
        </pc:graphicFrame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2767413978" sldId="1265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7413978" sldId="1265"/>
            <ac:spMk id="2" creationId="{E9F12BBB-3F21-9E2F-2A23-1E5ACA539536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767413978" sldId="1265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1559946414" sldId="1266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2" creationId="{A9A6FF77-D641-4417-92E7-11CC6238BF20}"/>
          </ac:spMkLst>
        </pc:spChg>
        <pc:spChg chg="mod">
          <ac:chgData name="Feist, Ella" userId="992bbaf2-811d-42cb-a4d6-e7fc45e325e8" providerId="ADAL" clId="{26440A78-53DD-414F-9F58-CE168696DAF9}" dt="2025-05-28T08:31:35.766" v="213"/>
          <ac:spMkLst>
            <pc:docMk/>
            <pc:sldMk cId="1559946414" sldId="1266"/>
            <ac:spMk id="3" creationId="{8C1B0BBD-F4A2-01D1-2B6D-AD37A8F7E748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5" creationId="{91A8ED3D-B755-43C9-BCB1-DCF495C0C9D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7" creationId="{CD900F1B-D180-57C3-A00F-E4F41B4E0F05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9" creationId="{A3CF35A4-0406-3535-7757-3F31563D9207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1" creationId="{7A822AF8-A6BF-A543-FF02-E98E6E5E019B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3" creationId="{27F96485-742D-8157-4610-4EA4113FA8C4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4" creationId="{9859F644-24C5-1373-3AD4-4A3AE7E61F7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6" creationId="{36BDA6CB-C96B-E593-55B4-18D3260C0B0D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17" creationId="{F0B866D7-E968-6319-6D43-D239EF85C369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559946414" sldId="1266"/>
            <ac:spMk id="23" creationId="{C7929642-A0C4-99EA-DC31-49AF44917A11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1813473797" sldId="1267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813473797" sldId="1267"/>
            <ac:spMk id="2" creationId="{692CF2B6-5DF9-564F-F3B6-FBDC24F17DD5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813473797" sldId="1267"/>
            <ac:spMk id="4" creationId="{9ED32BBC-8A3B-5FB1-DB0F-B65F461BDA2D}"/>
          </ac:spMkLst>
        </pc:spChg>
      </pc:sldChg>
      <pc:sldChg chg="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1003584387" sldId="1268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003584387" sldId="1268"/>
            <ac:spMk id="2" creationId="{A9A6FF77-D641-4417-92E7-11CC6238BF20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003584387" sldId="1268"/>
            <ac:spMk id="3" creationId="{C31EA596-2349-F458-370A-0EEE36AB5128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1003584387" sldId="1268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3312082764" sldId="1269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312082764" sldId="1269"/>
            <ac:spMk id="2" creationId="{A9A6FF77-D641-4417-92E7-11CC6238BF20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312082764" sldId="1269"/>
            <ac:spMk id="3" creationId="{582831A4-DA05-6E92-2FFD-020F13081F64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312082764" sldId="1269"/>
            <ac:spMk id="5" creationId="{91A8ED3D-B755-43C9-BCB1-DCF495C0C9DB}"/>
          </ac:spMkLst>
        </pc:spChg>
      </pc:sldChg>
      <pc:sldChg chg="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3031422137" sldId="1270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31422137" sldId="1270"/>
            <ac:spMk id="2" creationId="{A9A6FF77-D641-4417-92E7-11CC6238BF20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31422137" sldId="1270"/>
            <ac:spMk id="3" creationId="{E9BD7FE2-6CB2-4915-F13E-1DEE841E71D9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31422137" sldId="1270"/>
            <ac:spMk id="5" creationId="{91A8ED3D-B755-43C9-BCB1-DCF495C0C9DB}"/>
          </ac:spMkLst>
        </pc:spChg>
      </pc:sldChg>
      <pc:sldChg chg="delSp modSp mod modNotesTx">
        <pc:chgData name="Feist, Ella" userId="992bbaf2-811d-42cb-a4d6-e7fc45e325e8" providerId="ADAL" clId="{26440A78-53DD-414F-9F58-CE168696DAF9}" dt="2025-05-28T08:39:03.139" v="427" actId="790"/>
        <pc:sldMkLst>
          <pc:docMk/>
          <pc:sldMk cId="3829473832" sldId="1271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829473832" sldId="1271"/>
            <ac:spMk id="2" creationId="{D7EC235F-614F-714E-A97F-4FF50EFF14FD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829473832" sldId="1271"/>
            <ac:spMk id="4" creationId="{E9C5A723-C0B1-124B-8CB6-AA3105C9A4E6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829473832" sldId="1271"/>
            <ac:spMk id="7" creationId="{0DCF697C-464C-E908-57DA-E7F11641A768}"/>
          </ac:spMkLst>
        </pc:spChg>
      </pc:sldChg>
      <pc:sldChg chg="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312593699" sldId="1273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2593699" sldId="1273"/>
            <ac:spMk id="2" creationId="{F111C5DB-635E-4576-A4C3-837B7E452E1E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2593699" sldId="1273"/>
            <ac:spMk id="3" creationId="{25AA8E6E-5647-323C-BB3C-1208BBC4FA08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12593699" sldId="1273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2103171691" sldId="1274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103171691" sldId="1274"/>
            <ac:spMk id="4" creationId="{88E1E207-3547-F3BE-10C1-6946FD1B953F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103171691" sldId="1274"/>
            <ac:spMk id="5" creationId="{470A5CC7-66A1-0582-2B3B-A714CB839874}"/>
          </ac:spMkLst>
        </pc:spChg>
      </pc:sldChg>
      <pc:sldChg chg="addSp delSp modSp mod modClrScheme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77730791" sldId="1634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77730791" sldId="1634"/>
            <ac:spMk id="2" creationId="{D7EC235F-614F-714E-A97F-4FF50EFF14FD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77730791" sldId="1634"/>
            <ac:spMk id="4" creationId="{E9C5A723-C0B1-124B-8CB6-AA3105C9A4E6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77730791" sldId="1634"/>
            <ac:spMk id="5" creationId="{CB529D89-2C5B-1819-6C27-05FDDCBC2900}"/>
          </ac:spMkLst>
        </pc:spChg>
      </pc:sldChg>
      <pc:sldChg chg="addSp delSp modSp mod chgLayout">
        <pc:chgData name="Feist, Ella" userId="992bbaf2-811d-42cb-a4d6-e7fc45e325e8" providerId="ADAL" clId="{26440A78-53DD-414F-9F58-CE168696DAF9}" dt="2025-05-28T08:39:03.139" v="427" actId="790"/>
        <pc:sldMkLst>
          <pc:docMk/>
          <pc:sldMk cId="2880264028" sldId="1635"/>
        </pc:sldMkLst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880264028" sldId="1635"/>
            <ac:spMk id="2" creationId="{D7EC235F-614F-714E-A97F-4FF50EFF14FD}"/>
          </ac:spMkLst>
        </pc:spChg>
        <pc:spChg chg="add del 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880264028" sldId="1635"/>
            <ac:spMk id="4" creationId="{E9C5A723-C0B1-124B-8CB6-AA3105C9A4E6}"/>
          </ac:spMkLst>
        </pc:spChg>
        <pc:spChg chg="mod or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2880264028" sldId="1635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3082780218" sldId="1636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82780218" sldId="1636"/>
            <ac:spMk id="4" creationId="{C9F99D8E-097D-CD6C-8B5A-B0F13B6A46D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82780218" sldId="1636"/>
            <ac:spMk id="5" creationId="{E3F5831A-BF14-4EAB-0E6A-B8A8A38AC97F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3082780218" sldId="1636"/>
            <ac:spMk id="6" creationId="{9C355AE3-7D45-B3C2-C5AF-45716DC50114}"/>
          </ac:spMkLst>
        </pc:spChg>
      </pc:sldChg>
      <pc:sldChg chg="modSp mod">
        <pc:chgData name="Feist, Ella" userId="992bbaf2-811d-42cb-a4d6-e7fc45e325e8" providerId="ADAL" clId="{26440A78-53DD-414F-9F58-CE168696DAF9}" dt="2025-05-28T08:39:03.139" v="427" actId="790"/>
        <pc:sldMkLst>
          <pc:docMk/>
          <pc:sldMk cId="848188201" sldId="1637"/>
        </pc:sldMkLst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48188201" sldId="1637"/>
            <ac:spMk id="4" creationId="{EEEE7D08-A1E1-054A-D7A8-EA36A9E5953C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48188201" sldId="1637"/>
            <ac:spMk id="5" creationId="{2B05EA98-0C25-B3BF-D845-10CB9D353FD2}"/>
          </ac:spMkLst>
        </pc:spChg>
        <pc:spChg chg="mod">
          <ac:chgData name="Feist, Ella" userId="992bbaf2-811d-42cb-a4d6-e7fc45e325e8" providerId="ADAL" clId="{26440A78-53DD-414F-9F58-CE168696DAF9}" dt="2025-05-28T08:39:03.139" v="427" actId="790"/>
          <ac:spMkLst>
            <pc:docMk/>
            <pc:sldMk cId="848188201" sldId="1637"/>
            <ac:spMk id="6" creationId="{F8BE1548-21D3-1BE2-B350-CBBB93247E5D}"/>
          </ac:spMkLst>
        </pc:spChg>
      </pc:sld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684537100" sldId="2147483874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26440A78-53DD-414F-9F58-CE168696DAF9}" dt="2025-05-28T08:22:50.399" v="4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26440A78-53DD-414F-9F58-CE168696DAF9}" dt="2025-05-28T08:22:50.399" v="4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  <pc:docChgLst>
    <pc:chgData name="Feist, Ella" userId="992bbaf2-811d-42cb-a4d6-e7fc45e325e8" providerId="ADAL" clId="{449FF204-88C9-4652-9230-69737649BD49}"/>
    <pc:docChg chg="modSld">
      <pc:chgData name="Feist, Ella" userId="992bbaf2-811d-42cb-a4d6-e7fc45e325e8" providerId="ADAL" clId="{449FF204-88C9-4652-9230-69737649BD49}" dt="2025-05-30T10:51:50.333" v="28" actId="207"/>
      <pc:docMkLst>
        <pc:docMk/>
      </pc:docMkLst>
      <pc:sldChg chg="modSp mod modNotes">
        <pc:chgData name="Feist, Ella" userId="992bbaf2-811d-42cb-a4d6-e7fc45e325e8" providerId="ADAL" clId="{449FF204-88C9-4652-9230-69737649BD49}" dt="2025-05-30T10:51:33.197" v="23" actId="207"/>
        <pc:sldMkLst>
          <pc:docMk/>
          <pc:sldMk cId="2760337147" sldId="747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3" creationId="{66786781-6D75-A6D0-B973-385376969E23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4" creationId="{3CBA3E78-18CA-67BE-AF26-948D0B4E11D9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0337147" sldId="747"/>
            <ac:spMk id="7" creationId="{4AAEFC68-9C8F-B16B-FB05-0398F772A960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39.759" v="25" actId="20577"/>
        <pc:sldMkLst>
          <pc:docMk/>
          <pc:sldMk cId="2762441717" sldId="748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3" creationId="{7686CAC8-6EFF-247C-CC47-C88684D07EFA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4" creationId="{E03E1C48-67DC-5580-6689-3001DA0248A1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7" creationId="{BCB729FF-935A-8BD9-68A9-9BCD1AFC384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8" creationId="{0D35924D-066B-8A12-F131-746B9937EF98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2441717" sldId="748"/>
            <ac:spMk id="9" creationId="{C595A5B3-6C0F-1FFF-D5AD-EDAD38DE3DA4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4113635062" sldId="749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13635062" sldId="749"/>
            <ac:spMk id="2" creationId="{D7EC235F-614F-714E-A97F-4FF50EFF14F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13635062" sldId="749"/>
            <ac:spMk id="4" creationId="{E9C5A723-C0B1-124B-8CB6-AA3105C9A4E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13635062" sldId="749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150091271" sldId="1252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50091271" sldId="1252"/>
            <ac:spMk id="2" creationId="{0D6F7DA0-515F-00A6-F8A6-49243C6BE32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50091271" sldId="1252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449FF204-88C9-4652-9230-69737649BD49}" dt="2025-05-30T10:50:52.854" v="7" actId="790"/>
          <ac:graphicFrameMkLst>
            <pc:docMk/>
            <pc:sldMk cId="3150091271" sldId="1252"/>
            <ac:graphicFrameMk id="6" creationId="{4AFD6687-52B8-85AB-03C8-FA0459E22E43}"/>
          </ac:graphicFrameMkLst>
        </pc:graphicFrame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744305856" sldId="1253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744305856" sldId="1253"/>
            <ac:spMk id="4" creationId="{00000000-0000-0000-0000-00000000000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744305856" sldId="1253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824525718" sldId="1254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24525718" sldId="1254"/>
            <ac:spMk id="2" creationId="{3441686D-C4C6-333C-53A6-744DAC9EF1F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24525718" sldId="1254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449FF204-88C9-4652-9230-69737649BD49}" dt="2025-05-30T10:50:52.854" v="7" actId="790"/>
        <pc:sldMkLst>
          <pc:docMk/>
          <pc:sldMk cId="361999749" sldId="1255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61999749" sldId="1255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61999749" sldId="1255"/>
            <ac:spMk id="3" creationId="{4EC83D9C-9D8D-AA37-6B35-591B5802A7A5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61999749" sldId="1255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449FF204-88C9-4652-9230-69737649BD49}" dt="2025-05-30T10:50:52.854" v="7" actId="790"/>
        <pc:sldMkLst>
          <pc:docMk/>
          <pc:sldMk cId="4154788712" sldId="1256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7" creationId="{51FF51FB-FFDE-075D-457E-DF4528D3C5A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8" creationId="{6F4C12C0-25D3-0A76-3694-F2A4E845FE8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14" creationId="{59FE4BF5-7F3E-9F49-5F28-925F9DF7F4D4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17" creationId="{0834A03F-A917-A6A5-6CFD-490084402651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0" creationId="{292ECA2B-E890-E725-AACB-362AE8C783B9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3" creationId="{7DD7F962-FE59-FE39-0E3C-CBF2B7D0FA6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4" creationId="{4B896EA5-AD23-FFF2-E1D5-685A855F4537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5" creationId="{0A2D9C34-6246-BE3A-8126-7D25456AA10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4154788712" sldId="1256"/>
            <ac:spMk id="27" creationId="{6AB54F5C-C286-EC95-854E-9289F5B0CBBB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02.443" v="9" actId="14100"/>
        <pc:sldMkLst>
          <pc:docMk/>
          <pc:sldMk cId="3160525289" sldId="1257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3" creationId="{331F8CEB-7DE2-4521-EBF8-0C7F36DB8E6C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7" creationId="{CF4F9CDB-FBBB-8DED-4995-E86B75AA029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8" creationId="{6925EDF9-DAA6-4D98-301F-DF6FAE09C5D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9" creationId="{1ADB2644-50F8-76B4-FB8A-18258561F32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10" creationId="{5A2EA8B5-7149-6F56-BFB4-9B1011741CCC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11" creationId="{1A024438-FC1B-F197-8C51-D8EE9E1DE43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60525289" sldId="1257"/>
            <ac:spMk id="12" creationId="{CDBB7197-F7F5-D7BD-05FF-0474B44F8A1C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1582559393" sldId="1258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82559393" sldId="1258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82559393" sldId="1258"/>
            <ac:spMk id="4" creationId="{F390711B-2B17-0C8D-55EF-835A11A94E33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82559393" sldId="1258"/>
            <ac:spMk id="5" creationId="{91A8ED3D-B755-43C9-BCB1-DCF495C0C9DB}"/>
          </ac:spMkLst>
        </pc:spChg>
        <pc:graphicFrameChg chg="modGraphic">
          <ac:chgData name="Feist, Ella" userId="992bbaf2-811d-42cb-a4d6-e7fc45e325e8" providerId="ADAL" clId="{449FF204-88C9-4652-9230-69737649BD49}" dt="2025-05-30T10:50:52.854" v="7" actId="790"/>
          <ac:graphicFrameMkLst>
            <pc:docMk/>
            <pc:sldMk cId="1582559393" sldId="1258"/>
            <ac:graphicFrameMk id="6" creationId="{E48FEC91-E751-16C2-19B6-DAD86199BCA0}"/>
          </ac:graphicFrameMkLst>
        </pc:graphicFrame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588544599" sldId="1259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3" creationId="{CE623A3A-35EF-5600-C98A-346E08B73431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24" creationId="{087FB8D9-BDA6-0A4F-5B0E-D6DA78EC1CE1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26" creationId="{C464C011-A7EA-981B-9DD9-0024A01CB303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588544599" sldId="1259"/>
            <ac:spMk id="27" creationId="{5BDBF962-E7E2-E376-B119-63F83E804BBF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785559713" sldId="1260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85559713" sldId="1260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85559713" sldId="1260"/>
            <ac:spMk id="3" creationId="{FA86B48D-2965-AB1A-4ED2-BA9D3042FABF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85559713" sldId="1260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85559713" sldId="1260"/>
            <ac:spMk id="27" creationId="{5BDBF962-E7E2-E376-B119-63F83E804BBF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203625735" sldId="1261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203625735" sldId="1261"/>
            <ac:spMk id="2" creationId="{DEB6C192-60F2-5F67-1FA2-0906BB25BB8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203625735" sldId="1261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1541242203" sldId="1262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3" creationId="{965BAD86-C4BF-324D-00F6-D2A8CCB0ADA8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0" creationId="{8958387E-9E44-6F8D-0CFD-EDC2615C987F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1" creationId="{4B324039-4CE0-927F-B58E-B5AC2B2A0365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2" creationId="{AA9C8CE5-4382-5ABE-67F8-99C551341F5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4" creationId="{67AD576E-BC91-4824-986D-37E2D0FF668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5" creationId="{1DF3A382-FC47-6D3B-2898-B408A20A98E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41242203" sldId="1262"/>
            <ac:spMk id="26" creationId="{E7715AB1-E7F9-D77F-4291-F0E2A8E950DD}"/>
          </ac:spMkLst>
        </pc:spChg>
        <pc:graphicFrameChg chg="modGraphic">
          <ac:chgData name="Feist, Ella" userId="992bbaf2-811d-42cb-a4d6-e7fc45e325e8" providerId="ADAL" clId="{449FF204-88C9-4652-9230-69737649BD49}" dt="2025-05-30T10:50:52.854" v="7" actId="790"/>
          <ac:graphicFrameMkLst>
            <pc:docMk/>
            <pc:sldMk cId="1541242203" sldId="1262"/>
            <ac:graphicFrameMk id="6" creationId="{984930CA-9A73-146E-4B61-FB0F1E14A6AB}"/>
          </ac:graphicFrameMkLst>
        </pc:graphicFrameChg>
      </pc:sldChg>
      <pc:sldChg chg="modSp mod modNotes">
        <pc:chgData name="Feist, Ella" userId="992bbaf2-811d-42cb-a4d6-e7fc45e325e8" providerId="ADAL" clId="{449FF204-88C9-4652-9230-69737649BD49}" dt="2025-05-30T10:51:08.614" v="10" actId="207"/>
        <pc:sldMkLst>
          <pc:docMk/>
          <pc:sldMk cId="1745394595" sldId="1263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745394595" sldId="1263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745394595" sldId="1263"/>
            <ac:spMk id="4" creationId="{C0FF8B7A-B8B6-1A01-043A-42918C06FC14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745394595" sldId="1263"/>
            <ac:spMk id="5" creationId="{91A8ED3D-B755-43C9-BCB1-DCF495C0C9DB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745394595" sldId="1263"/>
            <ac:spMk id="27" creationId="{31015B42-C6C7-BEA3-AF27-9C4D7CCA9314}"/>
          </ac:spMkLst>
        </pc:spChg>
        <pc:graphicFrameChg chg="modGraphic">
          <ac:chgData name="Feist, Ella" userId="992bbaf2-811d-42cb-a4d6-e7fc45e325e8" providerId="ADAL" clId="{449FF204-88C9-4652-9230-69737649BD49}" dt="2025-05-30T10:50:52.854" v="7" actId="790"/>
          <ac:graphicFrameMkLst>
            <pc:docMk/>
            <pc:sldMk cId="1745394595" sldId="1263"/>
            <ac:graphicFrameMk id="6" creationId="{2B28CDC4-84D2-D0D0-939F-04CD00A7C9C1}"/>
          </ac:graphicFrameMkLst>
        </pc:graphicFrame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767413978" sldId="1265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7413978" sldId="1265"/>
            <ac:spMk id="2" creationId="{E9F12BBB-3F21-9E2F-2A23-1E5ACA53953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767413978" sldId="1265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1559946414" sldId="1266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7" creationId="{CD900F1B-D180-57C3-A00F-E4F41B4E0F05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9" creationId="{A3CF35A4-0406-3535-7757-3F31563D9207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0" creationId="{25F0288E-4AEF-E907-BC6D-6D89BE8F078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2" creationId="{4BD4A7CE-38D2-8601-08B9-306982B2A21C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3" creationId="{27F96485-742D-8157-4610-4EA4113FA8C4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4" creationId="{9859F644-24C5-1373-3AD4-4A3AE7E61F7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5" creationId="{330A14C1-B287-4C98-A8C1-5C07C92A488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7" creationId="{F0B866D7-E968-6319-6D43-D239EF85C369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19" creationId="{27A31BE4-D5C6-B4B5-6B21-BA13659197FA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559946414" sldId="1266"/>
            <ac:spMk id="23" creationId="{C7929642-A0C4-99EA-DC31-49AF44917A11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1813473797" sldId="1267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813473797" sldId="1267"/>
            <ac:spMk id="2" creationId="{692CF2B6-5DF9-564F-F3B6-FBDC24F17DD5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813473797" sldId="1267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43.247" v="26" actId="207"/>
        <pc:sldMkLst>
          <pc:docMk/>
          <pc:sldMk cId="1003584387" sldId="1268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003584387" sldId="1268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003584387" sldId="1268"/>
            <ac:spMk id="3" creationId="{C31EA596-2349-F458-370A-0EEE36AB5128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1003584387" sldId="1268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47.316" v="27" actId="207"/>
        <pc:sldMkLst>
          <pc:docMk/>
          <pc:sldMk cId="3312082764" sldId="1269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312082764" sldId="1269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312082764" sldId="1269"/>
            <ac:spMk id="3" creationId="{582831A4-DA05-6E92-2FFD-020F13081F64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312082764" sldId="1269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50.333" v="28" actId="207"/>
        <pc:sldMkLst>
          <pc:docMk/>
          <pc:sldMk cId="3031422137" sldId="1270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31422137" sldId="1270"/>
            <ac:spMk id="2" creationId="{A9A6FF77-D641-4417-92E7-11CC6238BF20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31422137" sldId="1270"/>
            <ac:spMk id="3" creationId="{E9BD7FE2-6CB2-4915-F13E-1DEE841E71D9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31422137" sldId="1270"/>
            <ac:spMk id="5" creationId="{91A8ED3D-B755-43C9-BCB1-DCF495C0C9DB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829473832" sldId="1271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829473832" sldId="1271"/>
            <ac:spMk id="2" creationId="{D7EC235F-614F-714E-A97F-4FF50EFF14F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829473832" sldId="1271"/>
            <ac:spMk id="4" creationId="{E9C5A723-C0B1-124B-8CB6-AA3105C9A4E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829473832" sldId="1271"/>
            <ac:spMk id="7" creationId="{0DCF697C-464C-E908-57DA-E7F11641A768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12593699" sldId="1273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2593699" sldId="1273"/>
            <ac:spMk id="2" creationId="{F111C5DB-635E-4576-A4C3-837B7E452E1E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2593699" sldId="1273"/>
            <ac:spMk id="3" creationId="{25AA8E6E-5647-323C-BB3C-1208BBC4FA08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12593699" sldId="1273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103171691" sldId="1274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103171691" sldId="1274"/>
            <ac:spMk id="4" creationId="{88E1E207-3547-F3BE-10C1-6946FD1B953F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103171691" sldId="1274"/>
            <ac:spMk id="5" creationId="{470A5CC7-66A1-0582-2B3B-A714CB839874}"/>
          </ac:spMkLst>
        </pc:spChg>
      </pc:sldChg>
      <pc:sldChg chg="modSp mod modNotes">
        <pc:chgData name="Feist, Ella" userId="992bbaf2-811d-42cb-a4d6-e7fc45e325e8" providerId="ADAL" clId="{449FF204-88C9-4652-9230-69737649BD49}" dt="2025-05-30T10:51:29.002" v="22" actId="20577"/>
        <pc:sldMkLst>
          <pc:docMk/>
          <pc:sldMk cId="77730791" sldId="1634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77730791" sldId="1634"/>
            <ac:spMk id="2" creationId="{D7EC235F-614F-714E-A97F-4FF50EFF14F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77730791" sldId="1634"/>
            <ac:spMk id="4" creationId="{E9C5A723-C0B1-124B-8CB6-AA3105C9A4E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77730791" sldId="1634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2880264028" sldId="1635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880264028" sldId="1635"/>
            <ac:spMk id="2" creationId="{D7EC235F-614F-714E-A97F-4FF50EFF14FD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880264028" sldId="1635"/>
            <ac:spMk id="4" creationId="{E9C5A723-C0B1-124B-8CB6-AA3105C9A4E6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2880264028" sldId="1635"/>
            <ac:spMk id="5" creationId="{CB529D89-2C5B-1819-6C27-05FDDCBC2900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3082780218" sldId="1636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82780218" sldId="1636"/>
            <ac:spMk id="4" creationId="{C9F99D8E-097D-CD6C-8B5A-B0F13B6A46D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82780218" sldId="1636"/>
            <ac:spMk id="5" creationId="{E3F5831A-BF14-4EAB-0E6A-B8A8A38AC97F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3082780218" sldId="1636"/>
            <ac:spMk id="6" creationId="{9C355AE3-7D45-B3C2-C5AF-45716DC50114}"/>
          </ac:spMkLst>
        </pc:spChg>
      </pc:sldChg>
      <pc:sldChg chg="modSp mod">
        <pc:chgData name="Feist, Ella" userId="992bbaf2-811d-42cb-a4d6-e7fc45e325e8" providerId="ADAL" clId="{449FF204-88C9-4652-9230-69737649BD49}" dt="2025-05-30T10:50:52.854" v="7" actId="790"/>
        <pc:sldMkLst>
          <pc:docMk/>
          <pc:sldMk cId="848188201" sldId="1637"/>
        </pc:sldMkLst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48188201" sldId="1637"/>
            <ac:spMk id="4" creationId="{EEEE7D08-A1E1-054A-D7A8-EA36A9E5953C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48188201" sldId="1637"/>
            <ac:spMk id="5" creationId="{2B05EA98-0C25-B3BF-D845-10CB9D353FD2}"/>
          </ac:spMkLst>
        </pc:spChg>
        <pc:spChg chg="mod">
          <ac:chgData name="Feist, Ella" userId="992bbaf2-811d-42cb-a4d6-e7fc45e325e8" providerId="ADAL" clId="{449FF204-88C9-4652-9230-69737649BD49}" dt="2025-05-30T10:50:52.854" v="7" actId="790"/>
          <ac:spMkLst>
            <pc:docMk/>
            <pc:sldMk cId="848188201" sldId="1637"/>
            <ac:spMk id="6" creationId="{F8BE1548-21D3-1BE2-B350-CBBB93247E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5776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Although there are several shells, in this course we will be concentrating on the bash shell called.</a:t>
            </a:r>
          </a:p>
        </p:txBody>
      </p:sp>
    </p:spTree>
    <p:extLst>
      <p:ext uri="{BB962C8B-B14F-4D97-AF65-F5344CB8AC3E}">
        <p14:creationId xmlns:p14="http://schemas.microsoft.com/office/powerpoint/2010/main" val="991208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0348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Every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maintains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definitions, or environment.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Many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hardwired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code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 </a:t>
            </a:r>
            <a:r>
              <a:rPr lang="en-GB" sz="1200" spc="-20" noProof="0" dirty="0">
                <a:latin typeface="+mn-lt"/>
                <a:cs typeface="Segoe UI"/>
              </a:rPr>
              <a:t>will </a:t>
            </a:r>
            <a:r>
              <a:rPr lang="en-GB" sz="1200" spc="-5" noProof="0" dirty="0">
                <a:latin typeface="+mn-lt"/>
                <a:cs typeface="Segoe UI"/>
              </a:rPr>
              <a:t>be </a:t>
            </a:r>
            <a:r>
              <a:rPr lang="en-GB" sz="1200" spc="-25" noProof="0" dirty="0">
                <a:latin typeface="+mn-lt"/>
                <a:cs typeface="Segoe UI"/>
              </a:rPr>
              <a:t>established </a:t>
            </a:r>
            <a:r>
              <a:rPr lang="en-GB" sz="1200" spc="-5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various configuration files </a:t>
            </a:r>
            <a:r>
              <a:rPr lang="en-GB" sz="1200" spc="-15" noProof="0" dirty="0">
                <a:latin typeface="+mn-lt"/>
                <a:cs typeface="Segoe UI"/>
              </a:rPr>
              <a:t>read </a:t>
            </a:r>
            <a:r>
              <a:rPr lang="en-GB" sz="1200" spc="-5" noProof="0" dirty="0">
                <a:latin typeface="+mn-lt"/>
                <a:cs typeface="Segoe UI"/>
              </a:rPr>
              <a:t>by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process at </a:t>
            </a:r>
            <a:r>
              <a:rPr lang="en-GB" sz="1200" spc="-20" noProof="0" dirty="0">
                <a:latin typeface="+mn-lt"/>
                <a:cs typeface="Segoe UI"/>
              </a:rPr>
              <a:t>start </a:t>
            </a:r>
            <a:r>
              <a:rPr lang="en-GB" sz="1200" spc="-25" noProof="0" dirty="0">
                <a:latin typeface="+mn-lt"/>
                <a:cs typeface="Segoe UI"/>
              </a:rPr>
              <a:t>time,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rest </a:t>
            </a:r>
            <a:r>
              <a:rPr lang="en-GB" sz="1200" spc="-20" noProof="0" dirty="0">
                <a:latin typeface="+mn-lt"/>
                <a:cs typeface="Segoe UI"/>
              </a:rPr>
              <a:t>will have come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exported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 </a:t>
            </a:r>
            <a:r>
              <a:rPr lang="en-GB" sz="1200" spc="-20" noProof="0" dirty="0">
                <a:latin typeface="+mn-lt"/>
                <a:cs typeface="Segoe UI"/>
              </a:rPr>
              <a:t>inherited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3746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stored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disk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executed,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becomes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(instance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 being </a:t>
            </a:r>
            <a:r>
              <a:rPr lang="en-GB" sz="1200" spc="-25" noProof="0" dirty="0">
                <a:latin typeface="+mn-lt"/>
                <a:cs typeface="Segoe UI"/>
              </a:rPr>
              <a:t>executed,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memory)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10" noProof="0" dirty="0">
                <a:latin typeface="+mn-lt"/>
                <a:cs typeface="Segoe UI"/>
              </a:rPr>
              <a:t>runs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shell.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shell could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interactive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application.</a:t>
            </a:r>
          </a:p>
          <a:p>
            <a:pPr marL="12700" marR="37465">
              <a:lnSpc>
                <a:spcPct val="100000"/>
              </a:lnSpc>
              <a:spcBef>
                <a:spcPts val="6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Parent and </a:t>
            </a:r>
            <a:r>
              <a:rPr lang="en-GB" sz="1200" spc="-20" noProof="0" dirty="0">
                <a:latin typeface="+mn-lt"/>
                <a:cs typeface="Segoe UI"/>
              </a:rPr>
              <a:t>child processes </a:t>
            </a:r>
            <a:r>
              <a:rPr lang="en-GB" sz="1200" spc="-25" noProof="0" dirty="0">
                <a:latin typeface="+mn-lt"/>
                <a:cs typeface="Segoe UI"/>
              </a:rPr>
              <a:t>communicate </a:t>
            </a:r>
            <a:r>
              <a:rPr lang="en-GB" sz="1200" spc="-20" noProof="0" dirty="0">
                <a:latin typeface="+mn-lt"/>
                <a:cs typeface="Segoe UI"/>
              </a:rPr>
              <a:t>with each other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15" noProof="0" dirty="0">
                <a:latin typeface="+mn-lt"/>
                <a:cs typeface="Segoe UI"/>
              </a:rPr>
              <a:t>using </a:t>
            </a:r>
            <a:r>
              <a:rPr lang="en-GB" sz="1200" spc="-20" noProof="0" dirty="0">
                <a:latin typeface="+mn-lt"/>
                <a:cs typeface="Segoe UI"/>
              </a:rPr>
              <a:t>signals, </a:t>
            </a:r>
            <a:r>
              <a:rPr lang="en-GB" sz="1200" spc="-15" noProof="0" dirty="0">
                <a:latin typeface="+mn-lt"/>
                <a:cs typeface="Segoe UI"/>
              </a:rPr>
              <a:t>and 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spc="-15" noProof="0" dirty="0">
                <a:latin typeface="+mn-lt"/>
                <a:cs typeface="Segoe UI"/>
              </a:rPr>
              <a:t>holds </a:t>
            </a:r>
            <a:r>
              <a:rPr lang="en-GB" sz="1200" spc="-20" noProof="0" dirty="0">
                <a:latin typeface="+mn-lt"/>
                <a:cs typeface="Segoe UI"/>
              </a:rPr>
              <a:t>responsibility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child's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behavior.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Once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informs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fact.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also passes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flag, which conveys </a:t>
            </a: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20" noProof="0" dirty="0">
                <a:latin typeface="+mn-lt"/>
                <a:cs typeface="Segoe UI"/>
              </a:rPr>
              <a:t>exit status. This exit status </a:t>
            </a:r>
            <a:r>
              <a:rPr lang="en-GB" sz="1200" spc="-10" noProof="0" dirty="0">
                <a:latin typeface="+mn-lt"/>
                <a:cs typeface="Segoe UI"/>
              </a:rPr>
              <a:t>(a </a:t>
            </a:r>
            <a:r>
              <a:rPr lang="en-GB" sz="1200" spc="-20" noProof="0" dirty="0">
                <a:latin typeface="+mn-lt"/>
                <a:cs typeface="Segoe UI"/>
              </a:rPr>
              <a:t>numerical value)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assigned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parent's shell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" noProof="0" dirty="0">
                <a:latin typeface="+mn-lt"/>
                <a:cs typeface="Segoe UI"/>
              </a:rPr>
              <a:t>variable named </a:t>
            </a:r>
            <a:r>
              <a:rPr lang="en-GB" sz="1200" b="1" spc="-10" noProof="0" dirty="0">
                <a:latin typeface="+mn-lt"/>
                <a:cs typeface="Segoe UI"/>
              </a:rPr>
              <a:t>?</a:t>
            </a:r>
            <a:r>
              <a:rPr lang="en-GB" sz="1200" spc="-10" noProof="0" dirty="0">
                <a:latin typeface="+mn-lt"/>
                <a:cs typeface="Segoe UI"/>
              </a:rPr>
              <a:t>.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25" noProof="0" dirty="0">
                <a:latin typeface="+mn-lt"/>
                <a:cs typeface="Segoe UI"/>
              </a:rPr>
              <a:t>way,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25" noProof="0" dirty="0">
                <a:latin typeface="+mn-lt"/>
                <a:cs typeface="Segoe UI"/>
              </a:rPr>
              <a:t>always knows </a:t>
            </a:r>
            <a:r>
              <a:rPr lang="en-GB" sz="1200" spc="-15" noProof="0" dirty="0">
                <a:latin typeface="+mn-lt"/>
                <a:cs typeface="Segoe UI"/>
              </a:rPr>
              <a:t>if the </a:t>
            </a:r>
            <a:r>
              <a:rPr lang="en-GB" sz="1200" spc="-20" noProof="0" dirty="0">
                <a:latin typeface="+mn-lt"/>
                <a:cs typeface="Segoe UI"/>
              </a:rPr>
              <a:t>last child process succeeded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not.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endParaRPr lang="en-GB" sz="1200" noProof="0" dirty="0">
              <a:latin typeface="Montserrat" panose="00000500000000000000" pitchFamily="2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9888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normally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stored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disk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executed,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becomes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(instance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 being </a:t>
            </a:r>
            <a:r>
              <a:rPr lang="en-GB" sz="1200" spc="-25" noProof="0" dirty="0">
                <a:latin typeface="+mn-lt"/>
                <a:cs typeface="Segoe UI"/>
              </a:rPr>
              <a:t>executed,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memory)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10" noProof="0" dirty="0">
                <a:latin typeface="+mn-lt"/>
                <a:cs typeface="Segoe UI"/>
              </a:rPr>
              <a:t>runs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child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shell. 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shell could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15" noProof="0" dirty="0">
                <a:latin typeface="+mn-lt"/>
                <a:cs typeface="Segoe UI"/>
              </a:rPr>
              <a:t>your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interactive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could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application.</a:t>
            </a: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Parent and </a:t>
            </a:r>
            <a:r>
              <a:rPr lang="en-GB" sz="1200" spc="-20" noProof="0" dirty="0">
                <a:latin typeface="+mn-lt"/>
                <a:cs typeface="Segoe UI"/>
              </a:rPr>
              <a:t>child processes </a:t>
            </a:r>
            <a:r>
              <a:rPr lang="en-GB" sz="1200" spc="-25" noProof="0" dirty="0">
                <a:latin typeface="+mn-lt"/>
                <a:cs typeface="Segoe UI"/>
              </a:rPr>
              <a:t>communicate </a:t>
            </a:r>
            <a:r>
              <a:rPr lang="en-GB" sz="1200" spc="-20" noProof="0" dirty="0">
                <a:latin typeface="+mn-lt"/>
                <a:cs typeface="Segoe UI"/>
              </a:rPr>
              <a:t>with each other </a:t>
            </a:r>
            <a:r>
              <a:rPr lang="en-GB" sz="1200" spc="-10" noProof="0" dirty="0">
                <a:latin typeface="+mn-lt"/>
                <a:cs typeface="Segoe UI"/>
              </a:rPr>
              <a:t>by </a:t>
            </a:r>
            <a:r>
              <a:rPr lang="en-GB" sz="1200" spc="-15" noProof="0" dirty="0">
                <a:latin typeface="+mn-lt"/>
                <a:cs typeface="Segoe UI"/>
              </a:rPr>
              <a:t>using </a:t>
            </a:r>
            <a:r>
              <a:rPr lang="en-GB" sz="1200" spc="-20" noProof="0" dirty="0">
                <a:latin typeface="+mn-lt"/>
                <a:cs typeface="Segoe UI"/>
              </a:rPr>
              <a:t>signals, </a:t>
            </a:r>
            <a:r>
              <a:rPr lang="en-GB" sz="1200" spc="-15" noProof="0" dirty="0">
                <a:latin typeface="+mn-lt"/>
                <a:cs typeface="Segoe UI"/>
              </a:rPr>
              <a:t>and 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spc="-15" noProof="0" dirty="0">
                <a:latin typeface="+mn-lt"/>
                <a:cs typeface="Segoe UI"/>
              </a:rPr>
              <a:t>holds </a:t>
            </a:r>
            <a:r>
              <a:rPr lang="en-GB" sz="1200" spc="-20" noProof="0" dirty="0">
                <a:latin typeface="+mn-lt"/>
                <a:cs typeface="Segoe UI"/>
              </a:rPr>
              <a:t>responsibility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child's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behavior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endParaRPr lang="en-GB" sz="1200" spc="-15" noProof="0" dirty="0">
              <a:latin typeface="+mn-lt"/>
              <a:cs typeface="Segoe UI"/>
            </a:endParaRP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8636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Once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completes,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informs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parent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fact.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 </a:t>
            </a:r>
            <a:r>
              <a:rPr lang="en-GB" sz="1200" spc="-20" noProof="0" dirty="0">
                <a:latin typeface="+mn-lt"/>
                <a:cs typeface="Segoe UI"/>
              </a:rPr>
              <a:t>also passes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0" noProof="0" dirty="0">
                <a:latin typeface="+mn-lt"/>
                <a:cs typeface="Segoe UI"/>
              </a:rPr>
              <a:t>parent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flag, which conveys </a:t>
            </a: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20" noProof="0" dirty="0">
                <a:latin typeface="+mn-lt"/>
                <a:cs typeface="Segoe UI"/>
              </a:rPr>
              <a:t>exit status.  This exit status </a:t>
            </a:r>
            <a:r>
              <a:rPr lang="en-GB" sz="1200" spc="-10" noProof="0" dirty="0">
                <a:latin typeface="+mn-lt"/>
                <a:cs typeface="Segoe UI"/>
              </a:rPr>
              <a:t>(a </a:t>
            </a:r>
            <a:r>
              <a:rPr lang="en-GB" sz="1200" spc="-20" noProof="0" dirty="0">
                <a:latin typeface="+mn-lt"/>
                <a:cs typeface="Segoe UI"/>
              </a:rPr>
              <a:t>numerical value)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assigned </a:t>
            </a:r>
            <a:r>
              <a:rPr lang="en-GB" sz="1200" spc="-15" noProof="0" dirty="0">
                <a:latin typeface="+mn-lt"/>
                <a:cs typeface="Segoe UI"/>
              </a:rPr>
              <a:t>in the </a:t>
            </a:r>
            <a:r>
              <a:rPr lang="en-GB" sz="1200" spc="-20" noProof="0" dirty="0">
                <a:latin typeface="+mn-lt"/>
                <a:cs typeface="Segoe UI"/>
              </a:rPr>
              <a:t>parent's shell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5" noProof="0" dirty="0">
                <a:latin typeface="+mn-lt"/>
                <a:cs typeface="Segoe UI"/>
              </a:rPr>
              <a:t>variable named </a:t>
            </a:r>
            <a:r>
              <a:rPr lang="en-GB" sz="1200" b="1" spc="-10" noProof="0" dirty="0">
                <a:latin typeface="+mn-lt"/>
                <a:cs typeface="Segoe UI"/>
              </a:rPr>
              <a:t>?</a:t>
            </a:r>
            <a:r>
              <a:rPr lang="en-GB" sz="1200" spc="-10" noProof="0" dirty="0">
                <a:latin typeface="+mn-lt"/>
                <a:cs typeface="Segoe UI"/>
              </a:rPr>
              <a:t>.  </a:t>
            </a:r>
            <a:r>
              <a:rPr lang="en-GB" sz="1200" spc="-20" noProof="0" dirty="0">
                <a:latin typeface="+mn-lt"/>
                <a:cs typeface="Segoe UI"/>
              </a:rPr>
              <a:t>This </a:t>
            </a:r>
            <a:r>
              <a:rPr lang="en-GB" sz="1200" spc="-25" noProof="0" dirty="0">
                <a:latin typeface="+mn-lt"/>
                <a:cs typeface="Segoe UI"/>
              </a:rPr>
              <a:t>way,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5" noProof="0" dirty="0">
                <a:latin typeface="+mn-lt"/>
                <a:cs typeface="Segoe UI"/>
              </a:rPr>
              <a:t>calling </a:t>
            </a:r>
            <a:r>
              <a:rPr lang="en-GB" sz="1200" spc="-20" noProof="0" dirty="0">
                <a:latin typeface="+mn-lt"/>
                <a:cs typeface="Segoe UI"/>
              </a:rPr>
              <a:t>process knows </a:t>
            </a:r>
            <a:r>
              <a:rPr lang="en-GB" sz="1200" spc="-15" noProof="0" dirty="0">
                <a:latin typeface="+mn-lt"/>
                <a:cs typeface="Segoe UI"/>
              </a:rPr>
              <a:t>if the </a:t>
            </a:r>
            <a:r>
              <a:rPr lang="en-GB" sz="1200" spc="-20" noProof="0" dirty="0">
                <a:latin typeface="+mn-lt"/>
                <a:cs typeface="Segoe UI"/>
              </a:rPr>
              <a:t>last child succeeded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not.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200678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284663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 </a:t>
            </a:r>
            <a:r>
              <a:rPr lang="en-GB" sz="1200" spc="-15" noProof="0" dirty="0">
                <a:latin typeface="+mn-lt"/>
                <a:cs typeface="Segoe UI"/>
              </a:rPr>
              <a:t>are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hold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strings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substituted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lines.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 </a:t>
            </a:r>
            <a:r>
              <a:rPr lang="en-GB" sz="1200" spc="-20" noProof="0" dirty="0">
                <a:latin typeface="+mn-lt"/>
                <a:cs typeface="Segoe UI"/>
              </a:rPr>
              <a:t>names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25" noProof="0" dirty="0">
                <a:latin typeface="+mn-lt"/>
                <a:cs typeface="Segoe UI"/>
              </a:rPr>
              <a:t>contain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letters,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digits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underscores,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must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start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5" noProof="0" dirty="0">
                <a:latin typeface="+mn-lt"/>
                <a:cs typeface="Segoe UI"/>
              </a:rPr>
              <a:t>a</a:t>
            </a:r>
            <a:r>
              <a:rPr lang="en-GB" sz="1200" spc="-20" noProof="0" dirty="0">
                <a:latin typeface="+mn-lt"/>
                <a:cs typeface="Segoe UI"/>
              </a:rPr>
              <a:t> letter.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defines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some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special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</a:t>
            </a:r>
            <a:r>
              <a:rPr lang="en-GB" sz="1200" spc="-20" noProof="0" dirty="0">
                <a:latin typeface="+mn-lt"/>
                <a:cs typeface="Segoe UI"/>
              </a:rPr>
              <a:t> that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non-alphanumeric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names.</a:t>
            </a:r>
          </a:p>
          <a:p>
            <a:pPr marL="12700" marR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substitute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variable's </a:t>
            </a:r>
            <a:r>
              <a:rPr lang="en-GB" sz="1200" spc="-20" noProof="0" dirty="0">
                <a:latin typeface="+mn-lt"/>
                <a:cs typeface="Segoe UI"/>
              </a:rPr>
              <a:t>value,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prefix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dollar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($).</a:t>
            </a:r>
          </a:p>
          <a:p>
            <a:pPr marL="12700" marR="1270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separate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name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surrounding</a:t>
            </a:r>
            <a:r>
              <a:rPr lang="en-GB" sz="1200" spc="-10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text,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should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enclosed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braces.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016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Values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containing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whitespace </a:t>
            </a:r>
            <a:r>
              <a:rPr lang="en-GB" sz="1200" spc="-15" noProof="0" dirty="0">
                <a:latin typeface="+mn-lt"/>
                <a:cs typeface="Segoe UI"/>
              </a:rPr>
              <a:t>should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20" noProof="0" dirty="0">
                <a:latin typeface="+mn-lt"/>
                <a:cs typeface="Segoe UI"/>
              </a:rPr>
              <a:t> enclosed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quotes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prevent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recognising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them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spc="-20" noProof="0" dirty="0">
                <a:latin typeface="+mn-lt"/>
                <a:cs typeface="Segoe UI"/>
              </a:rPr>
              <a:t>argument separators.</a:t>
            </a:r>
          </a:p>
          <a:p>
            <a:pPr marL="12700" marR="1016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Multiple </a:t>
            </a:r>
            <a:r>
              <a:rPr lang="en-GB" sz="1200" spc="-25" noProof="0" dirty="0">
                <a:latin typeface="+mn-lt"/>
                <a:cs typeface="Segoe UI"/>
              </a:rPr>
              <a:t>variable </a:t>
            </a:r>
            <a:r>
              <a:rPr lang="en-GB" sz="1200" spc="-20" noProof="0" dirty="0">
                <a:latin typeface="+mn-lt"/>
                <a:cs typeface="Segoe UI"/>
              </a:rPr>
              <a:t>assignments 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given </a:t>
            </a:r>
            <a:r>
              <a:rPr lang="en-GB" sz="1200" spc="-10" noProof="0" dirty="0">
                <a:latin typeface="+mn-lt"/>
                <a:cs typeface="Segoe UI"/>
              </a:rPr>
              <a:t>on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single line when </a:t>
            </a:r>
            <a:r>
              <a:rPr lang="en-GB" sz="1200" spc="-25" noProof="0" dirty="0">
                <a:latin typeface="+mn-lt"/>
                <a:cs typeface="Segoe UI"/>
              </a:rPr>
              <a:t>executing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9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export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6578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b="1" spc="-8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set</a:t>
            </a:r>
            <a:r>
              <a:rPr lang="en-GB" sz="1200" b="1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without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arguments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15" noProof="0" dirty="0">
                <a:latin typeface="+mn-lt"/>
                <a:cs typeface="Segoe UI"/>
              </a:rPr>
              <a:t> the variables and their values</a:t>
            </a:r>
            <a:r>
              <a:rPr lang="en-GB" sz="1200" spc="-20" noProof="0" dirty="0">
                <a:latin typeface="+mn-lt"/>
                <a:cs typeface="Segoe UI"/>
              </a:rPr>
              <a:t>.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set</a:t>
            </a:r>
            <a:r>
              <a:rPr lang="en-GB" sz="1200" b="1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various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exported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part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environment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listed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export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env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no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arguments. </a:t>
            </a:r>
            <a:r>
              <a:rPr lang="en-GB" sz="1200" b="1" spc="-15" noProof="0" dirty="0">
                <a:latin typeface="+mn-lt"/>
                <a:cs typeface="Segoe UI"/>
              </a:rPr>
              <a:t>env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also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used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call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tailored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environment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(see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man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env).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524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b="1" spc="-8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unset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remove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variable,</a:t>
            </a:r>
            <a:r>
              <a:rPr lang="en-GB" sz="1200" spc="-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list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variables,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 environment). The </a:t>
            </a:r>
            <a:r>
              <a:rPr lang="en-GB" sz="1200" b="1" spc="-20" noProof="0" dirty="0">
                <a:latin typeface="+mn-lt"/>
                <a:cs typeface="Segoe UI"/>
              </a:rPr>
              <a:t>set –u</a:t>
            </a:r>
            <a:r>
              <a:rPr lang="en-GB" sz="1200" spc="-20" noProof="0" dirty="0">
                <a:latin typeface="+mn-lt"/>
                <a:cs typeface="Segoe UI"/>
              </a:rPr>
              <a:t> shell option will cause errors for unset variables.</a:t>
            </a:r>
          </a:p>
          <a:p>
            <a:endParaRPr lang="en-GB" sz="1200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599980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77301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noProof="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715922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noProof="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53485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006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5836758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162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85174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91770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Bash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specific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options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control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behavior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setting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internal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variables</a:t>
            </a:r>
            <a:r>
              <a:rPr lang="en-GB" sz="1200" spc="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within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0" noProof="0" dirty="0">
                <a:latin typeface="+mn-lt"/>
                <a:cs typeface="Segoe UI"/>
              </a:rPr>
              <a:t> shell </a:t>
            </a:r>
            <a:r>
              <a:rPr lang="en-GB" sz="1200" spc="-15" noProof="0" dirty="0">
                <a:latin typeface="+mn-lt"/>
                <a:cs typeface="Segoe UI"/>
              </a:rPr>
              <a:t>program. Most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0" noProof="0" dirty="0">
                <a:latin typeface="+mn-lt"/>
                <a:cs typeface="Segoe UI"/>
              </a:rPr>
              <a:t>the options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5" noProof="0" dirty="0">
                <a:latin typeface="+mn-lt"/>
                <a:cs typeface="Segoe UI"/>
              </a:rPr>
              <a:t>available </a:t>
            </a:r>
            <a:r>
              <a:rPr lang="en-GB" sz="1200" spc="-15" noProof="0" dirty="0">
                <a:latin typeface="+mn-lt"/>
                <a:cs typeface="Segoe UI"/>
              </a:rPr>
              <a:t>in </a:t>
            </a:r>
            <a:r>
              <a:rPr lang="en-GB" sz="1200" spc="-20" noProof="0" dirty="0">
                <a:latin typeface="+mn-lt"/>
                <a:cs typeface="Segoe UI"/>
              </a:rPr>
              <a:t>other shells,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20" noProof="0" dirty="0">
                <a:latin typeface="+mn-lt"/>
                <a:cs typeface="Segoe UI"/>
              </a:rPr>
              <a:t>many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0" noProof="0" dirty="0">
                <a:latin typeface="+mn-lt"/>
                <a:cs typeface="Segoe UI"/>
              </a:rPr>
              <a:t>useful, </a:t>
            </a:r>
            <a:r>
              <a:rPr lang="en-GB" sz="1200" spc="-25" noProof="0" dirty="0">
                <a:latin typeface="+mn-lt"/>
                <a:cs typeface="Segoe UI"/>
              </a:rPr>
              <a:t>particularly </a:t>
            </a:r>
            <a:r>
              <a:rPr lang="en-GB" sz="1200" spc="-20" noProof="0" dirty="0">
                <a:latin typeface="+mn-lt"/>
                <a:cs typeface="Segoe UI"/>
              </a:rPr>
              <a:t>those </a:t>
            </a:r>
            <a:r>
              <a:rPr lang="en-GB" sz="1200" spc="-15" noProof="0" dirty="0">
                <a:latin typeface="+mn-lt"/>
                <a:cs typeface="Segoe UI"/>
              </a:rPr>
              <a:t>shown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slide.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sz="1200" noProof="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4114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lang="en-GB" spc="-20" noProof="0" dirty="0">
                <a:solidFill>
                  <a:srgbClr val="545353"/>
                </a:solidFill>
                <a:cs typeface="Segoe UI"/>
              </a:rPr>
              <a:t>Answers:</a:t>
            </a:r>
            <a:endParaRPr lang="en-GB" noProof="0" dirty="0">
              <a:cs typeface="Segoe UI"/>
            </a:endParaRPr>
          </a:p>
          <a:p>
            <a:pPr marL="9803" indent="0">
              <a:spcBef>
                <a:spcPts val="569"/>
              </a:spcBef>
              <a:buClr>
                <a:srgbClr val="000000"/>
              </a:buClr>
              <a:buFont typeface="Arial"/>
              <a:buNone/>
              <a:tabLst>
                <a:tab pos="289957" algn="l"/>
                <a:tab pos="290473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a) Environment</a:t>
            </a:r>
            <a:r>
              <a:rPr lang="en-US" spc="33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definitions</a:t>
            </a:r>
            <a:r>
              <a:rPr lang="en-US" spc="49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comprise:</a:t>
            </a:r>
            <a:endParaRPr lang="en-US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i="1" spc="-24" dirty="0">
                <a:solidFill>
                  <a:srgbClr val="2D2C2C"/>
                </a:solidFill>
                <a:cs typeface="Segoe UI"/>
              </a:rPr>
              <a:t>Variables</a:t>
            </a:r>
            <a:endParaRPr lang="en-US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i="1" spc="-12" dirty="0">
                <a:solidFill>
                  <a:srgbClr val="2D2C2C"/>
                </a:solidFill>
                <a:cs typeface="Segoe UI"/>
              </a:rPr>
              <a:t>Aliases</a:t>
            </a:r>
            <a:endParaRPr lang="en-US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i="1" spc="-8" dirty="0">
                <a:solidFill>
                  <a:srgbClr val="2D2C2C"/>
                </a:solidFill>
                <a:cs typeface="Segoe UI"/>
              </a:rPr>
              <a:t>Functions</a:t>
            </a:r>
            <a:endParaRPr lang="en-US" b="0" i="1" spc="-8" dirty="0">
              <a:solidFill>
                <a:srgbClr val="2D2C2C"/>
              </a:solidFill>
              <a:cs typeface="Segoe UI"/>
            </a:endParaRPr>
          </a:p>
          <a:p>
            <a:pPr marL="0" lvl="0" indent="-172392">
              <a:spcBef>
                <a:spcPts val="492"/>
              </a:spcBef>
              <a:buClr>
                <a:srgbClr val="000000"/>
              </a:buClr>
              <a:buFont typeface="Arial"/>
              <a:buNone/>
              <a:tabLst>
                <a:tab pos="517485" algn="l"/>
                <a:tab pos="518001" algn="l"/>
              </a:tabLst>
            </a:pPr>
            <a:endParaRPr lang="en-US" b="0" i="0" spc="-8" dirty="0">
              <a:solidFill>
                <a:srgbClr val="2D2C2C"/>
              </a:solidFill>
              <a:cs typeface="Segoe UI"/>
            </a:endParaRPr>
          </a:p>
          <a:p>
            <a:pPr marL="0" lvl="0" indent="-172392">
              <a:spcBef>
                <a:spcPts val="492"/>
              </a:spcBef>
              <a:buClr>
                <a:srgbClr val="000000"/>
              </a:buClr>
              <a:buFont typeface="Arial"/>
              <a:buNone/>
              <a:tabLst>
                <a:tab pos="517485" algn="l"/>
                <a:tab pos="518001" algn="l"/>
              </a:tabLst>
            </a:pPr>
            <a:r>
              <a:rPr lang="en-US" b="0" i="0" spc="-8" dirty="0">
                <a:solidFill>
                  <a:srgbClr val="2D2C2C"/>
                </a:solidFill>
                <a:cs typeface="Segoe UI"/>
              </a:rPr>
              <a:t>b) The two commands you would use are:</a:t>
            </a:r>
          </a:p>
          <a:p>
            <a:pPr marL="0" lvl="0" indent="-172392">
              <a:spcBef>
                <a:spcPts val="492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517485" algn="l"/>
                <a:tab pos="518001" algn="l"/>
              </a:tabLst>
            </a:pPr>
            <a:r>
              <a:rPr lang="en-US" b="0" i="0" spc="-8" dirty="0">
                <a:solidFill>
                  <a:srgbClr val="2D2C2C"/>
                </a:solidFill>
                <a:cs typeface="Segoe UI"/>
              </a:rPr>
              <a:t>set</a:t>
            </a:r>
          </a:p>
          <a:p>
            <a:pPr marL="0" lvl="0" indent="-172392">
              <a:spcBef>
                <a:spcPts val="492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517485" algn="l"/>
                <a:tab pos="518001" algn="l"/>
              </a:tabLst>
            </a:pPr>
            <a:r>
              <a:rPr lang="en-US" b="0" i="0" spc="-8" dirty="0" err="1">
                <a:solidFill>
                  <a:srgbClr val="2D2C2C"/>
                </a:solidFill>
                <a:cs typeface="Segoe UI"/>
              </a:rPr>
              <a:t>shopt</a:t>
            </a:r>
            <a:endParaRPr lang="en-US" b="0" i="0" spc="-8" dirty="0">
              <a:solidFill>
                <a:srgbClr val="2D2C2C"/>
              </a:solidFill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645037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7443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Shell scripts </a:t>
            </a:r>
            <a:r>
              <a:rPr lang="en-GB" sz="1200" spc="-15" noProof="0" dirty="0">
                <a:latin typeface="+mn-lt"/>
                <a:cs typeface="Segoe UI"/>
              </a:rPr>
              <a:t>are stored as </a:t>
            </a:r>
            <a:r>
              <a:rPr lang="en-GB" sz="1200" spc="-20" noProof="0" dirty="0">
                <a:latin typeface="+mn-lt"/>
                <a:cs typeface="Segoe UI"/>
              </a:rPr>
              <a:t>plain text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5" noProof="0" dirty="0">
                <a:latin typeface="+mn-lt"/>
                <a:cs typeface="Segoe UI"/>
              </a:rPr>
              <a:t>and are </a:t>
            </a:r>
            <a:r>
              <a:rPr lang="en-GB" sz="1200" spc="-20" noProof="0" dirty="0">
                <a:latin typeface="+mn-lt"/>
                <a:cs typeface="Segoe UI"/>
              </a:rPr>
              <a:t>interpreted </a:t>
            </a:r>
            <a:r>
              <a:rPr lang="en-GB" sz="1200" spc="-15" noProof="0" dirty="0">
                <a:latin typeface="+mn-lt"/>
                <a:cs typeface="Segoe UI"/>
              </a:rPr>
              <a:t>as they are </a:t>
            </a:r>
            <a:r>
              <a:rPr lang="en-GB" sz="1200" spc="-25" noProof="0" dirty="0">
                <a:latin typeface="+mn-lt"/>
                <a:cs typeface="Segoe UI"/>
              </a:rPr>
              <a:t>executed.</a:t>
            </a: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endParaRPr lang="en-GB" spc="-20" dirty="0">
              <a:latin typeface="+mn-lt"/>
              <a:cs typeface="Segoe UI"/>
            </a:endParaRP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Although this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less </a:t>
            </a:r>
            <a:r>
              <a:rPr lang="en-GB" sz="1200" spc="-25" noProof="0" dirty="0">
                <a:latin typeface="+mn-lt"/>
                <a:cs typeface="Segoe UI"/>
              </a:rPr>
              <a:t>efficient </a:t>
            </a:r>
            <a:r>
              <a:rPr lang="en-GB" sz="1200" spc="-20" noProof="0" dirty="0">
                <a:latin typeface="+mn-lt"/>
                <a:cs typeface="Segoe UI"/>
              </a:rPr>
              <a:t>than writing the </a:t>
            </a:r>
            <a:r>
              <a:rPr lang="en-GB" sz="1200" spc="-15" noProof="0" dirty="0">
                <a:latin typeface="+mn-lt"/>
                <a:cs typeface="Segoe UI"/>
              </a:rPr>
              <a:t>programs in </a:t>
            </a:r>
            <a:r>
              <a:rPr lang="en-GB" sz="1200" spc="5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language such </a:t>
            </a:r>
            <a:r>
              <a:rPr lang="en-GB" sz="1200" spc="-15" noProof="0" dirty="0">
                <a:latin typeface="+mn-lt"/>
                <a:cs typeface="Segoe UI"/>
              </a:rPr>
              <a:t>as C and compiling them,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spc="-15" noProof="0" dirty="0">
                <a:latin typeface="+mn-lt"/>
                <a:cs typeface="Segoe UI"/>
              </a:rPr>
              <a:t>program </a:t>
            </a:r>
            <a:r>
              <a:rPr lang="en-GB" sz="1200" spc="-20" noProof="0" dirty="0">
                <a:latin typeface="+mn-lt"/>
                <a:cs typeface="Segoe UI"/>
              </a:rPr>
              <a:t>development time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5" noProof="0" dirty="0">
                <a:latin typeface="+mn-lt"/>
                <a:cs typeface="Segoe UI"/>
              </a:rPr>
              <a:t>significantly </a:t>
            </a:r>
            <a:r>
              <a:rPr lang="en-GB" sz="1200" spc="-15" noProof="0" dirty="0">
                <a:latin typeface="+mn-lt"/>
                <a:cs typeface="Segoe UI"/>
              </a:rPr>
              <a:t>shorter. </a:t>
            </a: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endParaRPr lang="en-GB" sz="1200" spc="-15" noProof="0" dirty="0">
              <a:latin typeface="+mn-lt"/>
              <a:cs typeface="Segoe UI"/>
            </a:endParaRP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Unlike many operating systems, </a:t>
            </a:r>
            <a:r>
              <a:rPr lang="en-GB" sz="1200" spc="-15" noProof="0" dirty="0">
                <a:latin typeface="+mn-lt"/>
                <a:cs typeface="Segoe UI"/>
              </a:rPr>
              <a:t>the user </a:t>
            </a:r>
            <a:r>
              <a:rPr lang="en-GB" sz="1200" spc="-25" noProof="0" dirty="0">
                <a:latin typeface="+mn-lt"/>
                <a:cs typeface="Segoe UI"/>
              </a:rPr>
              <a:t>interface </a:t>
            </a:r>
            <a:r>
              <a:rPr lang="en-GB" sz="1200" spc="-15" noProof="0" dirty="0">
                <a:latin typeface="+mn-lt"/>
                <a:cs typeface="Segoe UI"/>
              </a:rPr>
              <a:t>(the </a:t>
            </a:r>
            <a:r>
              <a:rPr lang="en-GB" sz="1200" spc="-20" noProof="0" dirty="0">
                <a:latin typeface="+mn-lt"/>
                <a:cs typeface="Segoe UI"/>
              </a:rPr>
              <a:t>shell)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15" noProof="0" dirty="0">
                <a:latin typeface="+mn-lt"/>
                <a:cs typeface="Segoe UI"/>
              </a:rPr>
              <a:t>an </a:t>
            </a:r>
            <a:r>
              <a:rPr lang="en-GB" sz="1200" spc="-20" noProof="0" dirty="0">
                <a:latin typeface="+mn-lt"/>
                <a:cs typeface="Segoe UI"/>
              </a:rPr>
              <a:t>integral </a:t>
            </a:r>
            <a:r>
              <a:rPr lang="en-GB" sz="1200" spc="-15" noProof="0" dirty="0">
                <a:latin typeface="+mn-lt"/>
                <a:cs typeface="Segoe UI"/>
              </a:rPr>
              <a:t>part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operating system, </a:t>
            </a:r>
            <a:r>
              <a:rPr lang="en-GB" sz="1200" spc="-15" noProof="0" dirty="0">
                <a:latin typeface="+mn-lt"/>
                <a:cs typeface="Segoe UI"/>
              </a:rPr>
              <a:t>it is </a:t>
            </a:r>
            <a:r>
              <a:rPr lang="en-GB" sz="1200" spc="-20" noProof="0" dirty="0">
                <a:latin typeface="+mn-lt"/>
                <a:cs typeface="Segoe UI"/>
              </a:rPr>
              <a:t>simply another </a:t>
            </a:r>
            <a:r>
              <a:rPr lang="en-GB" sz="1200" spc="-15" noProof="0" dirty="0">
                <a:latin typeface="+mn-lt"/>
                <a:cs typeface="Segoe UI"/>
              </a:rPr>
              <a:t>Linux </a:t>
            </a:r>
            <a:r>
              <a:rPr lang="en-GB" sz="1200" spc="-20" noProof="0" dirty="0">
                <a:latin typeface="+mn-lt"/>
                <a:cs typeface="Segoe UI"/>
              </a:rPr>
              <a:t>program.</a:t>
            </a:r>
          </a:p>
          <a:p>
            <a:pPr marL="12700" marR="19685">
              <a:lnSpc>
                <a:spcPct val="100000"/>
              </a:lnSpc>
              <a:spcBef>
                <a:spcPts val="105"/>
              </a:spcBef>
            </a:pPr>
            <a:r>
              <a:rPr lang="en-GB" sz="1200" spc="-20" noProof="0" dirty="0">
                <a:latin typeface="+mn-lt"/>
                <a:cs typeface="Segoe UI"/>
              </a:rPr>
              <a:t>Anyone with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requisite knowledge can write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shell.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0916117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75676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1. To run the script by name or path, the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must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readable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and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you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must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have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execute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permission on it.</a:t>
            </a:r>
          </a:p>
          <a:p>
            <a:pPr marL="12700" marR="18097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2. The script could be treated as a </a:t>
            </a:r>
            <a:r>
              <a:rPr lang="en-GB" sz="1200" spc="-15" noProof="0" dirty="0" err="1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filethat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is read by bash. In this case the</a:t>
            </a:r>
            <a:r>
              <a:rPr lang="en-GB" sz="1200" spc="-8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must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readable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but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does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not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have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executable.</a:t>
            </a:r>
          </a:p>
          <a:p>
            <a:pPr marL="12700" marR="4762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Note: when running a script in these ways,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sub-shell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created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for the new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program.  This means that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child can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inherit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some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parent’s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(exported)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environment,</a:t>
            </a:r>
            <a:r>
              <a:rPr lang="en-GB" sz="1200" spc="-8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but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environmental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definitions</a:t>
            </a:r>
            <a:r>
              <a:rPr lang="en-GB" sz="1200" spc="-5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altered within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script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will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not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visible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parent.</a:t>
            </a:r>
          </a:p>
          <a:p>
            <a:pPr marL="12700" marR="11874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3. In the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last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example,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when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using the ‘dot’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command,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 current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shell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reads the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contents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 script fi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le,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but it does not create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sub-shell. This means that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any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environmental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modifications made in the script will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be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shared</a:t>
            </a:r>
            <a:r>
              <a:rPr lang="en-GB" sz="1200" spc="-8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with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shell.</a:t>
            </a:r>
            <a:endParaRPr lang="en-GB" sz="1200" noProof="0" dirty="0">
              <a:latin typeface="+mn-lt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This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is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popular</a:t>
            </a:r>
            <a:r>
              <a:rPr lang="en-GB" sz="1200" spc="-7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method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of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implementing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desired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environmental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changes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GB" sz="1200" spc="-4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your</a:t>
            </a:r>
            <a:r>
              <a:rPr lang="en-GB" sz="1200" spc="-4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interactive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shell.</a:t>
            </a:r>
            <a:r>
              <a:rPr lang="en-GB" sz="1200" spc="2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5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1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start-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p</a:t>
            </a:r>
            <a:r>
              <a:rPr lang="en-GB" sz="1200" spc="-8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fil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ca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b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od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ifi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GB" sz="1200" spc="-6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x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u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d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wit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t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h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e</a:t>
            </a:r>
            <a:r>
              <a:rPr lang="en-GB" sz="1200" spc="-6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‘do</a:t>
            </a:r>
            <a:r>
              <a:rPr lang="en-GB" sz="1200" spc="-3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t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’</a:t>
            </a:r>
            <a:r>
              <a:rPr lang="en-GB" sz="1200" spc="-7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c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o</a:t>
            </a:r>
            <a:r>
              <a:rPr lang="en-GB" sz="1200" spc="-2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  <a:r>
              <a:rPr lang="en-GB" sz="1200" spc="-35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GB" sz="1200" spc="-2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nd</a:t>
            </a:r>
            <a:r>
              <a:rPr lang="en-GB" sz="1200" noProof="0" dirty="0">
                <a:latin typeface="+mn-lt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30805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639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Bash is invoked as an interactive login shell, or as a non-interactive shell with the --login option, it first reads and executes commands from the file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/profile</a:t>
            </a:r>
            <a:r>
              <a:rPr lang="en-US" sz="1200" spc="-15" noProof="0" dirty="0">
                <a:latin typeface="+mn-lt"/>
                <a:cs typeface="Segoe UI"/>
              </a:rPr>
              <a:t>, if that file exists.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After reading that file, it looks for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r>
              <a:rPr lang="en-US" sz="1200" spc="-15" noProof="0" dirty="0">
                <a:latin typeface="+mn-lt"/>
                <a:cs typeface="Segoe UI"/>
              </a:rPr>
              <a:t>,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bash_login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200" spc="-15" noProof="0" dirty="0">
                <a:latin typeface="+mn-lt"/>
                <a:cs typeface="Segoe UI"/>
              </a:rPr>
              <a:t>and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~/.profile</a:t>
            </a:r>
            <a:r>
              <a:rPr lang="en-US" sz="1200" spc="-15" noProof="0" dirty="0">
                <a:latin typeface="+mn-lt"/>
                <a:cs typeface="Segoe UI"/>
              </a:rPr>
              <a:t>, in that order, and reads and executes commands from the first one that exists and is readable.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The --</a:t>
            </a:r>
            <a:r>
              <a:rPr lang="en-US" sz="1200" spc="-15" noProof="0" dirty="0" err="1">
                <a:latin typeface="+mn-lt"/>
                <a:cs typeface="Segoe UI"/>
              </a:rPr>
              <a:t>noprofile</a:t>
            </a:r>
            <a:r>
              <a:rPr lang="en-US" sz="1200" spc="-15" noProof="0" dirty="0">
                <a:latin typeface="+mn-lt"/>
                <a:cs typeface="Segoe UI"/>
              </a:rPr>
              <a:t> option may be used when the shell is started to inhibit this behavior.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an interactive login shell exits, or a non-interactive login shell executes the exit </a:t>
            </a:r>
            <a:r>
              <a:rPr lang="en-US" sz="1200" spc="-15" noProof="0" dirty="0" err="1">
                <a:latin typeface="+mn-lt"/>
                <a:cs typeface="Segoe UI"/>
              </a:rPr>
              <a:t>builtin</a:t>
            </a:r>
            <a:r>
              <a:rPr lang="en-US" sz="1200" spc="-15" noProof="0" dirty="0">
                <a:latin typeface="+mn-lt"/>
                <a:cs typeface="Segoe UI"/>
              </a:rPr>
              <a:t> command, Bash reads and executes commands from the file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bash_logout</a:t>
            </a:r>
            <a:r>
              <a:rPr lang="en-US" sz="1200" spc="-15" noProof="0" dirty="0">
                <a:latin typeface="+mn-lt"/>
                <a:cs typeface="Segoe UI"/>
              </a:rPr>
              <a:t>, if it exists.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359727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an interactive shell that is not a login shell is started, Bash reads and executes commands from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sz="1200" spc="-15" noProof="0" dirty="0">
                <a:latin typeface="+mn-lt"/>
                <a:cs typeface="Segoe UI"/>
              </a:rPr>
              <a:t>, if that file exists.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This may be inhibited by using the --</a:t>
            </a:r>
            <a:r>
              <a:rPr lang="en-US" sz="1200" spc="-15" noProof="0" dirty="0" err="1">
                <a:latin typeface="+mn-lt"/>
                <a:cs typeface="Segoe UI"/>
              </a:rPr>
              <a:t>norc</a:t>
            </a:r>
            <a:r>
              <a:rPr lang="en-US" sz="1200" spc="-15" noProof="0" dirty="0">
                <a:latin typeface="+mn-lt"/>
                <a:cs typeface="Segoe UI"/>
              </a:rPr>
              <a:t> option. The --</a:t>
            </a:r>
            <a:r>
              <a:rPr lang="en-US" sz="1200" spc="-15" noProof="0" dirty="0" err="1">
                <a:latin typeface="+mn-lt"/>
                <a:cs typeface="Segoe UI"/>
              </a:rPr>
              <a:t>rcfile</a:t>
            </a:r>
            <a:r>
              <a:rPr lang="en-US" sz="1200" spc="-15" noProof="0" dirty="0">
                <a:latin typeface="+mn-lt"/>
                <a:cs typeface="Segoe UI"/>
              </a:rPr>
              <a:t> </a:t>
            </a:r>
            <a:r>
              <a:rPr lang="en-US" sz="1200" i="1" spc="-15" noProof="0" dirty="0">
                <a:latin typeface="+mn-lt"/>
                <a:cs typeface="Segoe UI"/>
              </a:rPr>
              <a:t>file</a:t>
            </a:r>
            <a:r>
              <a:rPr lang="en-US" sz="1200" spc="-15" noProof="0" dirty="0">
                <a:latin typeface="+mn-lt"/>
                <a:cs typeface="Segoe UI"/>
              </a:rPr>
              <a:t> option will force Bash to read and execute commands from </a:t>
            </a:r>
            <a:r>
              <a:rPr lang="en-US" sz="1200" i="1" spc="-15" noProof="0" dirty="0">
                <a:latin typeface="+mn-lt"/>
                <a:cs typeface="Segoe UI"/>
              </a:rPr>
              <a:t>file</a:t>
            </a:r>
            <a:r>
              <a:rPr lang="en-US" sz="1200" spc="-15" noProof="0" dirty="0">
                <a:latin typeface="+mn-lt"/>
                <a:cs typeface="Segoe UI"/>
              </a:rPr>
              <a:t> instead of ~/.</a:t>
            </a:r>
            <a:r>
              <a:rPr lang="en-US" sz="1200" spc="-15" noProof="0" dirty="0" err="1">
                <a:latin typeface="+mn-lt"/>
                <a:cs typeface="Segoe UI"/>
              </a:rPr>
              <a:t>bashrc</a:t>
            </a:r>
            <a:r>
              <a:rPr lang="en-US" sz="1200" spc="-15" noProof="0" dirty="0">
                <a:latin typeface="+mn-lt"/>
                <a:cs typeface="Segoe UI"/>
              </a:rPr>
              <a:t>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an interactive login shell exits, or a non-interactive login shell executes the exit </a:t>
            </a:r>
            <a:r>
              <a:rPr lang="en-US" sz="1200" spc="-15" noProof="0" dirty="0" err="1">
                <a:latin typeface="+mn-lt"/>
                <a:cs typeface="Segoe UI"/>
              </a:rPr>
              <a:t>builtin</a:t>
            </a:r>
            <a:r>
              <a:rPr lang="en-US" sz="1200" spc="-15" noProof="0" dirty="0">
                <a:latin typeface="+mn-lt"/>
                <a:cs typeface="Segoe UI"/>
              </a:rPr>
              <a:t> command, Bash reads and executes commands from the file 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200" spc="-15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bash_logout</a:t>
            </a: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200" spc="-15" noProof="0" dirty="0">
                <a:latin typeface="+mn-lt"/>
                <a:cs typeface="Segoe UI"/>
              </a:rPr>
              <a:t>if it exists.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6801026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When Bash is started non-interactively, to run a shell script, for example, it looks for the variable BASH_ENV in the environment, expands its value if it appears there, and uses the expanded value as the name of a file to read and execute. Bash behaves as if the following command were executed: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Montserrat" panose="00000500000000000000" pitchFamily="2" charset="0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if [ -n "$BASH_ENV" ]; then . "$BASH_ENV"; fi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Montserrat" panose="00000500000000000000" pitchFamily="2" charset="0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but the value of the PATH variable is not used to search for the filename.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r>
              <a:rPr lang="en-US" sz="1200" spc="-15" noProof="0" dirty="0">
                <a:latin typeface="+mn-lt"/>
                <a:cs typeface="Segoe UI"/>
              </a:rPr>
              <a:t>If a non-interactive shell is invoked with the --login option, Bash attempts to read and execute commands from the login shell startup files.</a:t>
            </a: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US" sz="1200" spc="-15" noProof="0" dirty="0">
              <a:latin typeface="+mn-lt"/>
              <a:cs typeface="Segoe UI"/>
            </a:endParaRPr>
          </a:p>
          <a:p>
            <a:pPr marL="12700" marR="99695" lvl="0" indent="0" algn="l" defTabSz="914377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15" noProof="0" dirty="0">
                <a:latin typeface="+mn-lt"/>
                <a:cs typeface="Segoe UI"/>
              </a:rPr>
              <a:t>When a non-interactive login shell executes the</a:t>
            </a:r>
            <a:r>
              <a:rPr lang="en-US" sz="1200" b="1" spc="-15" noProof="0" dirty="0">
                <a:latin typeface="+mn-lt"/>
                <a:cs typeface="Segoe UI"/>
              </a:rPr>
              <a:t> exit </a:t>
            </a:r>
            <a:r>
              <a:rPr lang="en-US" sz="1200" spc="-15" noProof="0" dirty="0" err="1">
                <a:latin typeface="+mn-lt"/>
                <a:cs typeface="Segoe UI"/>
              </a:rPr>
              <a:t>builtin</a:t>
            </a:r>
            <a:r>
              <a:rPr lang="en-US" sz="1200" spc="-15" noProof="0" dirty="0">
                <a:latin typeface="+mn-lt"/>
                <a:cs typeface="Segoe UI"/>
              </a:rPr>
              <a:t> command, Bash reads and executes commands from the file ~/.</a:t>
            </a:r>
            <a:r>
              <a:rPr lang="en-US" sz="1200" spc="-15" noProof="0" dirty="0" err="1">
                <a:latin typeface="+mn-lt"/>
                <a:cs typeface="Segoe UI"/>
              </a:rPr>
              <a:t>bash_logout</a:t>
            </a:r>
            <a:r>
              <a:rPr lang="en-US" sz="1200" spc="-15" noProof="0" dirty="0">
                <a:latin typeface="+mn-lt"/>
                <a:cs typeface="Segoe UI"/>
              </a:rPr>
              <a:t>, if it exists.</a:t>
            </a:r>
            <a:endParaRPr lang="en-GB" noProof="0" dirty="0">
              <a:latin typeface="+mn-lt"/>
            </a:endParaRPr>
          </a:p>
          <a:p>
            <a:pPr marL="12700" marR="99695">
              <a:lnSpc>
                <a:spcPct val="100000"/>
              </a:lnSpc>
              <a:spcBef>
                <a:spcPts val="105"/>
              </a:spcBef>
            </a:pPr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647610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2213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or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env</a:t>
            </a:r>
            <a:r>
              <a:rPr lang="en-US" noProof="0" dirty="0">
                <a:latin typeface="+mn-lt"/>
              </a:rPr>
              <a:t> commands display all variables that have been marked for export and will be available in all subshells.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The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</a:t>
            </a:r>
            <a:r>
              <a:rPr lang="en-US" noProof="0" dirty="0">
                <a:latin typeface="+mn-lt"/>
              </a:rPr>
              <a:t> variable, often referred to as 'search path'. Used by the shell to identify the location of programs.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r>
              <a:rPr lang="en-US" noProof="0" dirty="0">
                <a:latin typeface="+mn-lt"/>
              </a:rPr>
              <a:t>, which then runs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noProof="0" dirty="0">
                <a:latin typeface="+mn-lt"/>
              </a:rPr>
              <a:t>. The files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.profile </a:t>
            </a:r>
            <a:r>
              <a:rPr lang="en-US" noProof="0" dirty="0">
                <a:latin typeface="+mn-lt"/>
              </a:rPr>
              <a:t>and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bash_login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will not be executed; they are only used if 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and 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noProof="0" dirty="0">
                <a:latin typeface="+mn-lt"/>
              </a:rPr>
              <a:t>are not present.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Traditional shell command, available in Bash, is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noProof="0" dirty="0">
                <a:latin typeface="+mn-lt"/>
              </a:rPr>
              <a:t>. In addition, Bash has its own tool, called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noProof="0" dirty="0">
                <a:latin typeface="+mn-lt"/>
              </a:rPr>
              <a:t>.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 –s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cdspell</a:t>
            </a:r>
            <a:r>
              <a:rPr lang="en-US" noProof="0" dirty="0">
                <a:latin typeface="+mn-lt"/>
              </a:rPr>
              <a:t>	</a:t>
            </a: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6928362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977263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152214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9A28EA-8AB7-4557-90FD-5DE8F6DD229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72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openxmlformats.org/officeDocument/2006/relationships/image" Target="../media/image30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png"/><Relationship Id="rId4" Type="http://schemas.openxmlformats.org/officeDocument/2006/relationships/image" Target="../media/image36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6.png"/><Relationship Id="rId4" Type="http://schemas.openxmlformats.org/officeDocument/2006/relationships/image" Target="../media/image42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26.png"/><Relationship Id="rId4" Type="http://schemas.openxmlformats.org/officeDocument/2006/relationships/image" Target="../media/image48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6.png"/><Relationship Id="rId4" Type="http://schemas.openxmlformats.org/officeDocument/2006/relationships/image" Target="../media/image54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2.emf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8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6.png"/><Relationship Id="rId4" Type="http://schemas.openxmlformats.org/officeDocument/2006/relationships/image" Target="../media/image60.emf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8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471596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d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943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637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ellow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10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3pPr>
              <a:defRPr/>
            </a:lvl3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014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- Plus Symbol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159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F0620-6E87-D078-F005-280481B46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307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961C-132F-4F5B-9513-3BEEB7EC7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2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C30AB-4BD7-1BEE-D547-04278C77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1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A4A0AF7-E60F-D26C-223A-64972B703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784AA55-C870-2115-4570-2D8A771D8E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E9731A-D775-7881-2ADE-9A501C24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422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10433-18F2-F019-2A4C-866AA14A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15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22282-7C40-5A57-692E-44D409C5B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0" cy="8818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AA29C-63B0-9448-5C14-96920038F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2344C5-2C6A-6968-FC4F-D7A4F001B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208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B0FA7-2EA8-46CD-3DD8-9A8AB864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121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AA4DE-F380-3C2D-4A19-3FFC6A6A4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42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9219E7-A5DF-DCFC-ECD4-D3B7C5883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513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707AA-EFC2-FC0D-980D-5A04483F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048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174DD2-79E4-DA24-0FFC-AA922A467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42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CA14C3-7ED5-46A2-17DF-41AE41BFC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089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A2384-AB6C-1FB5-35F0-9F0E3D0A4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081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E7C4392-7068-04E6-20E1-4BBCA1386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F91432-260F-83D5-486C-E3B551E2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EABEF-5D6F-38BC-0E0A-DA96D971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4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63FAD-08EF-BC2C-950C-16B3F0DE1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61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96FEF6-B591-9B6F-F783-763A926B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DEBD8F-B578-3E5F-0F06-192614975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EE01A-23C2-F8D5-2384-023AC8FA9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858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56DBB-84CC-C614-857B-C35C00C4A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989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CAE40-06A7-714E-722E-1EB095B8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83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B6BAC1-D792-8826-2337-B6A97D9A6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91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F8BED-FE48-CDF0-DEFB-8F7954964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443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30461-FF09-AE3A-830B-60852F9A8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476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BBDAFE-3463-2F49-E910-428222427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1860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DD92F-2C07-73B9-B390-73B004796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5548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C62C48-B4FC-0C92-2FD2-2D4AACC4D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711B9-F295-7F9C-3A4F-1116B45B6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5278A0-C5E7-0F91-FA5D-B53388E5F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0276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364825-0C99-1A6F-72FE-EBD3B38B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19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C243CC-3824-5807-3C69-6EEB0749E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80F448F-030F-0DD7-92C5-68D5DB7D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02736-0B0C-97D2-6858-41E62A667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957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FE57C0-8EB6-2F8A-9E5B-3DC9F8E1D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7228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64E92-AD3E-BA76-4490-B706C44AC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3727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363842-446F-A21D-AB60-B1E5997B0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30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BBC7E-E4F7-506B-BF90-CAA82E820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7224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2145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image" Target="../media/image25.png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theme" Target="../theme/theme8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334A430-5193-9483-EEDE-569F4A32A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97" r:id="rId2"/>
    <p:sldLayoutId id="2147483780" r:id="rId3"/>
    <p:sldLayoutId id="2147483781" r:id="rId4"/>
    <p:sldLayoutId id="2147483798" r:id="rId5"/>
    <p:sldLayoutId id="2147483872" r:id="rId6"/>
    <p:sldLayoutId id="2147483786" r:id="rId7"/>
    <p:sldLayoutId id="2147483788" r:id="rId8"/>
    <p:sldLayoutId id="2147483873" r:id="rId9"/>
    <p:sldLayoutId id="21474837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683F0D5-4147-71E2-B2A7-09736BD6E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5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2D64E5-DE40-8B2B-7400-731C8C1F4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0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6: </a:t>
            </a:r>
            <a:r>
              <a:rPr lang="en-US" noProof="0" dirty="0" err="1"/>
              <a:t>Customising</a:t>
            </a:r>
            <a:r>
              <a:rPr lang="en-US" noProof="0" dirty="0"/>
              <a:t> the Bash Environment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D6F7DA0-515F-00A6-F8A6-49243C6BE3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FD6687-52B8-85AB-03C8-FA0459E22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7827"/>
              </p:ext>
            </p:extLst>
          </p:nvPr>
        </p:nvGraphicFramePr>
        <p:xfrm>
          <a:off x="473407" y="4125097"/>
          <a:ext cx="5094274" cy="111252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094274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6: </a:t>
                      </a:r>
                      <a:r>
                        <a:rPr lang="en-US" sz="1800" noProof="0" dirty="0" err="1">
                          <a:solidFill>
                            <a:schemeClr val="tx1"/>
                          </a:solidFill>
                          <a:latin typeface="+mn-lt"/>
                        </a:rPr>
                        <a:t>Customising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 the Bash Environment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7: Working with Elevated Privileges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r>
                        <a:rPr lang="en-US" sz="1800" noProof="0">
                          <a:solidFill>
                            <a:schemeClr val="tx1"/>
                          </a:solidFill>
                          <a:latin typeface="+mn-lt"/>
                        </a:rPr>
                        <a:t>: Managing </a:t>
                      </a: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Data streams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09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Shell definitions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Controlling shell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What are shell scripts?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Shell start-up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44305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Shell definitions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B386F-CE85-31E5-CDAB-DBE06A8802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52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C83D9C-9D8D-AA37-6B35-591B5802A7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Bash environment definitions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Environment definitions </a:t>
            </a:r>
            <a:r>
              <a:rPr lang="en-US" dirty="0"/>
              <a:t>include</a:t>
            </a:r>
            <a:r>
              <a:rPr lang="en-US" noProof="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Variables.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Aliases.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Functions.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r>
              <a:rPr lang="en-US" noProof="0" dirty="0"/>
              <a:t>These definitions originate from: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parent shell (when parent exports).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current shell (created or modified).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Configuration files.</a:t>
            </a:r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999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0820A2A5-2BA3-3C83-D9D2-063CEC39E4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Parent / child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Environment</a:t>
            </a:r>
            <a:r>
              <a:rPr lang="en-US" sz="1800" spc="3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definitions:</a:t>
            </a:r>
          </a:p>
          <a:p>
            <a:pPr marL="467003" lvl="1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Can pass from parent to child</a:t>
            </a:r>
          </a:p>
          <a:p>
            <a:pPr marL="467003" lvl="1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But </a:t>
            </a:r>
            <a:r>
              <a:rPr lang="en-US" sz="1800" b="1" spc="49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from child to parent</a:t>
            </a:r>
          </a:p>
          <a:p>
            <a:pPr marL="467003" lvl="1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arent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only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gets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cs typeface="Segoe UI"/>
              </a:rPr>
              <a:t>exit</a:t>
            </a:r>
            <a:r>
              <a:rPr lang="en-US" sz="1800" b="1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status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success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(=0)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failure (&gt;0)</a:t>
            </a:r>
            <a:endParaRPr lang="en-US" sz="1800" noProof="0" dirty="0">
              <a:cs typeface="Segoe UI"/>
            </a:endParaRPr>
          </a:p>
          <a:p>
            <a:pPr marL="284797" lvl="1" indent="0">
              <a:spcBef>
                <a:spcPts val="492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z="1600" noProof="0" dirty="0">
              <a:latin typeface="Montserrat" panose="00000500000000000000" pitchFamily="2" charset="0"/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E9C0FB-88D2-D0E5-2C82-3CDF417D1987}"/>
              </a:ext>
            </a:extLst>
          </p:cNvPr>
          <p:cNvGrpSpPr/>
          <p:nvPr/>
        </p:nvGrpSpPr>
        <p:grpSpPr>
          <a:xfrm>
            <a:off x="7347333" y="2706214"/>
            <a:ext cx="4060442" cy="3602510"/>
            <a:chOff x="5038381" y="2094567"/>
            <a:chExt cx="4060442" cy="422253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5B825D7-B110-38C2-8B9C-AF409859F233}"/>
                </a:ext>
              </a:extLst>
            </p:cNvPr>
            <p:cNvGrpSpPr/>
            <p:nvPr/>
          </p:nvGrpSpPr>
          <p:grpSpPr>
            <a:xfrm>
              <a:off x="5038381" y="2094567"/>
              <a:ext cx="4060442" cy="4222531"/>
              <a:chOff x="4889413" y="284184"/>
              <a:chExt cx="4060442" cy="422253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F3A1F0F-E62A-D624-6C55-E97C8F7CEA26}"/>
                  </a:ext>
                </a:extLst>
              </p:cNvPr>
              <p:cNvGrpSpPr/>
              <p:nvPr/>
            </p:nvGrpSpPr>
            <p:grpSpPr>
              <a:xfrm>
                <a:off x="4889413" y="734114"/>
                <a:ext cx="1286748" cy="1083411"/>
                <a:chOff x="9306753" y="679288"/>
                <a:chExt cx="1286748" cy="982985"/>
              </a:xfrm>
            </p:grpSpPr>
            <p:sp>
              <p:nvSpPr>
                <p:cNvPr id="23" name="object 9">
                  <a:extLst>
                    <a:ext uri="{FF2B5EF4-FFF2-40B4-BE49-F238E27FC236}">
                      <a16:creationId xmlns:a16="http://schemas.microsoft.com/office/drawing/2014/main" id="{7DD7F962-FE59-FE39-0E3C-CBF2B7D0FA60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00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00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00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24" name="object 12">
                  <a:extLst>
                    <a:ext uri="{FF2B5EF4-FFF2-40B4-BE49-F238E27FC236}">
                      <a16:creationId xmlns:a16="http://schemas.microsoft.com/office/drawing/2014/main" id="{4B896EA5-AD23-FFF2-E1D5-685A855F4537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5" name="object 14">
                  <a:extLst>
                    <a:ext uri="{FF2B5EF4-FFF2-40B4-BE49-F238E27FC236}">
                      <a16:creationId xmlns:a16="http://schemas.microsoft.com/office/drawing/2014/main" id="{0A2D9C34-6246-BE3A-8126-7D25456AA102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51FF51FB-FFDE-075D-457E-DF4528D3C5A6}"/>
                  </a:ext>
                </a:extLst>
              </p:cNvPr>
              <p:cNvSpPr txBox="1"/>
              <p:nvPr/>
            </p:nvSpPr>
            <p:spPr>
              <a:xfrm>
                <a:off x="5160655" y="290402"/>
                <a:ext cx="871499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spc="-8" noProof="0" dirty="0">
                    <a:cs typeface="Segoe UI"/>
                  </a:rPr>
                  <a:t>parent</a:t>
                </a:r>
                <a:endParaRPr lang="en-US" sz="1950" noProof="0" dirty="0">
                  <a:cs typeface="Segoe UI"/>
                </a:endParaRPr>
              </a:p>
            </p:txBody>
          </p:sp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6F4C12C0-25D3-0A76-3694-F2A4E845FE8E}"/>
                  </a:ext>
                </a:extLst>
              </p:cNvPr>
              <p:cNvSpPr txBox="1"/>
              <p:nvPr/>
            </p:nvSpPr>
            <p:spPr>
              <a:xfrm>
                <a:off x="7984319" y="284184"/>
                <a:ext cx="662259" cy="310502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noProof="0" dirty="0">
                    <a:cs typeface="Segoe UI"/>
                  </a:rPr>
                  <a:t>child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9842796-00F5-2791-2FDA-F3BA0D26A627}"/>
                  </a:ext>
                </a:extLst>
              </p:cNvPr>
              <p:cNvGrpSpPr/>
              <p:nvPr/>
            </p:nvGrpSpPr>
            <p:grpSpPr>
              <a:xfrm>
                <a:off x="7663107" y="3366383"/>
                <a:ext cx="1286748" cy="1140332"/>
                <a:chOff x="9306753" y="679288"/>
                <a:chExt cx="1286748" cy="982985"/>
              </a:xfrm>
            </p:grpSpPr>
            <p:sp>
              <p:nvSpPr>
                <p:cNvPr id="20" name="object 9">
                  <a:extLst>
                    <a:ext uri="{FF2B5EF4-FFF2-40B4-BE49-F238E27FC236}">
                      <a16:creationId xmlns:a16="http://schemas.microsoft.com/office/drawing/2014/main" id="{292ECA2B-E890-E725-AACB-362AE8C783B9}"/>
                    </a:ext>
                  </a:extLst>
                </p:cNvPr>
                <p:cNvSpPr txBox="1"/>
                <p:nvPr/>
              </p:nvSpPr>
              <p:spPr>
                <a:xfrm>
                  <a:off x="9468697" y="879594"/>
                  <a:ext cx="1016662" cy="502013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0000C7"/>
                      </a:solidFill>
                      <a:cs typeface="Segoe UI"/>
                    </a:rPr>
                    <a:t>Program</a:t>
                  </a:r>
                  <a:endParaRPr lang="en-US" sz="1625" b="1" spc="-37" noProof="0" dirty="0">
                    <a:solidFill>
                      <a:srgbClr val="0000C7"/>
                    </a:solidFill>
                    <a:cs typeface="Segoe UI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latin typeface="Segoe UI"/>
                      <a:cs typeface="Segoe UI"/>
                    </a:rPr>
                    <a:t>env</a:t>
                  </a:r>
                  <a:endParaRPr lang="en-US" sz="1625" noProof="0" dirty="0">
                    <a:latin typeface="Segoe UI"/>
                    <a:cs typeface="Segoe UI"/>
                  </a:endParaRPr>
                </a:p>
              </p:txBody>
            </p:sp>
            <p:sp>
              <p:nvSpPr>
                <p:cNvPr id="21" name="object 12">
                  <a:extLst>
                    <a:ext uri="{FF2B5EF4-FFF2-40B4-BE49-F238E27FC236}">
                      <a16:creationId xmlns:a16="http://schemas.microsoft.com/office/drawing/2014/main" id="{F436C494-0167-13AA-F1E3-807DC6F884A1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2" name="object 14">
                  <a:extLst>
                    <a:ext uri="{FF2B5EF4-FFF2-40B4-BE49-F238E27FC236}">
                      <a16:creationId xmlns:a16="http://schemas.microsoft.com/office/drawing/2014/main" id="{4AA7ECCE-AD2A-DEB4-4B12-6782DBC72354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A6DDB37-5D54-D06D-C741-003A14ED5739}"/>
                  </a:ext>
                </a:extLst>
              </p:cNvPr>
              <p:cNvGrpSpPr/>
              <p:nvPr/>
            </p:nvGrpSpPr>
            <p:grpSpPr>
              <a:xfrm>
                <a:off x="7651028" y="734113"/>
                <a:ext cx="1286748" cy="1083411"/>
                <a:chOff x="9306753" y="679288"/>
                <a:chExt cx="1286748" cy="982985"/>
              </a:xfrm>
            </p:grpSpPr>
            <p:sp>
              <p:nvSpPr>
                <p:cNvPr id="17" name="object 9">
                  <a:extLst>
                    <a:ext uri="{FF2B5EF4-FFF2-40B4-BE49-F238E27FC236}">
                      <a16:creationId xmlns:a16="http://schemas.microsoft.com/office/drawing/2014/main" id="{0834A03F-A917-A6A5-6CFD-490084402651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00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00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00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25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25" noProof="0" dirty="0">
                    <a:cs typeface="Segoe UI"/>
                  </a:endParaRPr>
                </a:p>
              </p:txBody>
            </p:sp>
            <p:sp>
              <p:nvSpPr>
                <p:cNvPr id="18" name="object 12">
                  <a:extLst>
                    <a:ext uri="{FF2B5EF4-FFF2-40B4-BE49-F238E27FC236}">
                      <a16:creationId xmlns:a16="http://schemas.microsoft.com/office/drawing/2014/main" id="{69A98151-3AD6-A415-3DE0-683808B99A7C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19" name="object 14">
                  <a:extLst>
                    <a:ext uri="{FF2B5EF4-FFF2-40B4-BE49-F238E27FC236}">
                      <a16:creationId xmlns:a16="http://schemas.microsoft.com/office/drawing/2014/main" id="{DA6F94D3-2B87-01B5-E8A1-8645B644DA6A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D34B95B-7B3A-4C15-A125-947167814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565" y="1249286"/>
                <a:ext cx="1095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6AE3729-0FE3-B5B4-6997-85C9890632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5554" y="1936845"/>
                <a:ext cx="8848" cy="13304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945A9A0-15CC-2987-4995-10802E24E9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19205" y="1874851"/>
                <a:ext cx="1823681" cy="19149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59FE4BF5-7F3E-9F49-5F28-925F9DF7F4D4}"/>
                  </a:ext>
                </a:extLst>
              </p:cNvPr>
              <p:cNvSpPr txBox="1"/>
              <p:nvPr/>
            </p:nvSpPr>
            <p:spPr>
              <a:xfrm>
                <a:off x="6194582" y="853777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0000C7"/>
                    </a:solidFill>
                    <a:cs typeface="Segoe UI"/>
                  </a:rPr>
                  <a:t>fork (clone</a:t>
                </a:r>
                <a:r>
                  <a:rPr lang="en-US" sz="1625" b="1" spc="-37" noProof="0" dirty="0">
                    <a:solidFill>
                      <a:srgbClr val="0000C7"/>
                    </a:solidFill>
                    <a:latin typeface="Segoe UI"/>
                    <a:cs typeface="Segoe UI"/>
                  </a:rPr>
                  <a:t>)</a:t>
                </a:r>
                <a:endParaRPr lang="en-US" sz="1625" noProof="0" dirty="0">
                  <a:latin typeface="Segoe UI"/>
                  <a:cs typeface="Segoe UI"/>
                </a:endParaRPr>
              </a:p>
            </p:txBody>
          </p:sp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C9D6D373-D4C4-8B49-C0C4-49009AC8B093}"/>
                  </a:ext>
                </a:extLst>
              </p:cNvPr>
              <p:cNvSpPr txBox="1"/>
              <p:nvPr/>
            </p:nvSpPr>
            <p:spPr>
              <a:xfrm rot="5400000">
                <a:off x="7981668" y="2482897"/>
                <a:ext cx="1624574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25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exec </a:t>
                </a:r>
                <a:r>
                  <a:rPr lang="en-US" sz="1625" b="1" i="1" spc="-37" noProof="0" dirty="0">
                    <a:solidFill>
                      <a:srgbClr val="0000C7"/>
                    </a:solidFill>
                    <a:ea typeface="Hack" panose="020B0609030202020204" pitchFamily="49" charset="0"/>
                    <a:cs typeface="Hack" panose="020B0609030202020204" pitchFamily="49" charset="0"/>
                  </a:rPr>
                  <a:t>Program</a:t>
                </a:r>
                <a:endParaRPr lang="en-US" sz="1625" i="1" noProof="0" dirty="0"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2728E7FB-39F3-25E1-6095-0F56CE9E5D07}"/>
                  </a:ext>
                </a:extLst>
              </p:cNvPr>
              <p:cNvSpPr txBox="1"/>
              <p:nvPr/>
            </p:nvSpPr>
            <p:spPr>
              <a:xfrm rot="2852273">
                <a:off x="6093935" y="2439893"/>
                <a:ext cx="1286747" cy="289983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00" b="1" spc="-37" noProof="0" dirty="0">
                    <a:solidFill>
                      <a:srgbClr val="0000C7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rPr>
                  <a:t>exit [n]</a:t>
                </a:r>
                <a:endParaRPr lang="en-US" sz="16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endParaRPr>
              </a:p>
            </p:txBody>
          </p:sp>
        </p:grpSp>
        <p:sp>
          <p:nvSpPr>
            <p:cNvPr id="26" name="object 9">
              <a:extLst>
                <a:ext uri="{FF2B5EF4-FFF2-40B4-BE49-F238E27FC236}">
                  <a16:creationId xmlns:a16="http://schemas.microsoft.com/office/drawing/2014/main" id="{3AE4D251-A03F-4322-E283-7A321B22B890}"/>
                </a:ext>
              </a:extLst>
            </p:cNvPr>
            <p:cNvSpPr txBox="1"/>
            <p:nvPr/>
          </p:nvSpPr>
          <p:spPr>
            <a:xfrm rot="2852273">
              <a:off x="5879436" y="4591311"/>
              <a:ext cx="1455986" cy="293831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00" strike="sngStrike" spc="-37" noProof="0" dirty="0">
                  <a:cs typeface="Segoe UI"/>
                </a:rPr>
                <a:t>environment</a:t>
              </a:r>
              <a:endParaRPr lang="en-US" sz="1600" strike="sngStrike" noProof="0" dirty="0">
                <a:cs typeface="Segoe UI"/>
              </a:endParaRPr>
            </a:p>
          </p:txBody>
        </p: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6AB54F5C-C286-EC95-854E-9289F5B0CBBB}"/>
                </a:ext>
              </a:extLst>
            </p:cNvPr>
            <p:cNvSpPr txBox="1"/>
            <p:nvPr/>
          </p:nvSpPr>
          <p:spPr>
            <a:xfrm>
              <a:off x="6382076" y="3102261"/>
              <a:ext cx="1491248" cy="293831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25" spc="-37" noProof="0" dirty="0">
                  <a:cs typeface="Segoe UI"/>
                </a:rPr>
                <a:t>environment</a:t>
              </a:r>
              <a:endParaRPr lang="en-US" sz="1625" noProof="0" dirty="0">
                <a:cs typeface="Segoe UI"/>
              </a:endParaRP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C0D608AB-68F9-C4BC-9F3F-AD60AE38D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320" y="632594"/>
            <a:ext cx="1845325" cy="197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78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1F8CEB-7DE2-4521-EBF8-0C7F36DB8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Shell variables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Assigning a value to a variable </a:t>
            </a:r>
            <a:r>
              <a:rPr lang="en-US" sz="1800" spc="-20" noProof="0" dirty="0">
                <a:solidFill>
                  <a:srgbClr val="C00000"/>
                </a:solidFill>
              </a:rPr>
              <a:t>(note: no spaces around the </a:t>
            </a:r>
            <a:r>
              <a:rPr lang="en-US" sz="1800" b="1" spc="-20" noProof="0" dirty="0">
                <a:solidFill>
                  <a:srgbClr val="C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800" spc="-20" noProof="0" dirty="0">
                <a:solidFill>
                  <a:srgbClr val="C00000"/>
                </a:solidFill>
                <a:ea typeface="Hack" panose="020B0609030202020204" pitchFamily="49" charset="0"/>
                <a:cs typeface="Hack" panose="020B0609030202020204" pitchFamily="49" charset="0"/>
              </a:rPr>
              <a:t>)</a:t>
            </a:r>
            <a:r>
              <a:rPr lang="en-US" sz="1800" spc="-20" noProof="0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Reading a value in a variable (expansion):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solidFill>
                <a:schemeClr val="tx1"/>
              </a:solidFill>
              <a:cs typeface="Segoe UI"/>
            </a:endParaRPr>
          </a:p>
          <a:p>
            <a:pPr marL="189799" lvl="1" indent="0">
              <a:spcBef>
                <a:spcPts val="569"/>
              </a:spcBef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endParaRPr lang="en-US" sz="1800" spc="-20" noProof="0" dirty="0"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cs typeface="Segoe UI"/>
            </a:endParaRPr>
          </a:p>
          <a:p>
            <a:pPr marL="12753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20" noProof="0" dirty="0">
                <a:solidFill>
                  <a:schemeClr val="tx1"/>
                </a:solidFill>
                <a:cs typeface="Segoe UI"/>
              </a:rPr>
              <a:t>By default, variables are not passed to child processes unless exported.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cs typeface="Segoe UI"/>
            </a:endParaRP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Use</a:t>
            </a:r>
            <a:r>
              <a:rPr lang="en-US" sz="1800" spc="-20" noProof="0" dirty="0">
                <a:cs typeface="Segoe UI"/>
              </a:rPr>
              <a:t>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 to display all variables,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env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 for exported variables.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>
              <a:solidFill>
                <a:schemeClr val="tx1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Use</a:t>
            </a:r>
            <a:r>
              <a:rPr lang="en-US" sz="1800" spc="-20" noProof="0" dirty="0">
                <a:cs typeface="Segoe UI"/>
              </a:rPr>
              <a:t>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unset</a:t>
            </a:r>
            <a:r>
              <a:rPr lang="en-US" sz="1800" spc="-20" noProof="0" dirty="0">
                <a:cs typeface="Segoe UI"/>
              </a:rPr>
              <a:t> </a:t>
            </a:r>
            <a:r>
              <a:rPr lang="en-US" sz="1800" spc="-20" noProof="0" dirty="0">
                <a:solidFill>
                  <a:schemeClr val="tx1"/>
                </a:solidFill>
                <a:cs typeface="Segoe UI"/>
              </a:rPr>
              <a:t>to delete a variable.</a:t>
            </a:r>
            <a:endParaRPr lang="en-US" sz="3200" noProof="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F4F9CDB-FBBB-8DED-4995-E86B75AA0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3601" y="1680848"/>
            <a:ext cx="364570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635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36116">
              <a:spcBef>
                <a:spcPts val="211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9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avalue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A2EA8B5-7149-6F56-BFB4-9B1011741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3602" y="2311888"/>
            <a:ext cx="3645707" cy="129009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635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/>
                <a:cs typeface="Courier New"/>
              </a:rPr>
              <a:t>$</a:t>
            </a:r>
            <a:r>
              <a:rPr lang="en-US" spc="-37" noProof="0" dirty="0">
                <a:solidFill>
                  <a:schemeClr val="bg1"/>
                </a:solidFill>
                <a:latin typeface="Hack" panose="020B0609030202020204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/>
                <a:cs typeface="Courier New"/>
              </a:rPr>
              <a:t>echo</a:t>
            </a:r>
            <a:r>
              <a:rPr lang="en-US" b="1" spc="-37" noProof="0" dirty="0">
                <a:solidFill>
                  <a:schemeClr val="bg1"/>
                </a:solidFill>
                <a:latin typeface="Hack" panose="020B0609030202020204"/>
                <a:cs typeface="Courier New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/>
                <a:cs typeface="Courier New"/>
              </a:rPr>
              <a:t>${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/>
                <a:cs typeface="Courier New"/>
              </a:rPr>
              <a:t>}</a:t>
            </a:r>
            <a:endParaRPr lang="en-US" noProof="0" dirty="0">
              <a:solidFill>
                <a:schemeClr val="bg1"/>
              </a:solidFill>
              <a:latin typeface="Hack" panose="020B0609030202020204"/>
              <a:cs typeface="Courier New"/>
            </a:endParaRPr>
          </a:p>
          <a:p>
            <a:pPr marL="10319">
              <a:spcBef>
                <a:spcPts val="61"/>
              </a:spcBef>
            </a:pPr>
            <a:r>
              <a:rPr lang="en-US" spc="-4" dirty="0">
                <a:solidFill>
                  <a:schemeClr val="bg1"/>
                </a:solidFill>
                <a:latin typeface="Hack" panose="020B0609030202020204"/>
                <a:ea typeface="Hack" panose="020B0609030202020204" pitchFamily="49" charset="0"/>
                <a:cs typeface="Hack" panose="020B0609030202020204" pitchFamily="49" charset="0"/>
              </a:rPr>
              <a:t>a</a:t>
            </a:r>
            <a:r>
              <a:rPr lang="en-US" spc="-4" noProof="0" dirty="0">
                <a:solidFill>
                  <a:schemeClr val="bg1"/>
                </a:solidFill>
                <a:latin typeface="Hack" panose="020B0609030202020204"/>
                <a:ea typeface="Hack" panose="020B0609030202020204" pitchFamily="49" charset="0"/>
                <a:cs typeface="Hack" panose="020B0609030202020204" pitchFamily="49" charset="0"/>
              </a:rPr>
              <a:t>value</a:t>
            </a:r>
          </a:p>
          <a:p>
            <a:pPr marL="10319">
              <a:spcBef>
                <a:spcPts val="73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/>
                <a:cs typeface="Courier New"/>
              </a:rPr>
              <a:t>$</a:t>
            </a:r>
            <a:r>
              <a:rPr lang="en-US" spc="-37" dirty="0">
                <a:solidFill>
                  <a:schemeClr val="bg1"/>
                </a:solidFill>
                <a:latin typeface="Hack" panose="020B0609030202020204"/>
                <a:cs typeface="Courier New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/>
                <a:cs typeface="Courier New"/>
              </a:rPr>
              <a:t>echo</a:t>
            </a:r>
            <a:r>
              <a:rPr lang="en-US" b="1" spc="-37" dirty="0">
                <a:solidFill>
                  <a:schemeClr val="bg1"/>
                </a:solidFill>
                <a:latin typeface="Hack" panose="020B0609030202020204"/>
                <a:cs typeface="Courier New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/>
                <a:cs typeface="Courier New"/>
              </a:rPr>
              <a:t>$</a:t>
            </a:r>
            <a:r>
              <a:rPr lang="en-US" b="1" spc="-4" dirty="0" err="1">
                <a:solidFill>
                  <a:schemeClr val="bg1"/>
                </a:solidFill>
                <a:latin typeface="Hack" panose="020B0609030202020204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endParaRPr lang="en-US" dirty="0">
              <a:solidFill>
                <a:schemeClr val="bg1"/>
              </a:solidFill>
              <a:latin typeface="Hack" panose="020B0609030202020204"/>
              <a:cs typeface="Courier New"/>
            </a:endParaRPr>
          </a:p>
          <a:p>
            <a:pPr marL="10319">
              <a:spcBef>
                <a:spcPts val="61"/>
              </a:spcBef>
            </a:pPr>
            <a:r>
              <a:rPr lang="en-US" spc="-4" dirty="0" err="1">
                <a:solidFill>
                  <a:schemeClr val="bg1"/>
                </a:solidFill>
                <a:latin typeface="Hack" panose="020B0609030202020204"/>
                <a:ea typeface="Hack" panose="020B0609030202020204" pitchFamily="49" charset="0"/>
                <a:cs typeface="Hack" panose="020B0609030202020204" pitchFamily="49" charset="0"/>
              </a:rPr>
              <a:t>avalue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925EDF9-DAA6-4D98-301F-DF6FAE09C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3603" y="3783371"/>
            <a:ext cx="3645707" cy="723275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export</a:t>
            </a:r>
            <a:r>
              <a:rPr lang="en-US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154"/>
              </a:spcBef>
            </a:pPr>
            <a:r>
              <a:rPr lang="en-US" spc="-4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b="1" spc="-33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r>
              <a:rPr lang="en-US" b="1" spc="-4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b="1" spc="-4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avalue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DBB7197-F7F5-D7BD-05FF-0474B44F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3601" y="5524451"/>
            <a:ext cx="3645707" cy="42734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unset</a:t>
            </a:r>
            <a:r>
              <a:rPr lang="en-US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Variable_Name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52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90711B-2B17-0C8D-55EF-835A11A94E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Environment variables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man</a:t>
            </a:r>
            <a:r>
              <a:rPr lang="en-US" sz="1800" b="1" spc="16" noProof="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12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</a:t>
            </a:r>
            <a:r>
              <a:rPr lang="en-US" sz="1800" b="1" spc="-12" noProof="0" dirty="0">
                <a:solidFill>
                  <a:schemeClr val="tx1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more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information.</a:t>
            </a:r>
            <a:endParaRPr lang="en-US" sz="1800" spc="41" noProof="0" dirty="0">
              <a:solidFill>
                <a:srgbClr val="2D2C2C"/>
              </a:solidFill>
              <a:cs typeface="Segoe UI"/>
            </a:endParaRPr>
          </a:p>
          <a:p>
            <a:pPr marL="0" indent="0">
              <a:buNone/>
            </a:pPr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E48FEC91-E751-16C2-19B6-DAD86199B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28547"/>
              </p:ext>
            </p:extLst>
          </p:nvPr>
        </p:nvGraphicFramePr>
        <p:xfrm>
          <a:off x="4650060" y="687245"/>
          <a:ext cx="7281746" cy="57211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82476">
                  <a:extLst>
                    <a:ext uri="{9D8B030D-6E8A-4147-A177-3AD203B41FA5}">
                      <a16:colId xmlns:a16="http://schemas.microsoft.com/office/drawing/2014/main" val="2812852775"/>
                    </a:ext>
                  </a:extLst>
                </a:gridCol>
                <a:gridCol w="5699270">
                  <a:extLst>
                    <a:ext uri="{9D8B030D-6E8A-4147-A177-3AD203B41FA5}">
                      <a16:colId xmlns:a16="http://schemas.microsoft.com/office/drawing/2014/main" val="2686978155"/>
                    </a:ext>
                  </a:extLst>
                </a:gridCol>
              </a:tblGrid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Use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379233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</a:rPr>
                        <a:t>HOME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/>
                        <a:t>User’s</a:t>
                      </a:r>
                      <a:r>
                        <a:rPr lang="en-US" sz="1800" spc="-53" noProof="0" dirty="0"/>
                        <a:t> </a:t>
                      </a:r>
                      <a:r>
                        <a:rPr lang="en-US" sz="1800" noProof="0" dirty="0"/>
                        <a:t>home</a:t>
                      </a:r>
                      <a:r>
                        <a:rPr lang="en-US" sz="1800" spc="-49" noProof="0" dirty="0"/>
                        <a:t> </a:t>
                      </a:r>
                      <a:r>
                        <a:rPr lang="en-US" sz="1800" noProof="0" dirty="0"/>
                        <a:t>directory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697208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69" noProof="0" dirty="0">
                          <a:solidFill>
                            <a:srgbClr val="0000C7"/>
                          </a:solidFill>
                        </a:rPr>
                        <a:t>PATH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/>
                        <a:t>Search</a:t>
                      </a:r>
                      <a:r>
                        <a:rPr lang="en-US" sz="1800" spc="-77" noProof="0" dirty="0"/>
                        <a:t> </a:t>
                      </a:r>
                      <a:r>
                        <a:rPr lang="en-US" sz="1800" noProof="0" dirty="0"/>
                        <a:t>path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777790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</a:rPr>
                        <a:t>PS1, PS2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/>
                        <a:t>Primary</a:t>
                      </a:r>
                      <a:r>
                        <a:rPr lang="en-US" sz="1800" spc="-57" noProof="0" dirty="0"/>
                        <a:t> </a:t>
                      </a:r>
                      <a:r>
                        <a:rPr lang="en-US" sz="1800" noProof="0" dirty="0"/>
                        <a:t>and</a:t>
                      </a:r>
                      <a:r>
                        <a:rPr lang="en-US" sz="1800" spc="-20" noProof="0" dirty="0"/>
                        <a:t> </a:t>
                      </a:r>
                      <a:r>
                        <a:rPr lang="en-US" sz="1800" noProof="0" dirty="0"/>
                        <a:t>secondary</a:t>
                      </a:r>
                      <a:r>
                        <a:rPr lang="en-US" sz="1800" spc="-73" noProof="0" dirty="0"/>
                        <a:t> </a:t>
                      </a:r>
                      <a:r>
                        <a:rPr lang="en-US" sz="1800" noProof="0" dirty="0"/>
                        <a:t>prompt strings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463713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</a:rPr>
                        <a:t>HIST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</a:rPr>
                        <a:t>FIL</a:t>
                      </a: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</a:rPr>
                        <a:t>E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/>
                        <a:t>History</a:t>
                      </a:r>
                      <a:r>
                        <a:rPr lang="en-US" sz="1800" spc="-61" noProof="0" dirty="0"/>
                        <a:t> </a:t>
                      </a:r>
                      <a:r>
                        <a:rPr lang="en-US" sz="1800" noProof="0" dirty="0"/>
                        <a:t>file</a:t>
                      </a:r>
                      <a:r>
                        <a:rPr lang="en-US" sz="1800" spc="-45" noProof="0" dirty="0"/>
                        <a:t> </a:t>
                      </a:r>
                      <a:r>
                        <a:rPr lang="en-US" sz="1800" noProof="0" dirty="0"/>
                        <a:t>name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937110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</a:rPr>
                        <a:t>HISTS</a:t>
                      </a:r>
                      <a:r>
                        <a:rPr lang="en-US" sz="1800" b="1" spc="4" noProof="0" dirty="0">
                          <a:solidFill>
                            <a:srgbClr val="0000C7"/>
                          </a:solidFill>
                        </a:rPr>
                        <a:t>I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</a:rPr>
                        <a:t>ZE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/>
                        <a:t>Number</a:t>
                      </a:r>
                      <a:r>
                        <a:rPr lang="en-US" sz="1800" spc="-61" noProof="0" dirty="0"/>
                        <a:t> </a:t>
                      </a:r>
                      <a:r>
                        <a:rPr lang="en-US" sz="1800" noProof="0" dirty="0"/>
                        <a:t>of</a:t>
                      </a:r>
                      <a:r>
                        <a:rPr lang="en-US" sz="1800" spc="-16" noProof="0" dirty="0"/>
                        <a:t> </a:t>
                      </a:r>
                      <a:r>
                        <a:rPr lang="en-US" sz="1800" noProof="0" dirty="0"/>
                        <a:t>lines</a:t>
                      </a:r>
                      <a:r>
                        <a:rPr lang="en-US" sz="1800" spc="-28" noProof="0" dirty="0"/>
                        <a:t> </a:t>
                      </a:r>
                      <a:r>
                        <a:rPr lang="en-US" sz="1800" noProof="0" dirty="0"/>
                        <a:t>in</a:t>
                      </a:r>
                      <a:r>
                        <a:rPr lang="en-US" sz="1800" spc="4" noProof="0" dirty="0"/>
                        <a:t> </a:t>
                      </a:r>
                      <a:r>
                        <a:rPr lang="en-US" sz="1800" noProof="0" dirty="0"/>
                        <a:t>history</a:t>
                      </a:r>
                      <a:r>
                        <a:rPr lang="en-US" sz="1800" spc="-49" noProof="0" dirty="0"/>
                        <a:t> </a:t>
                      </a:r>
                      <a:r>
                        <a:rPr lang="en-US" sz="1800" noProof="0" dirty="0"/>
                        <a:t>file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334101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</a:rPr>
                        <a:t>TERM</a:t>
                      </a:r>
                      <a:endParaRPr lang="en-US" sz="1800" b="1" noProof="0" dirty="0">
                        <a:solidFill>
                          <a:srgbClr val="0000C7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/>
                        <a:t>Defines</a:t>
                      </a:r>
                      <a:r>
                        <a:rPr lang="en-US" sz="1800" spc="-49" noProof="0" dirty="0"/>
                        <a:t> </a:t>
                      </a:r>
                      <a:r>
                        <a:rPr lang="en-US" sz="1800" noProof="0" dirty="0"/>
                        <a:t>the</a:t>
                      </a:r>
                      <a:r>
                        <a:rPr lang="en-US" sz="1800" spc="-16" noProof="0" dirty="0"/>
                        <a:t> </a:t>
                      </a:r>
                      <a:r>
                        <a:rPr lang="en-US" sz="1800" noProof="0" dirty="0"/>
                        <a:t>terminal</a:t>
                      </a:r>
                      <a:r>
                        <a:rPr lang="en-US" sz="1800" spc="-53" noProof="0" dirty="0"/>
                        <a:t> </a:t>
                      </a:r>
                      <a:r>
                        <a:rPr lang="en-US" sz="1800" spc="-4" noProof="0" dirty="0"/>
                        <a:t>type,</a:t>
                      </a:r>
                      <a:r>
                        <a:rPr lang="en-US" sz="1800" spc="16" noProof="0" dirty="0"/>
                        <a:t> otherwise </a:t>
                      </a:r>
                      <a:r>
                        <a:rPr lang="en-US" sz="1800" b="1" spc="-8" noProof="0" dirty="0">
                          <a:solidFill>
                            <a:srgbClr val="0000C7"/>
                          </a:solidFill>
                        </a:rPr>
                        <a:t>vi</a:t>
                      </a:r>
                      <a:r>
                        <a:rPr lang="en-US" sz="1800" b="1" spc="24" noProof="0" dirty="0">
                          <a:solidFill>
                            <a:srgbClr val="0000C7"/>
                          </a:solidFill>
                        </a:rPr>
                        <a:t> </a:t>
                      </a:r>
                      <a:r>
                        <a:rPr lang="en-US" sz="1800" spc="-4" noProof="0" dirty="0"/>
                        <a:t>will</a:t>
                      </a:r>
                      <a:r>
                        <a:rPr lang="en-US" sz="1800" spc="4" noProof="0" dirty="0"/>
                        <a:t> </a:t>
                      </a:r>
                      <a:r>
                        <a:rPr lang="en-US" sz="1800" noProof="0" dirty="0"/>
                        <a:t>fail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31945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8" noProof="0" dirty="0">
                          <a:solidFill>
                            <a:srgbClr val="0000C7"/>
                          </a:solidFill>
                        </a:rPr>
                        <a:t>VISUAL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/>
                        <a:t>Defines</a:t>
                      </a:r>
                      <a:r>
                        <a:rPr lang="en-US" sz="1800" spc="-53" noProof="0" dirty="0"/>
                        <a:t> </a:t>
                      </a:r>
                      <a:r>
                        <a:rPr lang="en-US" sz="1800" noProof="0" dirty="0"/>
                        <a:t>the</a:t>
                      </a:r>
                      <a:r>
                        <a:rPr lang="en-US" sz="1800" spc="-12" noProof="0" dirty="0"/>
                        <a:t> </a:t>
                      </a:r>
                      <a:r>
                        <a:rPr lang="en-US" sz="1800" noProof="0" dirty="0"/>
                        <a:t>visual</a:t>
                      </a:r>
                      <a:r>
                        <a:rPr lang="en-US" sz="1800" spc="-33" noProof="0" dirty="0"/>
                        <a:t> </a:t>
                      </a:r>
                      <a:r>
                        <a:rPr lang="en-US" sz="1800" noProof="0" dirty="0"/>
                        <a:t>(screen)</a:t>
                      </a:r>
                      <a:r>
                        <a:rPr lang="en-US" sz="1800" spc="-37" noProof="0" dirty="0"/>
                        <a:t> </a:t>
                      </a:r>
                      <a:r>
                        <a:rPr lang="en-US" sz="1800" noProof="0" dirty="0"/>
                        <a:t>editor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1992214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</a:rPr>
                        <a:t>EDITOR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113506">
                        <a:spcBef>
                          <a:spcPts val="81"/>
                        </a:spcBef>
                      </a:pPr>
                      <a:r>
                        <a:rPr lang="en-US" sz="1800" noProof="0" dirty="0"/>
                        <a:t>Default</a:t>
                      </a:r>
                      <a:r>
                        <a:rPr lang="en-US" sz="1800" spc="-53" noProof="0" dirty="0"/>
                        <a:t> </a:t>
                      </a:r>
                      <a:r>
                        <a:rPr lang="en-US" sz="1800" noProof="0" dirty="0"/>
                        <a:t>editor</a:t>
                      </a:r>
                      <a:r>
                        <a:rPr lang="en-US" sz="1800" spc="-33" noProof="0" dirty="0"/>
                        <a:t> </a:t>
                      </a:r>
                      <a:r>
                        <a:rPr lang="en-US" sz="1800" noProof="0" dirty="0"/>
                        <a:t>(will be used</a:t>
                      </a:r>
                      <a:r>
                        <a:rPr lang="en-US" sz="1800" spc="-8" noProof="0" dirty="0"/>
                        <a:t> </a:t>
                      </a:r>
                      <a:r>
                        <a:rPr lang="en-US" sz="1800" noProof="0" dirty="0"/>
                        <a:t>if</a:t>
                      </a:r>
                      <a:r>
                        <a:rPr lang="en-US" sz="1800" spc="24" noProof="0" dirty="0"/>
                        <a:t> </a:t>
                      </a:r>
                      <a:r>
                        <a:rPr lang="en-US" sz="1800" b="1" spc="-8" noProof="0" dirty="0">
                          <a:solidFill>
                            <a:srgbClr val="0000C7"/>
                          </a:solidFill>
                        </a:rPr>
                        <a:t>VISUAL</a:t>
                      </a:r>
                      <a:r>
                        <a:rPr lang="en-US" sz="1800" b="1" spc="33" noProof="0" dirty="0">
                          <a:solidFill>
                            <a:srgbClr val="0000C7"/>
                          </a:solidFill>
                        </a:rPr>
                        <a:t> </a:t>
                      </a:r>
                      <a:r>
                        <a:rPr lang="en-US" sz="1800" noProof="0" dirty="0"/>
                        <a:t>not</a:t>
                      </a:r>
                      <a:r>
                        <a:rPr lang="en-US" sz="1800" spc="-16" noProof="0" dirty="0"/>
                        <a:t> </a:t>
                      </a:r>
                      <a:r>
                        <a:rPr lang="en-US" sz="1800" noProof="0" dirty="0"/>
                        <a:t>set) 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301747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</a:rPr>
                        <a:t>LO</a:t>
                      </a:r>
                      <a:r>
                        <a:rPr lang="en-US" sz="1800" b="1" spc="-12" noProof="0" dirty="0">
                          <a:solidFill>
                            <a:srgbClr val="0000C7"/>
                          </a:solidFill>
                        </a:rPr>
                        <a:t>G</a:t>
                      </a: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</a:rPr>
                        <a:t>N</a:t>
                      </a:r>
                      <a:r>
                        <a:rPr lang="en-US" sz="1800" b="1" spc="-33" noProof="0" dirty="0">
                          <a:solidFill>
                            <a:srgbClr val="0000C7"/>
                          </a:solidFill>
                        </a:rPr>
                        <a:t>A</a:t>
                      </a:r>
                      <a:r>
                        <a:rPr lang="en-US" sz="1800" b="1" spc="8" noProof="0" dirty="0">
                          <a:solidFill>
                            <a:srgbClr val="0000C7"/>
                          </a:solidFill>
                        </a:rPr>
                        <a:t>M</a:t>
                      </a:r>
                      <a:r>
                        <a:rPr lang="en-US" sz="1800" b="1" noProof="0" dirty="0">
                          <a:solidFill>
                            <a:srgbClr val="0000C7"/>
                          </a:solidFill>
                        </a:rPr>
                        <a:t>E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spc="-4" noProof="0" dirty="0"/>
                        <a:t>Your</a:t>
                      </a:r>
                      <a:r>
                        <a:rPr lang="en-US" sz="1800" spc="-20" noProof="0" dirty="0"/>
                        <a:t> </a:t>
                      </a:r>
                      <a:r>
                        <a:rPr lang="en-US" sz="1800" noProof="0" dirty="0"/>
                        <a:t>login</a:t>
                      </a:r>
                      <a:r>
                        <a:rPr lang="en-US" sz="1800" spc="-33" noProof="0" dirty="0"/>
                        <a:t> </a:t>
                      </a:r>
                      <a:r>
                        <a:rPr lang="en-US" sz="1800" noProof="0" dirty="0"/>
                        <a:t>name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666341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</a:rPr>
                        <a:t>SHELL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noProof="0" dirty="0"/>
                        <a:t>The</a:t>
                      </a:r>
                      <a:r>
                        <a:rPr lang="en-US" sz="1800" spc="-37" noProof="0" dirty="0"/>
                        <a:t> </a:t>
                      </a:r>
                      <a:r>
                        <a:rPr lang="en-US" sz="1800" noProof="0" dirty="0"/>
                        <a:t>name</a:t>
                      </a:r>
                      <a:r>
                        <a:rPr lang="en-US" sz="1800" spc="-37" noProof="0" dirty="0"/>
                        <a:t> </a:t>
                      </a:r>
                      <a:r>
                        <a:rPr lang="en-US" sz="1800" noProof="0" dirty="0"/>
                        <a:t>of the</a:t>
                      </a:r>
                      <a:r>
                        <a:rPr lang="en-US" sz="1800" spc="-16" noProof="0" dirty="0"/>
                        <a:t> </a:t>
                      </a:r>
                      <a:r>
                        <a:rPr lang="en-US" sz="1800" noProof="0" dirty="0"/>
                        <a:t>login</a:t>
                      </a:r>
                      <a:r>
                        <a:rPr lang="en-US" sz="1800" spc="-33" noProof="0" dirty="0"/>
                        <a:t> </a:t>
                      </a:r>
                      <a:r>
                        <a:rPr lang="en-US" sz="1800" noProof="0" dirty="0"/>
                        <a:t>shell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454020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</a:rPr>
                        <a:t>EXINIT</a:t>
                      </a:r>
                      <a:endParaRPr lang="en-US" sz="1800" noProof="0" dirty="0">
                        <a:latin typeface="Hack" panose="020B0609030202020204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</a:rPr>
                        <a:t>ex</a:t>
                      </a:r>
                      <a:r>
                        <a:rPr lang="en-US" sz="1800" b="1" spc="-28" noProof="0" dirty="0">
                          <a:solidFill>
                            <a:srgbClr val="0000C7"/>
                          </a:solidFill>
                        </a:rPr>
                        <a:t> </a:t>
                      </a:r>
                      <a:r>
                        <a:rPr lang="en-US" sz="1800" noProof="0" dirty="0"/>
                        <a:t>and</a:t>
                      </a:r>
                      <a:r>
                        <a:rPr lang="en-US" sz="1800" spc="-8" noProof="0" dirty="0"/>
                        <a:t> </a:t>
                      </a:r>
                      <a:r>
                        <a:rPr lang="en-US" sz="1800" b="1" spc="-8" noProof="0" dirty="0">
                          <a:solidFill>
                            <a:srgbClr val="0000C7"/>
                          </a:solidFill>
                        </a:rPr>
                        <a:t>vi </a:t>
                      </a:r>
                      <a:r>
                        <a:rPr lang="en-US" sz="1800" kern="1200" noProof="0" dirty="0">
                          <a:solidFill>
                            <a:schemeClr val="dk1"/>
                          </a:solidFill>
                        </a:rPr>
                        <a:t>initialization commands</a:t>
                      </a:r>
                      <a:endParaRPr lang="en-US" sz="18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55650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spc="-33" noProof="0" dirty="0">
                          <a:solidFill>
                            <a:srgbClr val="0000C7"/>
                          </a:solidFill>
                        </a:rPr>
                        <a:t>PAGER</a:t>
                      </a:r>
                      <a:endParaRPr lang="en-US" sz="1800" b="1" spc="-33" noProof="0" dirty="0">
                        <a:solidFill>
                          <a:srgbClr val="0000C7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spc="-4" noProof="0" dirty="0"/>
                        <a:t>Preferred pager for man</a:t>
                      </a:r>
                      <a:endParaRPr lang="en-US" sz="1800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113031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 marR="4128">
                        <a:spcBef>
                          <a:spcPts val="8"/>
                        </a:spcBef>
                      </a:pPr>
                      <a:r>
                        <a:rPr lang="en-US" sz="1800" b="1" spc="-4" noProof="0" dirty="0">
                          <a:solidFill>
                            <a:srgbClr val="0000C7"/>
                          </a:solidFill>
                        </a:rPr>
                        <a:t>TMOUT</a:t>
                      </a:r>
                      <a:endParaRPr lang="en-US" sz="1800" b="1" spc="-4" noProof="0" dirty="0">
                        <a:solidFill>
                          <a:srgbClr val="0000C7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4"/>
                        </a:spcBef>
                      </a:pPr>
                      <a:r>
                        <a:rPr lang="en-US" sz="1800" noProof="0" dirty="0"/>
                        <a:t>Idle timeout (in </a:t>
                      </a:r>
                      <a:r>
                        <a:rPr lang="en-US" sz="1800" spc="4" noProof="0" dirty="0"/>
                        <a:t>seconds)</a:t>
                      </a:r>
                      <a:endParaRPr lang="en-US" sz="1800" spc="-4" noProof="0" dirty="0">
                        <a:latin typeface="+mn-lt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346822"/>
                  </a:ext>
                </a:extLst>
              </a:tr>
              <a:tr h="3814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>
                          <a:solidFill>
                            <a:srgbClr val="0000C7"/>
                          </a:solidFill>
                        </a:rPr>
                        <a:t>UID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Current</a:t>
                      </a:r>
                      <a:r>
                        <a:rPr lang="en-US" sz="1800" spc="-61" noProof="0" dirty="0"/>
                        <a:t> </a:t>
                      </a:r>
                      <a:r>
                        <a:rPr lang="en-US" sz="1800" noProof="0" dirty="0"/>
                        <a:t>user</a:t>
                      </a:r>
                      <a:r>
                        <a:rPr lang="en-US" sz="1800" spc="-20" noProof="0" dirty="0"/>
                        <a:t> </a:t>
                      </a:r>
                      <a:r>
                        <a:rPr lang="en-US" sz="1800" noProof="0" dirty="0"/>
                        <a:t>identifier</a:t>
                      </a:r>
                      <a:r>
                        <a:rPr lang="en-US" sz="1800" spc="-57" noProof="0" dirty="0"/>
                        <a:t> </a:t>
                      </a:r>
                      <a:r>
                        <a:rPr lang="en-US" sz="1800" noProof="0" dirty="0"/>
                        <a:t>(read-only)</a:t>
                      </a:r>
                      <a:endParaRPr lang="en-US" sz="18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321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559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623A3A-35EF-5600-C98A-346E08B734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Alias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b="1" spc="-16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environmental</a:t>
            </a:r>
            <a:r>
              <a:rPr lang="en-US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definition</a:t>
            </a:r>
            <a:r>
              <a:rPr lang="en-US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created</a:t>
            </a:r>
            <a:r>
              <a:rPr lang="en-US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to: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Give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name</a:t>
            </a:r>
            <a:r>
              <a:rPr lang="en-US" spc="45" noProof="0" dirty="0">
                <a:solidFill>
                  <a:srgbClr val="2D2C2C"/>
                </a:solidFill>
                <a:cs typeface="Segoe UI"/>
              </a:rPr>
              <a:t> to a command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or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reduce</a:t>
            </a:r>
            <a:r>
              <a:rPr lang="en-US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typing.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Override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 existing</a:t>
            </a:r>
            <a:r>
              <a:rPr lang="en-US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commands.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cs typeface="Segoe UI"/>
              </a:rPr>
              <a:t>Aliases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 are cached in memory so they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be lost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at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logout.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4" noProof="0" dirty="0">
                <a:solidFill>
                  <a:srgbClr val="2D2C2C"/>
                </a:solidFill>
                <a:cs typeface="Segoe UI"/>
              </a:rPr>
              <a:t>M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emory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belonging</a:t>
            </a:r>
            <a:r>
              <a:rPr lang="en-US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cleared at logout.</a:t>
            </a:r>
            <a:endParaRPr lang="en-US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noProof="0" dirty="0">
              <a:solidFill>
                <a:srgbClr val="2D2C2C"/>
              </a:solidFill>
              <a:cs typeface="Segoe UI"/>
            </a:endParaRP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unalias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removes an alias.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noProof="0" dirty="0">
              <a:solidFill>
                <a:srgbClr val="2D2C2C"/>
              </a:solidFill>
              <a:cs typeface="Segoe UI"/>
            </a:endParaRP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noProof="0" dirty="0">
                <a:solidFill>
                  <a:srgbClr val="2D2C2C"/>
                </a:solidFill>
                <a:cs typeface="Segoe UI"/>
              </a:rPr>
              <a:t> with no parameters lists them all the aliases.</a:t>
            </a: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dirty="0">
              <a:solidFill>
                <a:srgbClr val="2D2C2C"/>
              </a:solidFill>
              <a:cs typeface="Segoe UI"/>
            </a:endParaRP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pc="-8" dirty="0">
                <a:solidFill>
                  <a:srgbClr val="2D2C2C"/>
                </a:solidFill>
                <a:cs typeface="Segoe UI"/>
              </a:rPr>
              <a:t>Aliases</a:t>
            </a:r>
            <a:r>
              <a:rPr lang="en-US" spc="12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pc="8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useful,</a:t>
            </a:r>
            <a:r>
              <a:rPr lang="en-US" spc="33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but</a:t>
            </a:r>
            <a:r>
              <a:rPr lang="en-US" spc="16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functions</a:t>
            </a:r>
            <a:r>
              <a:rPr lang="en-US" spc="41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pc="8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dirty="0">
                <a:solidFill>
                  <a:srgbClr val="2D2C2C"/>
                </a:solidFill>
                <a:cs typeface="Segoe UI"/>
              </a:rPr>
              <a:t>more</a:t>
            </a:r>
            <a:r>
              <a:rPr lang="en-US" spc="24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dirty="0">
                <a:solidFill>
                  <a:srgbClr val="2D2C2C"/>
                </a:solidFill>
                <a:cs typeface="Segoe UI"/>
              </a:rPr>
              <a:t>powerful.</a:t>
            </a:r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noProof="0" dirty="0"/>
          </a:p>
          <a:p>
            <a:pPr marL="338005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087FB8D9-BDA6-0A4F-5B0E-D6DA78EC1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512" y="2092918"/>
            <a:ext cx="470655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1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="/bin/ls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CaF</a:t>
            </a:r>
            <a:r>
              <a:rPr lang="en-US" sz="16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"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C464C011-A7EA-981B-9DD9-0024A01CB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512" y="2830578"/>
            <a:ext cx="470655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18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ls="/bin/ls --color=auto"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5BDBF962-E7E2-E376-B119-63F83E804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512" y="4401954"/>
            <a:ext cx="4706550" cy="122084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alias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rm=echo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rm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/junk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4"/>
              </a:spcBef>
            </a:pP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600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sz="1600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/junk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unalias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rm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54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86B48D-2965-AB1A-4ED2-BA9D3042F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Function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A</a:t>
            </a:r>
            <a:r>
              <a:rPr lang="en-US" sz="1800" spc="-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chemeClr val="tx1"/>
                </a:solidFill>
                <a:cs typeface="Segoe UI"/>
              </a:rPr>
              <a:t>function</a:t>
            </a:r>
            <a:r>
              <a:rPr lang="en-US" sz="1800" b="1" spc="28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is</a:t>
            </a:r>
            <a:r>
              <a:rPr lang="en-US" sz="1800" spc="4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chemeClr val="tx1"/>
                </a:solidFill>
                <a:cs typeface="Segoe UI"/>
              </a:rPr>
              <a:t>another</a:t>
            </a:r>
            <a:r>
              <a:rPr lang="en-US" sz="1800" spc="53" noProof="0" dirty="0">
                <a:solidFill>
                  <a:schemeClr val="tx1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environmental</a:t>
            </a:r>
            <a:r>
              <a:rPr lang="en-US" sz="1800" spc="8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 allows the assignment</a:t>
            </a:r>
            <a:r>
              <a:rPr lang="en-US" sz="1800" spc="7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several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one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function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name.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 allows the passing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information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within the function.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Functions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defined: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session, e.g.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at 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command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line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start-up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Within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script.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Functions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become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indispensable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scripts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repeatable,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modular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code.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Pass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variables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between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a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script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commands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within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5BDBF962-E7E2-E376-B119-63F83E804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4288" y="2916039"/>
            <a:ext cx="4684063" cy="102592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greeting() {</a:t>
            </a:r>
          </a:p>
          <a:p>
            <a:pPr marL="77391">
              <a:spcBef>
                <a:spcPts val="150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echo "Function $0 wishes $1 a great day"</a:t>
            </a:r>
          </a:p>
          <a:p>
            <a:pPr marL="77391">
              <a:spcBef>
                <a:spcPts val="150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}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559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F5831A-BF14-4EAB-0E6A-B8A8A38AC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C355AE3-7D45-B3C2-C5AF-45716DC50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99D8E-097D-CD6C-8B5A-B0F13B6A46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F3469444-D02B-D446-9CF8-19DEDDE073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2780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529D89-2C5B-1819-6C27-05FDDCBC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6 – T1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13635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Controlling shell behavior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8E18D-B364-79DA-CBAA-629A2428D5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625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5BAD86-C4BF-324D-00F6-D2A8CCB0AD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Generic shell options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800" b="1" spc="-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traditional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b="1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options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cs typeface="Segoe U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Some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options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also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set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shorthand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notations.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8958387E-9E44-6F8D-0CFD-EDC2615C9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833" y="3907465"/>
            <a:ext cx="6753701" cy="759182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0"/>
              </a:spcBef>
            </a:pPr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</a:t>
            </a:r>
            <a:r>
              <a:rPr lang="en-US" sz="20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allexport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+o</a:t>
            </a:r>
            <a:r>
              <a:rPr lang="en-US" sz="20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allexport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4B324039-4CE0-927F-B58E-B5AC2B2A0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833" y="5194822"/>
            <a:ext cx="2697267" cy="106695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-x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+x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4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37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-C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A9C8CE5-4382-5ABE-67F8-99C551341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760" y="5199530"/>
            <a:ext cx="3188774" cy="106695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7"/>
              </a:spcBef>
            </a:pPr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–o</a:t>
            </a:r>
            <a:r>
              <a:rPr lang="en-US" sz="20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xtrace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+o</a:t>
            </a:r>
            <a:r>
              <a:rPr lang="en-US" sz="20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xtrace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z="20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2000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2000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–o</a:t>
            </a:r>
            <a:r>
              <a:rPr lang="en-US" sz="2000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2000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endParaRPr lang="en-US" sz="20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32725E-7ABB-63CC-CB67-D8ACA59DCD5C}"/>
              </a:ext>
            </a:extLst>
          </p:cNvPr>
          <p:cNvGrpSpPr/>
          <p:nvPr/>
        </p:nvGrpSpPr>
        <p:grpSpPr>
          <a:xfrm>
            <a:off x="5295647" y="5488770"/>
            <a:ext cx="390565" cy="455355"/>
            <a:chOff x="4729495" y="5012000"/>
            <a:chExt cx="390565" cy="176936"/>
          </a:xfrm>
        </p:grpSpPr>
        <p:sp>
          <p:nvSpPr>
            <p:cNvPr id="24" name="object 22">
              <a:extLst>
                <a:ext uri="{FF2B5EF4-FFF2-40B4-BE49-F238E27FC236}">
                  <a16:creationId xmlns:a16="http://schemas.microsoft.com/office/drawing/2014/main" id="{67AD576E-BC91-4824-986D-37E2D0FF668B}"/>
                </a:ext>
              </a:extLst>
            </p:cNvPr>
            <p:cNvSpPr/>
            <p:nvPr/>
          </p:nvSpPr>
          <p:spPr>
            <a:xfrm>
              <a:off x="4729495" y="5012000"/>
              <a:ext cx="390565" cy="1548"/>
            </a:xfrm>
            <a:custGeom>
              <a:avLst/>
              <a:gdLst/>
              <a:ahLst/>
              <a:cxnLst/>
              <a:rect l="l" t="t" r="r" b="b"/>
              <a:pathLst>
                <a:path w="480695" h="1904">
                  <a:moveTo>
                    <a:pt x="0" y="0"/>
                  </a:moveTo>
                  <a:lnTo>
                    <a:pt x="480568" y="1524"/>
                  </a:lnTo>
                </a:path>
              </a:pathLst>
            </a:custGeom>
            <a:ln w="35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n-US" sz="1463" noProof="0" dirty="0"/>
            </a:p>
          </p:txBody>
        </p:sp>
        <p:sp>
          <p:nvSpPr>
            <p:cNvPr id="25" name="object 23">
              <a:extLst>
                <a:ext uri="{FF2B5EF4-FFF2-40B4-BE49-F238E27FC236}">
                  <a16:creationId xmlns:a16="http://schemas.microsoft.com/office/drawing/2014/main" id="{1DF3A382-FC47-6D3B-2898-B408A20A98E0}"/>
                </a:ext>
              </a:extLst>
            </p:cNvPr>
            <p:cNvSpPr/>
            <p:nvPr/>
          </p:nvSpPr>
          <p:spPr>
            <a:xfrm>
              <a:off x="4729495" y="5187388"/>
              <a:ext cx="390565" cy="1548"/>
            </a:xfrm>
            <a:custGeom>
              <a:avLst/>
              <a:gdLst/>
              <a:ahLst/>
              <a:cxnLst/>
              <a:rect l="l" t="t" r="r" b="b"/>
              <a:pathLst>
                <a:path w="480695" h="1904">
                  <a:moveTo>
                    <a:pt x="0" y="0"/>
                  </a:moveTo>
                  <a:lnTo>
                    <a:pt x="480568" y="1587"/>
                  </a:lnTo>
                </a:path>
              </a:pathLst>
            </a:custGeom>
            <a:ln w="35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n-US" sz="1463" noProof="0" dirty="0"/>
            </a:p>
          </p:txBody>
        </p:sp>
        <p:sp>
          <p:nvSpPr>
            <p:cNvPr id="26" name="object 24">
              <a:extLst>
                <a:ext uri="{FF2B5EF4-FFF2-40B4-BE49-F238E27FC236}">
                  <a16:creationId xmlns:a16="http://schemas.microsoft.com/office/drawing/2014/main" id="{E7715AB1-E7F9-D77F-4291-F0E2A8E950DD}"/>
                </a:ext>
              </a:extLst>
            </p:cNvPr>
            <p:cNvSpPr/>
            <p:nvPr/>
          </p:nvSpPr>
          <p:spPr>
            <a:xfrm>
              <a:off x="4729495" y="5099709"/>
              <a:ext cx="390565" cy="1548"/>
            </a:xfrm>
            <a:custGeom>
              <a:avLst/>
              <a:gdLst/>
              <a:ahLst/>
              <a:cxnLst/>
              <a:rect l="l" t="t" r="r" b="b"/>
              <a:pathLst>
                <a:path w="480695" h="1904">
                  <a:moveTo>
                    <a:pt x="0" y="0"/>
                  </a:moveTo>
                  <a:lnTo>
                    <a:pt x="480568" y="1524"/>
                  </a:lnTo>
                </a:path>
              </a:pathLst>
            </a:custGeom>
            <a:ln w="35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en-US" sz="1463" noProof="0" dirty="0"/>
            </a:p>
          </p:txBody>
        </p:sp>
      </p:grp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84930CA-9A73-146E-4B61-FB0F1E14A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941340"/>
              </p:ext>
            </p:extLst>
          </p:nvPr>
        </p:nvGraphicFramePr>
        <p:xfrm>
          <a:off x="443922" y="2193403"/>
          <a:ext cx="6960488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52779">
                  <a:extLst>
                    <a:ext uri="{9D8B030D-6E8A-4147-A177-3AD203B41FA5}">
                      <a16:colId xmlns:a16="http://schemas.microsoft.com/office/drawing/2014/main" val="2084368466"/>
                    </a:ext>
                  </a:extLst>
                </a:gridCol>
                <a:gridCol w="4507709">
                  <a:extLst>
                    <a:ext uri="{9D8B030D-6E8A-4147-A177-3AD203B41FA5}">
                      <a16:colId xmlns:a16="http://schemas.microsoft.com/office/drawing/2014/main" val="486542614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Command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83930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  <a:tabLst>
                          <a:tab pos="403979" algn="l"/>
                        </a:tabLst>
                      </a:pP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</a:rPr>
                        <a:t>set -o</a:t>
                      </a:r>
                      <a:endParaRPr lang="en-US" sz="1800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</a:pPr>
                      <a:r>
                        <a:rPr lang="en-US" sz="1800" spc="-8" noProof="0" dirty="0"/>
                        <a:t>Display </a:t>
                      </a:r>
                      <a:r>
                        <a:rPr lang="en-US" sz="1800" spc="-12" noProof="0" dirty="0"/>
                        <a:t>current</a:t>
                      </a:r>
                      <a:r>
                        <a:rPr lang="en-US" sz="1800" spc="61" noProof="0" dirty="0"/>
                        <a:t> </a:t>
                      </a:r>
                      <a:r>
                        <a:rPr lang="en-US" sz="1800" spc="-8" noProof="0" dirty="0"/>
                        <a:t>options</a:t>
                      </a:r>
                      <a:r>
                        <a:rPr lang="en-US" sz="1800" spc="41" noProof="0" dirty="0"/>
                        <a:t> </a:t>
                      </a:r>
                      <a:r>
                        <a:rPr lang="en-US" sz="1800" spc="-4" noProof="0" dirty="0"/>
                        <a:t>and</a:t>
                      </a:r>
                      <a:r>
                        <a:rPr lang="en-US" sz="1800" spc="16" noProof="0" dirty="0"/>
                        <a:t> </a:t>
                      </a:r>
                      <a:r>
                        <a:rPr lang="en-US" sz="1800" spc="-8" noProof="0" dirty="0"/>
                        <a:t>settings</a:t>
                      </a:r>
                      <a:endParaRPr lang="en-US" sz="1800" i="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5137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16"/>
                        </a:spcBef>
                        <a:tabLst>
                          <a:tab pos="403979" algn="l"/>
                          <a:tab pos="785256" algn="l"/>
                        </a:tabLst>
                      </a:pP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</a:rPr>
                        <a:t>set </a:t>
                      </a:r>
                      <a:r>
                        <a:rPr lang="en-US" sz="1800" b="1" noProof="0" dirty="0">
                          <a:solidFill>
                            <a:srgbClr val="3333CC"/>
                          </a:solidFill>
                        </a:rPr>
                        <a:t>-o </a:t>
                      </a:r>
                      <a:r>
                        <a:rPr lang="en-US" sz="1800" b="1" spc="-8" noProof="0" dirty="0">
                          <a:solidFill>
                            <a:srgbClr val="3333CC"/>
                          </a:solidFill>
                        </a:rPr>
                        <a:t>option</a:t>
                      </a:r>
                      <a:endParaRPr lang="en-US" sz="1800" b="1" noProof="0" dirty="0">
                        <a:latin typeface="Hack" panose="020B0609030202020204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16"/>
                        </a:spcBef>
                      </a:pPr>
                      <a:r>
                        <a:rPr lang="en-US" sz="1800" spc="-8" noProof="0" dirty="0"/>
                        <a:t>Turn</a:t>
                      </a:r>
                      <a:r>
                        <a:rPr lang="en-US" sz="1800" spc="-16" noProof="0" dirty="0"/>
                        <a:t> </a:t>
                      </a:r>
                      <a:r>
                        <a:rPr lang="en-US" sz="1800" spc="-4" noProof="0" dirty="0"/>
                        <a:t>the</a:t>
                      </a:r>
                      <a:r>
                        <a:rPr lang="en-US" sz="1800" spc="-12" noProof="0" dirty="0"/>
                        <a:t> option</a:t>
                      </a:r>
                      <a:r>
                        <a:rPr lang="en-US" sz="1800" spc="20" noProof="0" dirty="0"/>
                        <a:t> </a:t>
                      </a:r>
                      <a:r>
                        <a:rPr lang="en-US" sz="1800" spc="-12" noProof="0" dirty="0"/>
                        <a:t>on</a:t>
                      </a:r>
                      <a:endParaRPr lang="en-US" sz="1800" i="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620425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24"/>
                        </a:spcBef>
                        <a:tabLst>
                          <a:tab pos="403463" algn="l"/>
                          <a:tab pos="789900" algn="l"/>
                        </a:tabLst>
                      </a:pPr>
                      <a:r>
                        <a:rPr lang="en-US" sz="1800" b="1" noProof="0" dirty="0">
                          <a:solidFill>
                            <a:srgbClr val="3333CC"/>
                          </a:solidFill>
                        </a:rPr>
                        <a:t>s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</a:rPr>
                        <a:t>et </a:t>
                      </a:r>
                      <a:r>
                        <a:rPr lang="en-US" sz="1800" b="1" noProof="0" dirty="0">
                          <a:solidFill>
                            <a:srgbClr val="3333CC"/>
                          </a:solidFill>
                        </a:rPr>
                        <a:t>+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</a:rPr>
                        <a:t>o </a:t>
                      </a:r>
                      <a:r>
                        <a:rPr lang="en-US" sz="1800" b="1" spc="-8" noProof="0" dirty="0">
                          <a:solidFill>
                            <a:srgbClr val="3333CC"/>
                          </a:solidFill>
                        </a:rPr>
                        <a:t>opt</a:t>
                      </a:r>
                      <a:r>
                        <a:rPr lang="en-US" sz="1800" b="1" spc="-16" noProof="0" dirty="0">
                          <a:solidFill>
                            <a:srgbClr val="3333CC"/>
                          </a:solidFill>
                        </a:rPr>
                        <a:t>i</a:t>
                      </a:r>
                      <a:r>
                        <a:rPr lang="en-US" sz="1800" b="1" spc="-8" noProof="0" dirty="0">
                          <a:solidFill>
                            <a:srgbClr val="3333CC"/>
                          </a:solidFill>
                        </a:rPr>
                        <a:t>on</a:t>
                      </a:r>
                      <a:endParaRPr lang="en-US" sz="1800" noProof="0" dirty="0"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8" noProof="0" dirty="0"/>
                        <a:t>Turn</a:t>
                      </a:r>
                      <a:r>
                        <a:rPr lang="en-US" sz="1800" spc="-24" noProof="0" dirty="0"/>
                        <a:t> </a:t>
                      </a:r>
                      <a:r>
                        <a:rPr lang="en-US" sz="1800" spc="-4" noProof="0" dirty="0"/>
                        <a:t>the</a:t>
                      </a:r>
                      <a:r>
                        <a:rPr lang="en-US" sz="1800" spc="-12" noProof="0" dirty="0"/>
                        <a:t> </a:t>
                      </a:r>
                      <a:r>
                        <a:rPr lang="en-US" sz="1800" spc="-8" noProof="0" dirty="0"/>
                        <a:t>option</a:t>
                      </a:r>
                      <a:r>
                        <a:rPr lang="en-US" sz="1800" spc="20" noProof="0" dirty="0"/>
                        <a:t> </a:t>
                      </a:r>
                      <a:r>
                        <a:rPr lang="en-US" sz="1800" spc="-8" noProof="0" dirty="0"/>
                        <a:t>off</a:t>
                      </a:r>
                      <a:endParaRPr lang="en-US" sz="1800" i="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2556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1242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FF8B7A-B8B6-1A01-043A-42918C06F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Bash specific options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Use</a:t>
            </a:r>
            <a:r>
              <a:rPr lang="en-US" sz="1800" spc="-16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sz="1800" b="1" spc="-4" noProof="0" dirty="0">
                <a:solidFill>
                  <a:srgbClr val="0000C7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change</a:t>
            </a:r>
            <a:r>
              <a:rPr lang="en-US" sz="1800" spc="2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bash-specific </a:t>
            </a:r>
            <a:r>
              <a:rPr lang="en-US" sz="1800" b="1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options</a:t>
            </a: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.</a:t>
            </a: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i="1" spc="-8" noProof="0" dirty="0">
              <a:solidFill>
                <a:srgbClr val="2D2C2C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spc="-8" noProof="0" dirty="0">
                <a:solidFill>
                  <a:srgbClr val="2D2C2C"/>
                </a:solidFill>
                <a:ea typeface="Hack" panose="020B0609030202020204" pitchFamily="49" charset="0"/>
                <a:cs typeface="Hack" panose="020B0609030202020204" pitchFamily="49" charset="0"/>
              </a:rPr>
              <a:t>Examples:</a:t>
            </a:r>
            <a:endParaRPr lang="en-US" sz="1800" noProof="0" dirty="0">
              <a:ea typeface="Hack" panose="020B0609030202020204" pitchFamily="49" charset="0"/>
              <a:cs typeface="Hack" panose="020B0609030202020204" pitchFamily="49" charset="0"/>
            </a:endParaRPr>
          </a:p>
          <a:p>
            <a:endParaRPr lang="en-US" sz="18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1015B42-C6C7-BEA3-AF27-9C4D7CCA9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7618" y="4553200"/>
            <a:ext cx="5580062" cy="1528624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15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dotglob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expand_aliases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r>
              <a:rPr lang="en-US" b="1" spc="-2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cdspell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>
              <a:spcBef>
                <a:spcPts val="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–s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histappend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-s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dotglob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cdspell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2B28CDC4-84D2-D0D0-939F-04CD00A7C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681667"/>
              </p:ext>
            </p:extLst>
          </p:nvPr>
        </p:nvGraphicFramePr>
        <p:xfrm>
          <a:off x="443921" y="2216054"/>
          <a:ext cx="8142517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12571">
                  <a:extLst>
                    <a:ext uri="{9D8B030D-6E8A-4147-A177-3AD203B41FA5}">
                      <a16:colId xmlns:a16="http://schemas.microsoft.com/office/drawing/2014/main" val="317206831"/>
                    </a:ext>
                  </a:extLst>
                </a:gridCol>
                <a:gridCol w="4629946">
                  <a:extLst>
                    <a:ext uri="{9D8B030D-6E8A-4147-A177-3AD203B41FA5}">
                      <a16:colId xmlns:a16="http://schemas.microsoft.com/office/drawing/2014/main" val="3826126458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Command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95965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  <a:tabLst>
                          <a:tab pos="403979" algn="l"/>
                        </a:tabLst>
                      </a:pPr>
                      <a:r>
                        <a:rPr lang="en-US" sz="1800" b="1" spc="-4" noProof="0" dirty="0" err="1">
                          <a:solidFill>
                            <a:srgbClr val="3333CC"/>
                          </a:solidFill>
                        </a:rPr>
                        <a:t>shopt</a:t>
                      </a:r>
                      <a:endParaRPr lang="en-US" sz="1800" b="1" spc="-4" noProof="0" dirty="0">
                        <a:solidFill>
                          <a:srgbClr val="3333CC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</a:pPr>
                      <a:r>
                        <a:rPr lang="en-US" sz="1800" spc="-8" noProof="0" dirty="0"/>
                        <a:t>Display current settings</a:t>
                      </a:r>
                      <a:endParaRPr lang="en-US" sz="1800" i="0" spc="-8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076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  <a:tabLst>
                          <a:tab pos="403979" algn="l"/>
                        </a:tabLst>
                      </a:pPr>
                      <a:r>
                        <a:rPr lang="en-US" sz="1800" b="1" spc="-4" noProof="0" dirty="0" err="1">
                          <a:solidFill>
                            <a:srgbClr val="3333CC"/>
                          </a:solidFill>
                        </a:rPr>
                        <a:t>shopt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</a:rPr>
                        <a:t> –p [options]</a:t>
                      </a:r>
                      <a:endParaRPr lang="en-US" sz="1800" b="1" spc="-4" noProof="0" dirty="0">
                        <a:solidFill>
                          <a:srgbClr val="3333CC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</a:pPr>
                      <a:r>
                        <a:rPr lang="en-US" sz="1800" spc="-8" noProof="0" dirty="0"/>
                        <a:t>Display settings in command format</a:t>
                      </a:r>
                      <a:endParaRPr lang="en-US" sz="1800" i="0" spc="-8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56502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  <a:tabLst>
                          <a:tab pos="403979" algn="l"/>
                        </a:tabLst>
                      </a:pPr>
                      <a:r>
                        <a:rPr lang="en-US" sz="1800" b="1" spc="-4" noProof="0" dirty="0" err="1">
                          <a:solidFill>
                            <a:srgbClr val="3333CC"/>
                          </a:solidFill>
                        </a:rPr>
                        <a:t>shopt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</a:rPr>
                        <a:t> –s options</a:t>
                      </a:r>
                      <a:endParaRPr lang="en-US" sz="1800" b="1" spc="-4" noProof="0" dirty="0">
                        <a:solidFill>
                          <a:srgbClr val="3333CC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10319">
                        <a:spcBef>
                          <a:spcPts val="77"/>
                        </a:spcBef>
                      </a:pPr>
                      <a:r>
                        <a:rPr lang="en-US" sz="1800" spc="-8" noProof="0" dirty="0"/>
                        <a:t>Set the option</a:t>
                      </a:r>
                      <a:endParaRPr lang="en-US" sz="1800" i="0" spc="-8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39463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4" noProof="0" dirty="0" err="1">
                          <a:solidFill>
                            <a:srgbClr val="3333CC"/>
                          </a:solidFill>
                        </a:rPr>
                        <a:t>shopt</a:t>
                      </a:r>
                      <a:r>
                        <a:rPr lang="en-US" sz="1800" b="1" spc="-4" noProof="0" dirty="0">
                          <a:solidFill>
                            <a:srgbClr val="3333CC"/>
                          </a:solidFill>
                        </a:rPr>
                        <a:t> –u options</a:t>
                      </a:r>
                      <a:endParaRPr lang="en-US" sz="1800" b="1" spc="-4" noProof="0" dirty="0">
                        <a:solidFill>
                          <a:srgbClr val="3333CC"/>
                        </a:solidFill>
                        <a:latin typeface="Hack" panose="020B0609030202020204"/>
                        <a:ea typeface="Hack" panose="020B0609030202020204" pitchFamily="49" charset="0"/>
                        <a:cs typeface="Hack" panose="020B0609030202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pc="-8" noProof="0" dirty="0"/>
                        <a:t>Unset the option</a:t>
                      </a:r>
                      <a:endParaRPr lang="en-US" sz="1800" i="0" noProof="0" dirty="0">
                        <a:latin typeface="+mn-lt"/>
                        <a:cs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930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5394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529D89-2C5B-1819-6C27-05FDDCBC2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Knowledge check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noProof="0" dirty="0"/>
              <a:t>a) Which three things defined the environment?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r>
              <a:rPr lang="en-US" sz="2000" noProof="0" dirty="0"/>
              <a:t>b) Which two commands change the shell options?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7730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What are script files?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0E035-C148-8075-DE4A-FF28C6A89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41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786781-6D75-A6D0-B973-385376969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What is a shell script?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programs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called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scripts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Same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latin typeface="+mn-lt"/>
                <a:cs typeface="Segoe UI"/>
              </a:rPr>
              <a:t>batch</a:t>
            </a:r>
            <a:r>
              <a:rPr lang="en-US" sz="1800" b="1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or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b="1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files</a:t>
            </a:r>
            <a:r>
              <a:rPr lang="en-US" sz="1800" b="1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 other operating systems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Scripts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text</a:t>
            </a:r>
            <a:r>
              <a:rPr lang="en-US" sz="1800" b="1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files</a:t>
            </a:r>
            <a:r>
              <a:rPr lang="en-US" sz="1800" b="1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containing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Each line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equivalent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endParaRPr lang="en-US" sz="1800" noProof="0" dirty="0">
              <a:latin typeface="+mn-lt"/>
              <a:cs typeface="Segoe UI"/>
            </a:endParaRPr>
          </a:p>
          <a:p>
            <a:pPr marL="518001"/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Entered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interactively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scripts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execute</a:t>
            </a:r>
            <a:r>
              <a:rPr lang="en-US" sz="1800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new (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child)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sub-shell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Apart from start-up files, script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must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have the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execute</a:t>
            </a:r>
            <a:r>
              <a:rPr lang="en-US" sz="1800" b="1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permission.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Normally,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scripts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will be placed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i="1" spc="-16" noProof="0" dirty="0">
                <a:solidFill>
                  <a:srgbClr val="2D2C2C"/>
                </a:solidFill>
                <a:latin typeface="+mn-lt"/>
                <a:cs typeface="Segoe UI"/>
              </a:rPr>
              <a:t>search</a:t>
            </a:r>
            <a:r>
              <a:rPr lang="en-US" sz="1800" b="1" i="1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i="1" spc="-12" noProof="0" dirty="0">
                <a:solidFill>
                  <a:srgbClr val="2D2C2C"/>
                </a:solidFill>
                <a:latin typeface="+mn-lt"/>
                <a:cs typeface="Segoe UI"/>
              </a:rPr>
              <a:t>path</a:t>
            </a:r>
            <a:r>
              <a:rPr lang="en-US" sz="1800" b="1" i="1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37" noProof="0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b="1" spc="-3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${PATH}</a:t>
            </a:r>
            <a:r>
              <a:rPr lang="en-US" sz="1800" spc="-37" noProof="0" dirty="0">
                <a:solidFill>
                  <a:srgbClr val="2D2C2C"/>
                </a:solidFill>
                <a:latin typeface="+mn-lt"/>
                <a:cs typeface="Segoe UI"/>
              </a:rPr>
              <a:t>).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Otherwise,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pathname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must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specified.</a:t>
            </a:r>
            <a:endParaRPr lang="en-US" sz="1800" noProof="0" dirty="0">
              <a:cs typeface="Segoe UI"/>
            </a:endParaRP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BA3E78-18CA-67BE-AF26-948D0B4E1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381" y="3697151"/>
            <a:ext cx="2406732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chmod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u+x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AAEFC68-9C8F-B16B-FB05-0398F772A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8880" y="5314101"/>
            <a:ext cx="3678233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export</a:t>
            </a:r>
            <a:r>
              <a:rPr lang="en-US" b="1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PATH=${PATH}:${HOME}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64A29B-33D5-7482-F779-BA6728F4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233" y="733130"/>
            <a:ext cx="1901829" cy="176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37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1B0BBD-F4A2-01D1-2B6D-AD37A8F7E7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Why automate with scripts?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Typing commands again and again can be repetitious.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18</a:t>
            </a:fld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98585B-9B5F-640D-B1F2-E16769BAE756}"/>
              </a:ext>
            </a:extLst>
          </p:cNvPr>
          <p:cNvGrpSpPr/>
          <p:nvPr/>
        </p:nvGrpSpPr>
        <p:grpSpPr>
          <a:xfrm>
            <a:off x="2530761" y="3128169"/>
            <a:ext cx="7128889" cy="2633662"/>
            <a:chOff x="2530761" y="3128169"/>
            <a:chExt cx="7128889" cy="2633662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CD900F1B-D180-57C3-A00F-E4F41B4E0F0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530761" y="3134519"/>
              <a:ext cx="7062213" cy="2627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8" name="Freeform 24">
              <a:extLst>
                <a:ext uri="{FF2B5EF4-FFF2-40B4-BE49-F238E27FC236}">
                  <a16:creationId xmlns:a16="http://schemas.microsoft.com/office/drawing/2014/main" id="{E6B89FD9-7CC4-BC0D-EC50-566206585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4757" y="4437856"/>
              <a:ext cx="1603227" cy="1316037"/>
            </a:xfrm>
            <a:custGeom>
              <a:avLst/>
              <a:gdLst>
                <a:gd name="T0" fmla="*/ 0 w 119319"/>
                <a:gd name="T1" fmla="*/ 98777 h 98777"/>
                <a:gd name="T2" fmla="*/ 0 w 119319"/>
                <a:gd name="T3" fmla="*/ 0 h 98777"/>
                <a:gd name="T4" fmla="*/ 88169 w 119319"/>
                <a:gd name="T5" fmla="*/ 0 h 98777"/>
                <a:gd name="T6" fmla="*/ 119319 w 119319"/>
                <a:gd name="T7" fmla="*/ 25987 h 98777"/>
                <a:gd name="T8" fmla="*/ 119319 w 119319"/>
                <a:gd name="T9" fmla="*/ 98777 h 98777"/>
                <a:gd name="T10" fmla="*/ 0 w 119319"/>
                <a:gd name="T11" fmla="*/ 98777 h 987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9319" h="98777">
                  <a:moveTo>
                    <a:pt x="0" y="98777"/>
                  </a:moveTo>
                  <a:lnTo>
                    <a:pt x="0" y="0"/>
                  </a:lnTo>
                  <a:lnTo>
                    <a:pt x="88169" y="0"/>
                  </a:lnTo>
                  <a:lnTo>
                    <a:pt x="119319" y="25987"/>
                  </a:lnTo>
                  <a:lnTo>
                    <a:pt x="119319" y="98777"/>
                  </a:lnTo>
                  <a:lnTo>
                    <a:pt x="0" y="98777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9" name="Line 25">
              <a:extLst>
                <a:ext uri="{FF2B5EF4-FFF2-40B4-BE49-F238E27FC236}">
                  <a16:creationId xmlns:a16="http://schemas.microsoft.com/office/drawing/2014/main" id="{A3CF35A4-0406-3535-7757-3F31563D9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91144" y="4437856"/>
              <a:ext cx="0" cy="338137"/>
            </a:xfrm>
            <a:prstGeom prst="line">
              <a:avLst/>
            </a:prstGeom>
            <a:noFill/>
            <a:ln w="285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0" name="Line 26">
              <a:extLst>
                <a:ext uri="{FF2B5EF4-FFF2-40B4-BE49-F238E27FC236}">
                  <a16:creationId xmlns:a16="http://schemas.microsoft.com/office/drawing/2014/main" id="{25F0288E-4AEF-E907-BC6D-6D89BE8F07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00764" y="4783931"/>
              <a:ext cx="408822" cy="0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1" name="Rectangle 27">
              <a:extLst>
                <a:ext uri="{FF2B5EF4-FFF2-40B4-BE49-F238E27FC236}">
                  <a16:creationId xmlns:a16="http://schemas.microsoft.com/office/drawing/2014/main" id="{7A822AF8-A6BF-A543-FF02-E98E6E5E0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7121" y="4209256"/>
              <a:ext cx="679673" cy="169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myscript</a:t>
              </a:r>
              <a:endParaRPr kumimoji="0" lang="en-US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12" name="Rectangle 28">
              <a:extLst>
                <a:ext uri="{FF2B5EF4-FFF2-40B4-BE49-F238E27FC236}">
                  <a16:creationId xmlns:a16="http://schemas.microsoft.com/office/drawing/2014/main" id="{4BD4A7CE-38D2-8601-08B9-306982B2A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7682" y="4742200"/>
              <a:ext cx="1201211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date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hostname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ls -l /var/log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cp /</a:t>
              </a:r>
              <a:r>
                <a:rPr kumimoji="0" lang="en-US" sz="1100" b="0" i="0" u="none" strike="noStrike" cap="none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etc</a:t>
              </a: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/</a:t>
              </a:r>
              <a:r>
                <a:rPr kumimoji="0" lang="en-US" sz="1100" b="0" i="0" u="none" strike="noStrike" cap="none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motd</a:t>
              </a:r>
              <a:r>
                <a:rPr kumimoji="0" lang="en-US" sz="11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 .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13" name="Freeform 32">
              <a:extLst>
                <a:ext uri="{FF2B5EF4-FFF2-40B4-BE49-F238E27FC236}">
                  <a16:creationId xmlns:a16="http://schemas.microsoft.com/office/drawing/2014/main" id="{27F96485-742D-8157-4610-4EA4113FA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1452" y="3128169"/>
              <a:ext cx="1402823" cy="1131887"/>
            </a:xfrm>
            <a:custGeom>
              <a:avLst/>
              <a:gdLst>
                <a:gd name="T0" fmla="*/ 21800 w 104449"/>
                <a:gd name="T1" fmla="*/ 76699 h 84949"/>
                <a:gd name="T2" fmla="*/ 14403 w 104449"/>
                <a:gd name="T3" fmla="*/ 62800 h 84949"/>
                <a:gd name="T4" fmla="*/ 10287 w 104449"/>
                <a:gd name="T5" fmla="*/ 59742 h 84949"/>
                <a:gd name="T6" fmla="*/ 8935 w 104449"/>
                <a:gd name="T7" fmla="*/ 26014 h 84949"/>
                <a:gd name="T8" fmla="*/ 21660 w 104449"/>
                <a:gd name="T9" fmla="*/ 18828 h 84949"/>
                <a:gd name="T10" fmla="*/ 26778 w 104449"/>
                <a:gd name="T11" fmla="*/ 10160 h 84949"/>
                <a:gd name="T12" fmla="*/ 58422 w 104449"/>
                <a:gd name="T13" fmla="*/ 7094 h 84949"/>
                <a:gd name="T14" fmla="*/ 84230 w 104449"/>
                <a:gd name="T15" fmla="*/ 11402 h 84949"/>
                <a:gd name="T16" fmla="*/ 91319 w 104449"/>
                <a:gd name="T17" fmla="*/ 23671 h 84949"/>
                <a:gd name="T18" fmla="*/ 94162 w 104449"/>
                <a:gd name="T19" fmla="*/ 25924 h 84949"/>
                <a:gd name="T20" fmla="*/ 95512 w 104449"/>
                <a:gd name="T21" fmla="*/ 59652 h 84949"/>
                <a:gd name="T22" fmla="*/ 84433 w 104449"/>
                <a:gd name="T23" fmla="*/ 66439 h 84949"/>
                <a:gd name="T24" fmla="*/ 79387 w 104449"/>
                <a:gd name="T25" fmla="*/ 74896 h 84949"/>
                <a:gd name="T26" fmla="*/ 50314 w 104449"/>
                <a:gd name="T27" fmla="*/ 79606 h 84949"/>
                <a:gd name="T28" fmla="*/ 21800 w 104449"/>
                <a:gd name="T29" fmla="*/ 76699 h 84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449" h="84949">
                  <a:moveTo>
                    <a:pt x="21800" y="76699"/>
                  </a:moveTo>
                  <a:cubicBezTo>
                    <a:pt x="17674" y="72887"/>
                    <a:pt x="15194" y="67956"/>
                    <a:pt x="14403" y="62800"/>
                  </a:cubicBezTo>
                  <a:cubicBezTo>
                    <a:pt x="12951" y="61948"/>
                    <a:pt x="11570" y="60930"/>
                    <a:pt x="10287" y="59742"/>
                  </a:cubicBezTo>
                  <a:cubicBezTo>
                    <a:pt x="604" y="50805"/>
                    <a:pt x="0" y="35697"/>
                    <a:pt x="8935" y="26014"/>
                  </a:cubicBezTo>
                  <a:cubicBezTo>
                    <a:pt x="12457" y="22201"/>
                    <a:pt x="16934" y="19796"/>
                    <a:pt x="21660" y="18828"/>
                  </a:cubicBezTo>
                  <a:cubicBezTo>
                    <a:pt x="22695" y="15699"/>
                    <a:pt x="24399" y="12736"/>
                    <a:pt x="26778" y="10160"/>
                  </a:cubicBezTo>
                  <a:cubicBezTo>
                    <a:pt x="35096" y="1148"/>
                    <a:pt x="48764" y="0"/>
                    <a:pt x="58422" y="7094"/>
                  </a:cubicBezTo>
                  <a:cubicBezTo>
                    <a:pt x="66849" y="3389"/>
                    <a:pt x="77037" y="4762"/>
                    <a:pt x="84230" y="11402"/>
                  </a:cubicBezTo>
                  <a:cubicBezTo>
                    <a:pt x="87922" y="14806"/>
                    <a:pt x="90292" y="19112"/>
                    <a:pt x="91319" y="23671"/>
                  </a:cubicBezTo>
                  <a:cubicBezTo>
                    <a:pt x="92308" y="24340"/>
                    <a:pt x="93259" y="25091"/>
                    <a:pt x="94162" y="25924"/>
                  </a:cubicBezTo>
                  <a:cubicBezTo>
                    <a:pt x="103843" y="34861"/>
                    <a:pt x="104449" y="49971"/>
                    <a:pt x="95512" y="59652"/>
                  </a:cubicBezTo>
                  <a:cubicBezTo>
                    <a:pt x="92403" y="63019"/>
                    <a:pt x="88549" y="65290"/>
                    <a:pt x="84433" y="66439"/>
                  </a:cubicBezTo>
                  <a:cubicBezTo>
                    <a:pt x="83393" y="69490"/>
                    <a:pt x="81714" y="72377"/>
                    <a:pt x="79387" y="74896"/>
                  </a:cubicBezTo>
                  <a:cubicBezTo>
                    <a:pt x="71784" y="83133"/>
                    <a:pt x="59709" y="84800"/>
                    <a:pt x="50314" y="79606"/>
                  </a:cubicBezTo>
                  <a:cubicBezTo>
                    <a:pt x="41455" y="84949"/>
                    <a:pt x="29781" y="84065"/>
                    <a:pt x="21800" y="76699"/>
                  </a:cubicBezTo>
                  <a:close/>
                </a:path>
              </a:pathLst>
            </a:custGeom>
            <a:solidFill>
              <a:srgbClr val="DADA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4" name="Rectangle 33">
              <a:extLst>
                <a:ext uri="{FF2B5EF4-FFF2-40B4-BE49-F238E27FC236}">
                  <a16:creationId xmlns:a16="http://schemas.microsoft.com/office/drawing/2014/main" id="{9859F644-24C5-1373-3AD4-4A3AE7E61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848" y="3566319"/>
              <a:ext cx="44681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</a:rPr>
                <a:t>shell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330A14C1-B287-4C98-A8C1-5C07C92A4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781" y="3583781"/>
              <a:ext cx="1643307" cy="173037"/>
            </a:xfrm>
            <a:custGeom>
              <a:avLst/>
              <a:gdLst>
                <a:gd name="T0" fmla="*/ 15166 w 122274"/>
                <a:gd name="T1" fmla="*/ 13000 h 13000"/>
                <a:gd name="T2" fmla="*/ 0 w 122274"/>
                <a:gd name="T3" fmla="*/ 6500 h 13000"/>
                <a:gd name="T4" fmla="*/ 15166 w 122274"/>
                <a:gd name="T5" fmla="*/ 0 h 13000"/>
                <a:gd name="T6" fmla="*/ 15166 w 122274"/>
                <a:gd name="T7" fmla="*/ 6000 h 13000"/>
                <a:gd name="T8" fmla="*/ 121774 w 122274"/>
                <a:gd name="T9" fmla="*/ 6000 h 13000"/>
                <a:gd name="T10" fmla="*/ 122274 w 122274"/>
                <a:gd name="T11" fmla="*/ 6500 h 13000"/>
                <a:gd name="T12" fmla="*/ 121774 w 122274"/>
                <a:gd name="T13" fmla="*/ 7000 h 13000"/>
                <a:gd name="T14" fmla="*/ 15166 w 122274"/>
                <a:gd name="T15" fmla="*/ 7000 h 13000"/>
                <a:gd name="T16" fmla="*/ 15166 w 122274"/>
                <a:gd name="T17" fmla="*/ 13000 h 13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274" h="13000">
                  <a:moveTo>
                    <a:pt x="15166" y="13000"/>
                  </a:moveTo>
                  <a:lnTo>
                    <a:pt x="0" y="6500"/>
                  </a:lnTo>
                  <a:lnTo>
                    <a:pt x="15166" y="0"/>
                  </a:lnTo>
                  <a:lnTo>
                    <a:pt x="15166" y="6000"/>
                  </a:lnTo>
                  <a:lnTo>
                    <a:pt x="121774" y="6000"/>
                  </a:lnTo>
                  <a:cubicBezTo>
                    <a:pt x="122049" y="6000"/>
                    <a:pt x="122274" y="6225"/>
                    <a:pt x="122274" y="6500"/>
                  </a:cubicBezTo>
                  <a:cubicBezTo>
                    <a:pt x="122274" y="6776"/>
                    <a:pt x="122049" y="7000"/>
                    <a:pt x="121774" y="7000"/>
                  </a:cubicBezTo>
                  <a:lnTo>
                    <a:pt x="15166" y="7000"/>
                  </a:lnTo>
                  <a:lnTo>
                    <a:pt x="15166" y="13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36BDA6CB-C96B-E593-55B4-18D3260C0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1452" y="4398169"/>
              <a:ext cx="1402823" cy="1130300"/>
            </a:xfrm>
            <a:custGeom>
              <a:avLst/>
              <a:gdLst>
                <a:gd name="T0" fmla="*/ 21800 w 104449"/>
                <a:gd name="T1" fmla="*/ 76699 h 84949"/>
                <a:gd name="T2" fmla="*/ 14403 w 104449"/>
                <a:gd name="T3" fmla="*/ 62800 h 84949"/>
                <a:gd name="T4" fmla="*/ 10287 w 104449"/>
                <a:gd name="T5" fmla="*/ 59742 h 84949"/>
                <a:gd name="T6" fmla="*/ 8935 w 104449"/>
                <a:gd name="T7" fmla="*/ 26014 h 84949"/>
                <a:gd name="T8" fmla="*/ 21660 w 104449"/>
                <a:gd name="T9" fmla="*/ 18828 h 84949"/>
                <a:gd name="T10" fmla="*/ 26778 w 104449"/>
                <a:gd name="T11" fmla="*/ 10160 h 84949"/>
                <a:gd name="T12" fmla="*/ 58422 w 104449"/>
                <a:gd name="T13" fmla="*/ 7094 h 84949"/>
                <a:gd name="T14" fmla="*/ 84230 w 104449"/>
                <a:gd name="T15" fmla="*/ 11402 h 84949"/>
                <a:gd name="T16" fmla="*/ 91319 w 104449"/>
                <a:gd name="T17" fmla="*/ 23671 h 84949"/>
                <a:gd name="T18" fmla="*/ 94162 w 104449"/>
                <a:gd name="T19" fmla="*/ 25924 h 84949"/>
                <a:gd name="T20" fmla="*/ 95512 w 104449"/>
                <a:gd name="T21" fmla="*/ 59652 h 84949"/>
                <a:gd name="T22" fmla="*/ 84433 w 104449"/>
                <a:gd name="T23" fmla="*/ 66439 h 84949"/>
                <a:gd name="T24" fmla="*/ 79387 w 104449"/>
                <a:gd name="T25" fmla="*/ 74896 h 84949"/>
                <a:gd name="T26" fmla="*/ 50314 w 104449"/>
                <a:gd name="T27" fmla="*/ 79606 h 84949"/>
                <a:gd name="T28" fmla="*/ 21800 w 104449"/>
                <a:gd name="T29" fmla="*/ 76699 h 84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4449" h="84949">
                  <a:moveTo>
                    <a:pt x="21800" y="76699"/>
                  </a:moveTo>
                  <a:cubicBezTo>
                    <a:pt x="17674" y="72887"/>
                    <a:pt x="15194" y="67956"/>
                    <a:pt x="14403" y="62800"/>
                  </a:cubicBezTo>
                  <a:cubicBezTo>
                    <a:pt x="12951" y="61948"/>
                    <a:pt x="11570" y="60930"/>
                    <a:pt x="10287" y="59742"/>
                  </a:cubicBezTo>
                  <a:cubicBezTo>
                    <a:pt x="604" y="50805"/>
                    <a:pt x="0" y="35697"/>
                    <a:pt x="8935" y="26014"/>
                  </a:cubicBezTo>
                  <a:cubicBezTo>
                    <a:pt x="12457" y="22201"/>
                    <a:pt x="16934" y="19796"/>
                    <a:pt x="21660" y="18828"/>
                  </a:cubicBezTo>
                  <a:cubicBezTo>
                    <a:pt x="22695" y="15699"/>
                    <a:pt x="24399" y="12736"/>
                    <a:pt x="26778" y="10160"/>
                  </a:cubicBezTo>
                  <a:cubicBezTo>
                    <a:pt x="35096" y="1148"/>
                    <a:pt x="48764" y="0"/>
                    <a:pt x="58422" y="7094"/>
                  </a:cubicBezTo>
                  <a:cubicBezTo>
                    <a:pt x="66849" y="3389"/>
                    <a:pt x="77037" y="4762"/>
                    <a:pt x="84230" y="11402"/>
                  </a:cubicBezTo>
                  <a:cubicBezTo>
                    <a:pt x="87922" y="14806"/>
                    <a:pt x="90292" y="19112"/>
                    <a:pt x="91319" y="23671"/>
                  </a:cubicBezTo>
                  <a:cubicBezTo>
                    <a:pt x="92308" y="24340"/>
                    <a:pt x="93259" y="25091"/>
                    <a:pt x="94162" y="25924"/>
                  </a:cubicBezTo>
                  <a:cubicBezTo>
                    <a:pt x="103843" y="34861"/>
                    <a:pt x="104449" y="49971"/>
                    <a:pt x="95512" y="59652"/>
                  </a:cubicBezTo>
                  <a:cubicBezTo>
                    <a:pt x="92403" y="63019"/>
                    <a:pt x="88549" y="65290"/>
                    <a:pt x="84433" y="66439"/>
                  </a:cubicBezTo>
                  <a:cubicBezTo>
                    <a:pt x="83393" y="69490"/>
                    <a:pt x="81714" y="72377"/>
                    <a:pt x="79387" y="74896"/>
                  </a:cubicBezTo>
                  <a:cubicBezTo>
                    <a:pt x="71784" y="83133"/>
                    <a:pt x="59709" y="84800"/>
                    <a:pt x="50314" y="79606"/>
                  </a:cubicBezTo>
                  <a:cubicBezTo>
                    <a:pt x="41455" y="84949"/>
                    <a:pt x="29781" y="84065"/>
                    <a:pt x="21800" y="76699"/>
                  </a:cubicBezTo>
                  <a:close/>
                </a:path>
              </a:pathLst>
            </a:custGeom>
            <a:solidFill>
              <a:srgbClr val="DADA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7" name="Rectangle 37">
              <a:extLst>
                <a:ext uri="{FF2B5EF4-FFF2-40B4-BE49-F238E27FC236}">
                  <a16:creationId xmlns:a16="http://schemas.microsoft.com/office/drawing/2014/main" id="{F0B866D7-E968-6319-6D43-D239EF85C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848" y="4834731"/>
              <a:ext cx="446812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</a:rPr>
                <a:t>shell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74A3AF44-BDEB-8EA3-0121-84CF1AECF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781" y="4852194"/>
              <a:ext cx="1643307" cy="173037"/>
            </a:xfrm>
            <a:custGeom>
              <a:avLst/>
              <a:gdLst>
                <a:gd name="T0" fmla="*/ 107108 w 122274"/>
                <a:gd name="T1" fmla="*/ 13000 h 13000"/>
                <a:gd name="T2" fmla="*/ 107108 w 122274"/>
                <a:gd name="T3" fmla="*/ 7000 h 13000"/>
                <a:gd name="T4" fmla="*/ 500 w 122274"/>
                <a:gd name="T5" fmla="*/ 7000 h 13000"/>
                <a:gd name="T6" fmla="*/ 0 w 122274"/>
                <a:gd name="T7" fmla="*/ 6500 h 13000"/>
                <a:gd name="T8" fmla="*/ 500 w 122274"/>
                <a:gd name="T9" fmla="*/ 6000 h 13000"/>
                <a:gd name="T10" fmla="*/ 107108 w 122274"/>
                <a:gd name="T11" fmla="*/ 6000 h 13000"/>
                <a:gd name="T12" fmla="*/ 107108 w 122274"/>
                <a:gd name="T13" fmla="*/ 0 h 13000"/>
                <a:gd name="T14" fmla="*/ 122274 w 122274"/>
                <a:gd name="T15" fmla="*/ 6500 h 13000"/>
                <a:gd name="T16" fmla="*/ 107108 w 122274"/>
                <a:gd name="T17" fmla="*/ 13000 h 13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274" h="13000">
                  <a:moveTo>
                    <a:pt x="107108" y="13000"/>
                  </a:moveTo>
                  <a:lnTo>
                    <a:pt x="107108" y="7000"/>
                  </a:lnTo>
                  <a:lnTo>
                    <a:pt x="500" y="7000"/>
                  </a:lnTo>
                  <a:cubicBezTo>
                    <a:pt x="224" y="7000"/>
                    <a:pt x="0" y="6776"/>
                    <a:pt x="0" y="6500"/>
                  </a:cubicBezTo>
                  <a:cubicBezTo>
                    <a:pt x="0" y="6225"/>
                    <a:pt x="224" y="6000"/>
                    <a:pt x="500" y="6000"/>
                  </a:cubicBezTo>
                  <a:lnTo>
                    <a:pt x="107108" y="6000"/>
                  </a:lnTo>
                  <a:lnTo>
                    <a:pt x="107108" y="0"/>
                  </a:lnTo>
                  <a:lnTo>
                    <a:pt x="122274" y="6500"/>
                  </a:lnTo>
                  <a:lnTo>
                    <a:pt x="107108" y="130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9" name="Rectangle 39">
              <a:extLst>
                <a:ext uri="{FF2B5EF4-FFF2-40B4-BE49-F238E27FC236}">
                  <a16:creationId xmlns:a16="http://schemas.microsoft.com/office/drawing/2014/main" id="{27A31BE4-D5C6-B4B5-6B21-BA1365919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1777" y="3440906"/>
              <a:ext cx="1257873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</a:rPr>
                <a:t>Repetitive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0" name="Rectangle 40">
              <a:extLst>
                <a:ext uri="{FF2B5EF4-FFF2-40B4-BE49-F238E27FC236}">
                  <a16:creationId xmlns:a16="http://schemas.microsoft.com/office/drawing/2014/main" id="{96E634FB-C81C-707D-92C7-61DEDB0C3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1777" y="4782344"/>
              <a:ext cx="1251397" cy="29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914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371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1828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286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743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2004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657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900" b="0" i="0" u="none" strike="noStrike" cap="none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lt"/>
                </a:rPr>
                <a:t>Automate</a:t>
              </a:r>
              <a:endParaRPr kumimoji="0" lang="en-US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8C8C533-0498-02AF-4C05-9B9D54A9E00B}"/>
                </a:ext>
              </a:extLst>
            </p:cNvPr>
            <p:cNvSpPr/>
            <p:nvPr/>
          </p:nvSpPr>
          <p:spPr>
            <a:xfrm>
              <a:off x="6304757" y="3411538"/>
              <a:ext cx="1603227" cy="455612"/>
            </a:xfrm>
            <a:prstGeom prst="roundRect">
              <a:avLst/>
            </a:prstGeom>
            <a:solidFill>
              <a:schemeClr val="bg2"/>
            </a:solidFill>
            <a:ln w="412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7AD5E443-B92F-5607-F4C8-8194F5E04E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04757" y="3411537"/>
              <a:ext cx="1603227" cy="455612"/>
            </a:xfrm>
            <a:custGeom>
              <a:avLst/>
              <a:gdLst>
                <a:gd name="T0" fmla="*/ 10934 w 57046"/>
                <a:gd name="T1" fmla="*/ 26621 h 34228"/>
                <a:gd name="T2" fmla="*/ 7607 w 57046"/>
                <a:gd name="T3" fmla="*/ 23294 h 34228"/>
                <a:gd name="T4" fmla="*/ 11411 w 57046"/>
                <a:gd name="T5" fmla="*/ 23294 h 34228"/>
                <a:gd name="T6" fmla="*/ 14737 w 57046"/>
                <a:gd name="T7" fmla="*/ 19016 h 34228"/>
                <a:gd name="T8" fmla="*/ 7607 w 57046"/>
                <a:gd name="T9" fmla="*/ 15689 h 34228"/>
                <a:gd name="T10" fmla="*/ 15212 w 57046"/>
                <a:gd name="T11" fmla="*/ 15689 h 34228"/>
                <a:gd name="T12" fmla="*/ 10934 w 57046"/>
                <a:gd name="T13" fmla="*/ 11410 h 34228"/>
                <a:gd name="T14" fmla="*/ 7607 w 57046"/>
                <a:gd name="T15" fmla="*/ 8082 h 34228"/>
                <a:gd name="T16" fmla="*/ 11411 w 57046"/>
                <a:gd name="T17" fmla="*/ 8082 h 34228"/>
                <a:gd name="T18" fmla="*/ 41359 w 57046"/>
                <a:gd name="T19" fmla="*/ 26621 h 34228"/>
                <a:gd name="T20" fmla="*/ 15212 w 57046"/>
                <a:gd name="T21" fmla="*/ 23294 h 34228"/>
                <a:gd name="T22" fmla="*/ 41834 w 57046"/>
                <a:gd name="T23" fmla="*/ 23294 h 34228"/>
                <a:gd name="T24" fmla="*/ 22343 w 57046"/>
                <a:gd name="T25" fmla="*/ 19016 h 34228"/>
                <a:gd name="T26" fmla="*/ 19016 w 57046"/>
                <a:gd name="T27" fmla="*/ 15689 h 34228"/>
                <a:gd name="T28" fmla="*/ 22820 w 57046"/>
                <a:gd name="T29" fmla="*/ 15689 h 34228"/>
                <a:gd name="T30" fmla="*/ 18539 w 57046"/>
                <a:gd name="T31" fmla="*/ 11410 h 34228"/>
                <a:gd name="T32" fmla="*/ 15212 w 57046"/>
                <a:gd name="T33" fmla="*/ 8082 h 34228"/>
                <a:gd name="T34" fmla="*/ 19016 w 57046"/>
                <a:gd name="T35" fmla="*/ 8082 h 34228"/>
                <a:gd name="T36" fmla="*/ 29950 w 57046"/>
                <a:gd name="T37" fmla="*/ 19016 h 34228"/>
                <a:gd name="T38" fmla="*/ 26621 w 57046"/>
                <a:gd name="T39" fmla="*/ 15689 h 34228"/>
                <a:gd name="T40" fmla="*/ 30425 w 57046"/>
                <a:gd name="T41" fmla="*/ 15689 h 34228"/>
                <a:gd name="T42" fmla="*/ 26146 w 57046"/>
                <a:gd name="T43" fmla="*/ 11410 h 34228"/>
                <a:gd name="T44" fmla="*/ 22820 w 57046"/>
                <a:gd name="T45" fmla="*/ 8082 h 34228"/>
                <a:gd name="T46" fmla="*/ 26621 w 57046"/>
                <a:gd name="T47" fmla="*/ 8082 h 34228"/>
                <a:gd name="T48" fmla="*/ 37555 w 57046"/>
                <a:gd name="T49" fmla="*/ 19016 h 34228"/>
                <a:gd name="T50" fmla="*/ 34228 w 57046"/>
                <a:gd name="T51" fmla="*/ 15689 h 34228"/>
                <a:gd name="T52" fmla="*/ 38032 w 57046"/>
                <a:gd name="T53" fmla="*/ 15689 h 34228"/>
                <a:gd name="T54" fmla="*/ 48964 w 57046"/>
                <a:gd name="T55" fmla="*/ 26621 h 34228"/>
                <a:gd name="T56" fmla="*/ 45637 w 57046"/>
                <a:gd name="T57" fmla="*/ 23294 h 34228"/>
                <a:gd name="T58" fmla="*/ 49441 w 57046"/>
                <a:gd name="T59" fmla="*/ 23294 h 34228"/>
                <a:gd name="T60" fmla="*/ 33753 w 57046"/>
                <a:gd name="T61" fmla="*/ 11410 h 34228"/>
                <a:gd name="T62" fmla="*/ 30425 w 57046"/>
                <a:gd name="T63" fmla="*/ 8082 h 34228"/>
                <a:gd name="T64" fmla="*/ 34228 w 57046"/>
                <a:gd name="T65" fmla="*/ 8082 h 34228"/>
                <a:gd name="T66" fmla="*/ 41359 w 57046"/>
                <a:gd name="T67" fmla="*/ 11410 h 34228"/>
                <a:gd name="T68" fmla="*/ 38032 w 57046"/>
                <a:gd name="T69" fmla="*/ 8082 h 34228"/>
                <a:gd name="T70" fmla="*/ 41834 w 57046"/>
                <a:gd name="T71" fmla="*/ 8082 h 34228"/>
                <a:gd name="T72" fmla="*/ 48964 w 57046"/>
                <a:gd name="T73" fmla="*/ 19016 h 34228"/>
                <a:gd name="T74" fmla="*/ 41834 w 57046"/>
                <a:gd name="T75" fmla="*/ 15689 h 34228"/>
                <a:gd name="T76" fmla="*/ 45637 w 57046"/>
                <a:gd name="T77" fmla="*/ 8082 h 34228"/>
                <a:gd name="T78" fmla="*/ 49441 w 57046"/>
                <a:gd name="T79" fmla="*/ 8082 h 34228"/>
                <a:gd name="T80" fmla="*/ 3804 w 57046"/>
                <a:gd name="T81" fmla="*/ 3803 h 34228"/>
                <a:gd name="T82" fmla="*/ 57046 w 57046"/>
                <a:gd name="T83" fmla="*/ 3803 h 34228"/>
                <a:gd name="T84" fmla="*/ 53242 w 57046"/>
                <a:gd name="T85" fmla="*/ 34228 h 34228"/>
                <a:gd name="T86" fmla="*/ 0 w 57046"/>
                <a:gd name="T87" fmla="*/ 30424 h 34228"/>
                <a:gd name="T88" fmla="*/ 3804 w 57046"/>
                <a:gd name="T89" fmla="*/ 0 h 34228"/>
                <a:gd name="T90" fmla="*/ 57046 w 57046"/>
                <a:gd name="T91" fmla="*/ 3803 h 34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7046" h="34228">
                  <a:moveTo>
                    <a:pt x="11411" y="23294"/>
                  </a:moveTo>
                  <a:lnTo>
                    <a:pt x="11411" y="26146"/>
                  </a:lnTo>
                  <a:cubicBezTo>
                    <a:pt x="11411" y="26464"/>
                    <a:pt x="11252" y="26621"/>
                    <a:pt x="10934" y="26621"/>
                  </a:cubicBezTo>
                  <a:lnTo>
                    <a:pt x="8082" y="26621"/>
                  </a:lnTo>
                  <a:cubicBezTo>
                    <a:pt x="7764" y="26621"/>
                    <a:pt x="7607" y="26464"/>
                    <a:pt x="7607" y="26146"/>
                  </a:cubicBezTo>
                  <a:lnTo>
                    <a:pt x="7607" y="23294"/>
                  </a:lnTo>
                  <a:cubicBezTo>
                    <a:pt x="7607" y="22976"/>
                    <a:pt x="7764" y="22817"/>
                    <a:pt x="8082" y="22817"/>
                  </a:cubicBezTo>
                  <a:lnTo>
                    <a:pt x="10934" y="22817"/>
                  </a:lnTo>
                  <a:cubicBezTo>
                    <a:pt x="11252" y="22817"/>
                    <a:pt x="11411" y="22976"/>
                    <a:pt x="11411" y="23294"/>
                  </a:cubicBezTo>
                  <a:close/>
                  <a:moveTo>
                    <a:pt x="15212" y="15689"/>
                  </a:moveTo>
                  <a:lnTo>
                    <a:pt x="15212" y="18541"/>
                  </a:lnTo>
                  <a:cubicBezTo>
                    <a:pt x="15212" y="18857"/>
                    <a:pt x="15053" y="19016"/>
                    <a:pt x="14737" y="19016"/>
                  </a:cubicBezTo>
                  <a:lnTo>
                    <a:pt x="8082" y="19016"/>
                  </a:lnTo>
                  <a:cubicBezTo>
                    <a:pt x="7764" y="19016"/>
                    <a:pt x="7607" y="18857"/>
                    <a:pt x="7607" y="18541"/>
                  </a:cubicBezTo>
                  <a:lnTo>
                    <a:pt x="7607" y="15689"/>
                  </a:lnTo>
                  <a:cubicBezTo>
                    <a:pt x="7607" y="15371"/>
                    <a:pt x="7764" y="15212"/>
                    <a:pt x="8082" y="15212"/>
                  </a:cubicBezTo>
                  <a:lnTo>
                    <a:pt x="14737" y="15212"/>
                  </a:lnTo>
                  <a:cubicBezTo>
                    <a:pt x="15053" y="15212"/>
                    <a:pt x="15212" y="15371"/>
                    <a:pt x="15212" y="15689"/>
                  </a:cubicBezTo>
                  <a:close/>
                  <a:moveTo>
                    <a:pt x="11411" y="8082"/>
                  </a:moveTo>
                  <a:lnTo>
                    <a:pt x="11411" y="10933"/>
                  </a:lnTo>
                  <a:cubicBezTo>
                    <a:pt x="11411" y="11251"/>
                    <a:pt x="11252" y="11410"/>
                    <a:pt x="10934" y="11410"/>
                  </a:cubicBezTo>
                  <a:lnTo>
                    <a:pt x="8082" y="11410"/>
                  </a:lnTo>
                  <a:cubicBezTo>
                    <a:pt x="7764" y="11410"/>
                    <a:pt x="7607" y="11251"/>
                    <a:pt x="7607" y="10933"/>
                  </a:cubicBezTo>
                  <a:lnTo>
                    <a:pt x="7607" y="8082"/>
                  </a:lnTo>
                  <a:cubicBezTo>
                    <a:pt x="7607" y="7764"/>
                    <a:pt x="7764" y="7607"/>
                    <a:pt x="8082" y="7607"/>
                  </a:cubicBezTo>
                  <a:lnTo>
                    <a:pt x="10934" y="7607"/>
                  </a:lnTo>
                  <a:cubicBezTo>
                    <a:pt x="11252" y="7607"/>
                    <a:pt x="11411" y="7764"/>
                    <a:pt x="11411" y="8082"/>
                  </a:cubicBezTo>
                  <a:close/>
                  <a:moveTo>
                    <a:pt x="41834" y="23294"/>
                  </a:moveTo>
                  <a:lnTo>
                    <a:pt x="41834" y="26146"/>
                  </a:lnTo>
                  <a:cubicBezTo>
                    <a:pt x="41834" y="26464"/>
                    <a:pt x="41675" y="26621"/>
                    <a:pt x="41359" y="26621"/>
                  </a:cubicBezTo>
                  <a:lnTo>
                    <a:pt x="15687" y="26621"/>
                  </a:lnTo>
                  <a:cubicBezTo>
                    <a:pt x="15371" y="26621"/>
                    <a:pt x="15212" y="26464"/>
                    <a:pt x="15212" y="26146"/>
                  </a:cubicBezTo>
                  <a:lnTo>
                    <a:pt x="15212" y="23294"/>
                  </a:lnTo>
                  <a:cubicBezTo>
                    <a:pt x="15212" y="22976"/>
                    <a:pt x="15371" y="22817"/>
                    <a:pt x="15687" y="22817"/>
                  </a:cubicBezTo>
                  <a:lnTo>
                    <a:pt x="41359" y="22817"/>
                  </a:lnTo>
                  <a:cubicBezTo>
                    <a:pt x="41675" y="22817"/>
                    <a:pt x="41834" y="22976"/>
                    <a:pt x="41834" y="23294"/>
                  </a:cubicBezTo>
                  <a:close/>
                  <a:moveTo>
                    <a:pt x="22820" y="15689"/>
                  </a:moveTo>
                  <a:lnTo>
                    <a:pt x="22820" y="18541"/>
                  </a:lnTo>
                  <a:cubicBezTo>
                    <a:pt x="22820" y="18857"/>
                    <a:pt x="22661" y="19016"/>
                    <a:pt x="22343" y="19016"/>
                  </a:cubicBezTo>
                  <a:lnTo>
                    <a:pt x="19491" y="19016"/>
                  </a:lnTo>
                  <a:cubicBezTo>
                    <a:pt x="19175" y="19016"/>
                    <a:pt x="19016" y="18857"/>
                    <a:pt x="19016" y="18541"/>
                  </a:cubicBezTo>
                  <a:lnTo>
                    <a:pt x="19016" y="15689"/>
                  </a:lnTo>
                  <a:cubicBezTo>
                    <a:pt x="19016" y="15371"/>
                    <a:pt x="19175" y="15212"/>
                    <a:pt x="19491" y="15212"/>
                  </a:cubicBezTo>
                  <a:lnTo>
                    <a:pt x="22343" y="15212"/>
                  </a:lnTo>
                  <a:cubicBezTo>
                    <a:pt x="22661" y="15212"/>
                    <a:pt x="22820" y="15371"/>
                    <a:pt x="22820" y="15689"/>
                  </a:cubicBezTo>
                  <a:close/>
                  <a:moveTo>
                    <a:pt x="19016" y="8082"/>
                  </a:moveTo>
                  <a:lnTo>
                    <a:pt x="19016" y="10933"/>
                  </a:lnTo>
                  <a:cubicBezTo>
                    <a:pt x="19016" y="11251"/>
                    <a:pt x="18857" y="11410"/>
                    <a:pt x="18539" y="11410"/>
                  </a:cubicBezTo>
                  <a:lnTo>
                    <a:pt x="15687" y="11410"/>
                  </a:lnTo>
                  <a:cubicBezTo>
                    <a:pt x="15371" y="11410"/>
                    <a:pt x="15212" y="11251"/>
                    <a:pt x="15212" y="10933"/>
                  </a:cubicBezTo>
                  <a:lnTo>
                    <a:pt x="15212" y="8082"/>
                  </a:lnTo>
                  <a:cubicBezTo>
                    <a:pt x="15212" y="7764"/>
                    <a:pt x="15371" y="7607"/>
                    <a:pt x="15687" y="7607"/>
                  </a:cubicBezTo>
                  <a:lnTo>
                    <a:pt x="18539" y="7607"/>
                  </a:lnTo>
                  <a:cubicBezTo>
                    <a:pt x="18857" y="7607"/>
                    <a:pt x="19016" y="7764"/>
                    <a:pt x="19016" y="8082"/>
                  </a:cubicBezTo>
                  <a:close/>
                  <a:moveTo>
                    <a:pt x="30425" y="15689"/>
                  </a:moveTo>
                  <a:lnTo>
                    <a:pt x="30425" y="18541"/>
                  </a:lnTo>
                  <a:cubicBezTo>
                    <a:pt x="30425" y="18857"/>
                    <a:pt x="30266" y="19016"/>
                    <a:pt x="29950" y="19016"/>
                  </a:cubicBezTo>
                  <a:lnTo>
                    <a:pt x="27098" y="19016"/>
                  </a:lnTo>
                  <a:cubicBezTo>
                    <a:pt x="26780" y="19016"/>
                    <a:pt x="26621" y="18857"/>
                    <a:pt x="26621" y="18541"/>
                  </a:cubicBezTo>
                  <a:lnTo>
                    <a:pt x="26621" y="15689"/>
                  </a:lnTo>
                  <a:cubicBezTo>
                    <a:pt x="26621" y="15371"/>
                    <a:pt x="26780" y="15212"/>
                    <a:pt x="27098" y="15212"/>
                  </a:cubicBezTo>
                  <a:lnTo>
                    <a:pt x="29950" y="15212"/>
                  </a:lnTo>
                  <a:cubicBezTo>
                    <a:pt x="30266" y="15212"/>
                    <a:pt x="30425" y="15371"/>
                    <a:pt x="30425" y="15689"/>
                  </a:cubicBezTo>
                  <a:close/>
                  <a:moveTo>
                    <a:pt x="26621" y="8082"/>
                  </a:moveTo>
                  <a:lnTo>
                    <a:pt x="26621" y="10933"/>
                  </a:lnTo>
                  <a:cubicBezTo>
                    <a:pt x="26621" y="11251"/>
                    <a:pt x="26464" y="11410"/>
                    <a:pt x="26146" y="11410"/>
                  </a:cubicBezTo>
                  <a:lnTo>
                    <a:pt x="23295" y="11410"/>
                  </a:lnTo>
                  <a:cubicBezTo>
                    <a:pt x="22977" y="11410"/>
                    <a:pt x="22820" y="11251"/>
                    <a:pt x="22820" y="10933"/>
                  </a:cubicBezTo>
                  <a:lnTo>
                    <a:pt x="22820" y="8082"/>
                  </a:lnTo>
                  <a:cubicBezTo>
                    <a:pt x="22820" y="7764"/>
                    <a:pt x="22977" y="7607"/>
                    <a:pt x="23295" y="7607"/>
                  </a:cubicBezTo>
                  <a:lnTo>
                    <a:pt x="26146" y="7607"/>
                  </a:lnTo>
                  <a:cubicBezTo>
                    <a:pt x="26464" y="7607"/>
                    <a:pt x="26621" y="7764"/>
                    <a:pt x="26621" y="8082"/>
                  </a:cubicBezTo>
                  <a:close/>
                  <a:moveTo>
                    <a:pt x="38032" y="15689"/>
                  </a:moveTo>
                  <a:lnTo>
                    <a:pt x="38032" y="18541"/>
                  </a:lnTo>
                  <a:cubicBezTo>
                    <a:pt x="38032" y="18857"/>
                    <a:pt x="37873" y="19016"/>
                    <a:pt x="37555" y="19016"/>
                  </a:cubicBezTo>
                  <a:lnTo>
                    <a:pt x="34703" y="19016"/>
                  </a:lnTo>
                  <a:cubicBezTo>
                    <a:pt x="34385" y="19016"/>
                    <a:pt x="34228" y="18857"/>
                    <a:pt x="34228" y="18541"/>
                  </a:cubicBezTo>
                  <a:lnTo>
                    <a:pt x="34228" y="15689"/>
                  </a:lnTo>
                  <a:cubicBezTo>
                    <a:pt x="34228" y="15371"/>
                    <a:pt x="34385" y="15212"/>
                    <a:pt x="34703" y="15212"/>
                  </a:cubicBezTo>
                  <a:lnTo>
                    <a:pt x="37555" y="15212"/>
                  </a:lnTo>
                  <a:cubicBezTo>
                    <a:pt x="37873" y="15212"/>
                    <a:pt x="38032" y="15371"/>
                    <a:pt x="38032" y="15689"/>
                  </a:cubicBezTo>
                  <a:close/>
                  <a:moveTo>
                    <a:pt x="49441" y="23294"/>
                  </a:moveTo>
                  <a:lnTo>
                    <a:pt x="49441" y="26146"/>
                  </a:lnTo>
                  <a:cubicBezTo>
                    <a:pt x="49441" y="26464"/>
                    <a:pt x="49282" y="26621"/>
                    <a:pt x="48964" y="26621"/>
                  </a:cubicBezTo>
                  <a:lnTo>
                    <a:pt x="46112" y="26621"/>
                  </a:lnTo>
                  <a:cubicBezTo>
                    <a:pt x="45796" y="26621"/>
                    <a:pt x="45637" y="26464"/>
                    <a:pt x="45637" y="26146"/>
                  </a:cubicBezTo>
                  <a:lnTo>
                    <a:pt x="45637" y="23294"/>
                  </a:lnTo>
                  <a:cubicBezTo>
                    <a:pt x="45637" y="22976"/>
                    <a:pt x="45796" y="22817"/>
                    <a:pt x="46112" y="22817"/>
                  </a:cubicBezTo>
                  <a:lnTo>
                    <a:pt x="48964" y="22817"/>
                  </a:lnTo>
                  <a:cubicBezTo>
                    <a:pt x="49282" y="22817"/>
                    <a:pt x="49441" y="22976"/>
                    <a:pt x="49441" y="23294"/>
                  </a:cubicBezTo>
                  <a:close/>
                  <a:moveTo>
                    <a:pt x="34228" y="8082"/>
                  </a:moveTo>
                  <a:lnTo>
                    <a:pt x="34228" y="10933"/>
                  </a:lnTo>
                  <a:cubicBezTo>
                    <a:pt x="34228" y="11251"/>
                    <a:pt x="34069" y="11410"/>
                    <a:pt x="33753" y="11410"/>
                  </a:cubicBezTo>
                  <a:lnTo>
                    <a:pt x="30900" y="11410"/>
                  </a:lnTo>
                  <a:cubicBezTo>
                    <a:pt x="30584" y="11410"/>
                    <a:pt x="30425" y="11251"/>
                    <a:pt x="30425" y="10933"/>
                  </a:cubicBezTo>
                  <a:lnTo>
                    <a:pt x="30425" y="8082"/>
                  </a:lnTo>
                  <a:cubicBezTo>
                    <a:pt x="30425" y="7764"/>
                    <a:pt x="30584" y="7607"/>
                    <a:pt x="30900" y="7607"/>
                  </a:cubicBezTo>
                  <a:lnTo>
                    <a:pt x="33753" y="7607"/>
                  </a:lnTo>
                  <a:cubicBezTo>
                    <a:pt x="34069" y="7607"/>
                    <a:pt x="34228" y="7764"/>
                    <a:pt x="34228" y="8082"/>
                  </a:cubicBezTo>
                  <a:close/>
                  <a:moveTo>
                    <a:pt x="41834" y="8082"/>
                  </a:moveTo>
                  <a:lnTo>
                    <a:pt x="41834" y="10933"/>
                  </a:lnTo>
                  <a:cubicBezTo>
                    <a:pt x="41834" y="11251"/>
                    <a:pt x="41675" y="11410"/>
                    <a:pt x="41359" y="11410"/>
                  </a:cubicBezTo>
                  <a:lnTo>
                    <a:pt x="38507" y="11410"/>
                  </a:lnTo>
                  <a:cubicBezTo>
                    <a:pt x="38189" y="11410"/>
                    <a:pt x="38032" y="11251"/>
                    <a:pt x="38032" y="10933"/>
                  </a:cubicBezTo>
                  <a:lnTo>
                    <a:pt x="38032" y="8082"/>
                  </a:lnTo>
                  <a:cubicBezTo>
                    <a:pt x="38032" y="7764"/>
                    <a:pt x="38189" y="7607"/>
                    <a:pt x="38507" y="7607"/>
                  </a:cubicBezTo>
                  <a:lnTo>
                    <a:pt x="41359" y="7607"/>
                  </a:lnTo>
                  <a:cubicBezTo>
                    <a:pt x="41675" y="7607"/>
                    <a:pt x="41834" y="7764"/>
                    <a:pt x="41834" y="8082"/>
                  </a:cubicBezTo>
                  <a:close/>
                  <a:moveTo>
                    <a:pt x="49441" y="8082"/>
                  </a:moveTo>
                  <a:lnTo>
                    <a:pt x="49441" y="18541"/>
                  </a:lnTo>
                  <a:cubicBezTo>
                    <a:pt x="49441" y="18857"/>
                    <a:pt x="49282" y="19016"/>
                    <a:pt x="48964" y="19016"/>
                  </a:cubicBezTo>
                  <a:lnTo>
                    <a:pt x="42309" y="19016"/>
                  </a:lnTo>
                  <a:cubicBezTo>
                    <a:pt x="41993" y="19016"/>
                    <a:pt x="41834" y="18857"/>
                    <a:pt x="41834" y="18541"/>
                  </a:cubicBezTo>
                  <a:lnTo>
                    <a:pt x="41834" y="15689"/>
                  </a:lnTo>
                  <a:cubicBezTo>
                    <a:pt x="41834" y="15371"/>
                    <a:pt x="41993" y="15212"/>
                    <a:pt x="42309" y="15212"/>
                  </a:cubicBezTo>
                  <a:lnTo>
                    <a:pt x="45637" y="15212"/>
                  </a:lnTo>
                  <a:lnTo>
                    <a:pt x="45637" y="8082"/>
                  </a:lnTo>
                  <a:cubicBezTo>
                    <a:pt x="45637" y="7764"/>
                    <a:pt x="45796" y="7607"/>
                    <a:pt x="46112" y="7607"/>
                  </a:cubicBezTo>
                  <a:lnTo>
                    <a:pt x="48964" y="7607"/>
                  </a:lnTo>
                  <a:cubicBezTo>
                    <a:pt x="49282" y="7607"/>
                    <a:pt x="49441" y="7764"/>
                    <a:pt x="49441" y="8082"/>
                  </a:cubicBezTo>
                  <a:close/>
                  <a:moveTo>
                    <a:pt x="53242" y="30424"/>
                  </a:moveTo>
                  <a:lnTo>
                    <a:pt x="53242" y="3803"/>
                  </a:lnTo>
                  <a:lnTo>
                    <a:pt x="3804" y="3803"/>
                  </a:lnTo>
                  <a:lnTo>
                    <a:pt x="3804" y="30424"/>
                  </a:lnTo>
                  <a:lnTo>
                    <a:pt x="53242" y="30424"/>
                  </a:lnTo>
                  <a:close/>
                  <a:moveTo>
                    <a:pt x="57046" y="3803"/>
                  </a:moveTo>
                  <a:lnTo>
                    <a:pt x="57046" y="30424"/>
                  </a:lnTo>
                  <a:cubicBezTo>
                    <a:pt x="57046" y="31475"/>
                    <a:pt x="56676" y="32370"/>
                    <a:pt x="55931" y="33113"/>
                  </a:cubicBezTo>
                  <a:cubicBezTo>
                    <a:pt x="55190" y="33856"/>
                    <a:pt x="54293" y="34228"/>
                    <a:pt x="53242" y="34228"/>
                  </a:cubicBezTo>
                  <a:lnTo>
                    <a:pt x="3804" y="34228"/>
                  </a:lnTo>
                  <a:cubicBezTo>
                    <a:pt x="2753" y="34228"/>
                    <a:pt x="1858" y="33856"/>
                    <a:pt x="1115" y="33113"/>
                  </a:cubicBezTo>
                  <a:cubicBezTo>
                    <a:pt x="372" y="32370"/>
                    <a:pt x="0" y="31475"/>
                    <a:pt x="0" y="30424"/>
                  </a:cubicBezTo>
                  <a:lnTo>
                    <a:pt x="0" y="3803"/>
                  </a:lnTo>
                  <a:cubicBezTo>
                    <a:pt x="0" y="2755"/>
                    <a:pt x="372" y="1857"/>
                    <a:pt x="1115" y="1115"/>
                  </a:cubicBezTo>
                  <a:cubicBezTo>
                    <a:pt x="1858" y="372"/>
                    <a:pt x="2753" y="0"/>
                    <a:pt x="3804" y="0"/>
                  </a:cubicBezTo>
                  <a:lnTo>
                    <a:pt x="53242" y="0"/>
                  </a:lnTo>
                  <a:cubicBezTo>
                    <a:pt x="54293" y="0"/>
                    <a:pt x="55190" y="372"/>
                    <a:pt x="55931" y="1115"/>
                  </a:cubicBezTo>
                  <a:cubicBezTo>
                    <a:pt x="56676" y="1857"/>
                    <a:pt x="57046" y="2755"/>
                    <a:pt x="57046" y="3803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929642-A0C4-99EA-DC31-49AF44917A11}"/>
                </a:ext>
              </a:extLst>
            </p:cNvPr>
            <p:cNvSpPr/>
            <p:nvPr/>
          </p:nvSpPr>
          <p:spPr>
            <a:xfrm>
              <a:off x="6410491" y="3450887"/>
              <a:ext cx="1402822" cy="36308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B727C588-BE53-F9B2-F572-EFACFEE50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5292" y="655627"/>
            <a:ext cx="1840770" cy="187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46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CB729FF-935A-8BD9-68A9-9BCD1AFC38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Various ways to run scripts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352703" marR="286861" indent="-342900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289957" algn="l"/>
                <a:tab pos="290473" algn="l"/>
              </a:tabLst>
            </a:pP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Enter</a:t>
            </a:r>
            <a:r>
              <a:rPr lang="en-US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12" noProof="0" dirty="0">
                <a:solidFill>
                  <a:srgbClr val="2D2C2C"/>
                </a:solidFill>
                <a:latin typeface="+mn-lt"/>
                <a:cs typeface="Segoe UI"/>
              </a:rPr>
              <a:t>script</a:t>
            </a:r>
            <a:r>
              <a:rPr lang="en-US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name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on</a:t>
            </a:r>
            <a:r>
              <a:rPr lang="en-US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line.</a:t>
            </a:r>
          </a:p>
          <a:p>
            <a:pPr marL="809903" marR="286861" lvl="1" indent="-342900">
              <a:lnSpc>
                <a:spcPct val="100000"/>
              </a:lnSpc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If the file is not in </a:t>
            </a:r>
            <a:r>
              <a:rPr lang="en-US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${PATH}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then its full pathname must be given.</a:t>
            </a: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809903" marR="286861" lvl="1" indent="-342900">
              <a:lnSpc>
                <a:spcPct val="100000"/>
              </a:lnSpc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For example, </a:t>
            </a:r>
            <a:r>
              <a:rPr lang="en-US" b="1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./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as a prefix.</a:t>
            </a:r>
            <a:endParaRPr lang="en-US" spc="-8" dirty="0">
              <a:solidFill>
                <a:srgbClr val="2D2C2C"/>
              </a:solidFill>
              <a:cs typeface="Segoe UI"/>
            </a:endParaRPr>
          </a:p>
          <a:p>
            <a:pPr marL="809903" marR="286861" lvl="1" indent="-342900">
              <a:lnSpc>
                <a:spcPct val="100000"/>
              </a:lnSpc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You need execute permission on the script file.</a:t>
            </a:r>
          </a:p>
          <a:p>
            <a:pPr marL="9803" marR="1107718" indent="0">
              <a:lnSpc>
                <a:spcPct val="100000"/>
              </a:lnSpc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2.  Start</a:t>
            </a:r>
            <a:r>
              <a:rPr lang="en-US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 new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shell</a:t>
            </a:r>
            <a:r>
              <a:rPr lang="en-US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with the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script name</a:t>
            </a:r>
            <a:r>
              <a:rPr lang="en-US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argument.</a:t>
            </a:r>
          </a:p>
          <a:p>
            <a:pPr marL="752753" marR="1107718" lvl="1" indent="-285750">
              <a:lnSpc>
                <a:spcPct val="100000"/>
              </a:lnSpc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FF0000"/>
                </a:solidFill>
                <a:latin typeface="+mn-lt"/>
                <a:cs typeface="Segoe UI"/>
              </a:rPr>
              <a:t>No execute permission is required on the script file.</a:t>
            </a:r>
          </a:p>
          <a:p>
            <a:pPr marL="9803" marR="4128" indent="0">
              <a:lnSpc>
                <a:spcPct val="100000"/>
              </a:lnSpc>
              <a:buClr>
                <a:srgbClr val="000000"/>
              </a:buClr>
              <a:buNone/>
              <a:tabLst>
                <a:tab pos="289957" algn="l"/>
                <a:tab pos="290473" algn="l"/>
              </a:tabLst>
            </a:pP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3.  Use</a:t>
            </a:r>
            <a:r>
              <a:rPr lang="en-US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16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source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or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‘</a:t>
            </a:r>
            <a:r>
              <a:rPr lang="en-US" b="1" i="1" spc="-4" noProof="0" dirty="0">
                <a:solidFill>
                  <a:srgbClr val="2D2C2C"/>
                </a:solidFill>
                <a:latin typeface="+mn-lt"/>
                <a:cs typeface="Segoe UI"/>
              </a:rPr>
              <a:t>dot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’</a:t>
            </a:r>
            <a:r>
              <a:rPr lang="en-US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command (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these two commands are equivalent).</a:t>
            </a:r>
            <a:endParaRPr lang="en-US" spc="49" noProof="0" dirty="0">
              <a:solidFill>
                <a:srgbClr val="2D2C2C"/>
              </a:solidFill>
              <a:cs typeface="Segoe UI"/>
            </a:endParaRPr>
          </a:p>
          <a:p>
            <a:pPr marL="747157" marR="4128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The </a:t>
            </a:r>
            <a:r>
              <a:rPr lang="en-US" b="1" spc="-8" noProof="0" dirty="0">
                <a:solidFill>
                  <a:srgbClr val="2D2C2C"/>
                </a:solidFill>
                <a:latin typeface="+mn-lt"/>
                <a:cs typeface="Segoe UI"/>
              </a:rPr>
              <a:t>current</a:t>
            </a:r>
            <a:r>
              <a:rPr lang="en-US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shell reads the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script</a:t>
            </a:r>
            <a:r>
              <a:rPr lang="en-US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file.</a:t>
            </a:r>
          </a:p>
          <a:p>
            <a:pPr marL="747157" marR="4128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You must include the full pathname of the script file.</a:t>
            </a:r>
          </a:p>
          <a:p>
            <a:pPr marL="747157" marR="4128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FF0000"/>
                </a:solidFill>
                <a:latin typeface="+mn-lt"/>
                <a:cs typeface="Segoe UI"/>
              </a:rPr>
              <a:t>No execute permission is required on the script file.</a:t>
            </a:r>
          </a:p>
          <a:p>
            <a:pPr marL="747157" marR="4128" lvl="1" indent="-280154">
              <a:lnSpc>
                <a:spcPct val="10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No</a:t>
            </a:r>
            <a:r>
              <a:rPr lang="en-US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sub-shell</a:t>
            </a:r>
            <a:r>
              <a:rPr lang="en-US" spc="73" noProof="0" dirty="0">
                <a:solidFill>
                  <a:srgbClr val="2D2C2C"/>
                </a:solidFill>
                <a:latin typeface="+mn-lt"/>
                <a:cs typeface="Segoe UI"/>
              </a:rPr>
              <a:t> is </a:t>
            </a:r>
            <a:r>
              <a:rPr lang="en-US" spc="-12" noProof="0" dirty="0">
                <a:solidFill>
                  <a:srgbClr val="2D2C2C"/>
                </a:solidFill>
                <a:latin typeface="+mn-lt"/>
                <a:cs typeface="Segoe UI"/>
              </a:rPr>
              <a:t>created,</a:t>
            </a:r>
            <a:r>
              <a:rPr lang="en-US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pc="-4" noProof="0" dirty="0">
                <a:solidFill>
                  <a:srgbClr val="2D2C2C"/>
                </a:solidFill>
                <a:latin typeface="+mn-lt"/>
                <a:cs typeface="Segoe UI"/>
              </a:rPr>
              <a:t>so changes made by the script file to the</a:t>
            </a:r>
            <a:r>
              <a:rPr lang="en-US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b="1" spc="-8" noProof="0" dirty="0">
                <a:solidFill>
                  <a:srgbClr val="2D2C2C"/>
                </a:solidFill>
                <a:latin typeface="+mn-lt"/>
                <a:cs typeface="Segoe UI"/>
              </a:rPr>
              <a:t>environment</a:t>
            </a:r>
            <a:r>
              <a:rPr lang="en-US" spc="28" noProof="0" dirty="0">
                <a:solidFill>
                  <a:srgbClr val="2D2C2C"/>
                </a:solidFill>
                <a:latin typeface="+mn-lt"/>
                <a:cs typeface="Segoe UI"/>
              </a:rPr>
              <a:t> will </a:t>
            </a:r>
            <a:r>
              <a:rPr lang="en-US" spc="-8" noProof="0" dirty="0">
                <a:solidFill>
                  <a:srgbClr val="2D2C2C"/>
                </a:solidFill>
                <a:latin typeface="+mn-lt"/>
                <a:cs typeface="Segoe UI"/>
              </a:rPr>
              <a:t>persist in the shell.</a:t>
            </a:r>
            <a:endParaRPr lang="en-US" noProof="0" dirty="0"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686CAC8-6EFF-247C-CC47-C88684D07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991" y="1793179"/>
            <a:ext cx="286769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D35924D-066B-8A12-F131-746B9937E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991" y="3308600"/>
            <a:ext cx="2867698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endParaRPr lang="en-US" sz="2000" noProof="0" dirty="0">
              <a:solidFill>
                <a:schemeClr val="bg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595A5B3-6C0F-1FFF-D5AD-EDAD38DE3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991" y="4087922"/>
            <a:ext cx="2867697" cy="736099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  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source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3E1C48-67DC-5580-6689-3001DA024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991" y="2310540"/>
            <a:ext cx="2867696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8423">
              <a:spcBef>
                <a:spcPts val="29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33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./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lf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41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Shell startup files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98AD1-3A7A-9389-5CFF-6B83B28357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473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1EA596-2349-F458-370A-0EEE36AB51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FF0000"/>
                </a:solidFill>
              </a:rPr>
              <a:t>Interactive-login </a:t>
            </a:r>
            <a:r>
              <a:rPr lang="en-US" noProof="0" dirty="0"/>
              <a:t>bash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If it exists, the first file read and run is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etc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/profile</a:t>
            </a:r>
            <a:r>
              <a:rPr lang="en-US" spc="-20" noProof="0" dirty="0">
                <a:solidFill>
                  <a:schemeClr val="tx1"/>
                </a:solidFill>
              </a:rPr>
              <a:t>.</a:t>
            </a: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b="1" spc="-20" noProof="0" dirty="0">
              <a:solidFill>
                <a:srgbClr val="7030A0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Next it will run the first one of these files that it finds as it searches: </a:t>
            </a:r>
            <a:r>
              <a:rPr lang="en-US" sz="1800" spc="-20" noProof="0" dirty="0"/>
              <a:t>In this order:</a:t>
            </a:r>
          </a:p>
          <a:p>
            <a:pPr marL="532699" lvl="1" indent="-342900">
              <a:spcBef>
                <a:spcPts val="569"/>
              </a:spcBef>
              <a:buClr>
                <a:srgbClr val="000000"/>
              </a:buClr>
              <a:buFont typeface="+mj-lt"/>
              <a:buAutoNum type="arabicPeriod"/>
              <a:tabLst>
                <a:tab pos="289957" algn="l"/>
                <a:tab pos="290473" algn="l"/>
              </a:tabLst>
            </a:pP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endParaRPr lang="en-US" sz="1800" b="1" spc="-20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32699" lvl="1" indent="-342900">
              <a:spcBef>
                <a:spcPts val="569"/>
              </a:spcBef>
              <a:buClr>
                <a:srgbClr val="000000"/>
              </a:buClr>
              <a:buFont typeface="+mj-lt"/>
              <a:buAutoNum type="arabicPeriod"/>
              <a:tabLst>
                <a:tab pos="289957" algn="l"/>
                <a:tab pos="290473" algn="l"/>
              </a:tabLst>
            </a:pP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bash_login</a:t>
            </a:r>
            <a:endParaRPr lang="en-US" sz="1800" b="1" spc="-20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532699" lvl="1" indent="-342900">
              <a:spcBef>
                <a:spcPts val="569"/>
              </a:spcBef>
              <a:buClr>
                <a:srgbClr val="000000"/>
              </a:buClr>
              <a:buFont typeface="+mj-lt"/>
              <a:buAutoNum type="arabicPeriod"/>
              <a:tabLst>
                <a:tab pos="289957" algn="l"/>
                <a:tab pos="290473" algn="l"/>
              </a:tabLst>
            </a:pP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~/.profile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(Unless started with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noprofile</a:t>
            </a:r>
            <a:r>
              <a:rPr lang="en-US" spc="-20" noProof="0" dirty="0"/>
              <a:t>.</a:t>
            </a:r>
            <a:r>
              <a:rPr lang="en-US" sz="1800" spc="-20" noProof="0" dirty="0"/>
              <a:t>)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Quite often will have code to run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spc="-20" noProof="0" dirty="0"/>
              <a:t>.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b="1" spc="-20" noProof="0" dirty="0">
              <a:solidFill>
                <a:srgbClr val="7030A0"/>
              </a:solidFill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On logout, if</a:t>
            </a:r>
            <a:r>
              <a:rPr lang="en-US" spc="-20" dirty="0">
                <a:solidFill>
                  <a:schemeClr val="tx1"/>
                </a:solidFill>
              </a:rPr>
              <a:t> it</a:t>
            </a:r>
            <a:r>
              <a:rPr lang="en-US" sz="1800" spc="-20" noProof="0" dirty="0">
                <a:solidFill>
                  <a:schemeClr val="tx1"/>
                </a:solidFill>
              </a:rPr>
              <a:t> exists, 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bash_logout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20" dirty="0">
                <a:solidFill>
                  <a:schemeClr val="tx1"/>
                </a:solidFill>
              </a:rPr>
              <a:t>will be run.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03584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2831A4-DA05-6E92-2FFD-020F13081F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FF0000"/>
                </a:solidFill>
              </a:rPr>
              <a:t>Interactive non-login </a:t>
            </a:r>
            <a:r>
              <a:rPr lang="en-US" noProof="0" dirty="0"/>
              <a:t>bash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95553" indent="-285750">
              <a:spcBef>
                <a:spcPts val="569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A shell that wasn’t created directly from logging in, but is still interactive, for </a:t>
            </a:r>
            <a:r>
              <a:rPr lang="en-US" sz="1800" spc="-20" noProof="0" dirty="0" err="1">
                <a:solidFill>
                  <a:schemeClr val="tx1"/>
                </a:solidFill>
              </a:rPr>
              <a:t>exa</a:t>
            </a:r>
            <a:r>
              <a:rPr lang="en-US" spc="-20" dirty="0">
                <a:solidFill>
                  <a:schemeClr val="tx1"/>
                </a:solidFill>
              </a:rPr>
              <a:t>m</a:t>
            </a:r>
            <a:r>
              <a:rPr lang="en-US" sz="1800" spc="-20" noProof="0" dirty="0" err="1">
                <a:solidFill>
                  <a:schemeClr val="tx1"/>
                </a:solidFill>
              </a:rPr>
              <a:t>ple</a:t>
            </a:r>
            <a:r>
              <a:rPr lang="en-US" sz="1800" spc="-20" noProof="0" dirty="0">
                <a:solidFill>
                  <a:schemeClr val="tx1"/>
                </a:solidFill>
              </a:rPr>
              <a:t>: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A terminal started from within GUI mode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Typing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</a:t>
            </a:r>
            <a:r>
              <a:rPr lang="en-US" sz="1800" spc="-20" noProof="0" dirty="0"/>
              <a:t> as a command</a:t>
            </a:r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295553" indent="-285750">
              <a:spcBef>
                <a:spcPts val="569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If it exists, the first file read and run is</a:t>
            </a:r>
            <a:r>
              <a:rPr lang="en-US" sz="1800" spc="-20" noProof="0" dirty="0"/>
              <a:t>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~/.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r>
              <a:rPr lang="en-US" spc="-20" noProof="0" dirty="0"/>
              <a:t>:</a:t>
            </a:r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/>
              <a:t>Unless started with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–-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norc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pc="-20" dirty="0"/>
              <a:t>or with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</a:t>
            </a:r>
            <a:r>
              <a:rPr lang="en-US" sz="1800" b="1" spc="-20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rcfile</a:t>
            </a:r>
            <a:endParaRPr lang="en-US" sz="1800" spc="-20" noProof="0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2082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BD7FE2-6CB2-4915-F13E-1DEE841E71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FF0000"/>
                </a:solidFill>
              </a:rPr>
              <a:t>Non-interactive non-login </a:t>
            </a:r>
            <a:r>
              <a:rPr lang="en-US" noProof="0" dirty="0"/>
              <a:t>bash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95553" indent="-285750">
              <a:spcBef>
                <a:spcPts val="569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For example, a script.</a:t>
            </a:r>
          </a:p>
          <a:p>
            <a:pPr marL="9803">
              <a:spcBef>
                <a:spcPts val="569"/>
              </a:spcBef>
              <a:buClr>
                <a:srgbClr val="000000"/>
              </a:buClr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chemeClr val="tx1"/>
                </a:solidFill>
              </a:rPr>
              <a:t>If the environment variable</a:t>
            </a:r>
            <a:r>
              <a:rPr lang="en-US" sz="1800" spc="-20" noProof="0" dirty="0"/>
              <a:t>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BASH_ENV</a:t>
            </a:r>
            <a:r>
              <a:rPr lang="en-US" spc="-20" noProof="0" dirty="0">
                <a:solidFill>
                  <a:schemeClr val="tx1"/>
                </a:solidFill>
              </a:rPr>
              <a:t> is </a:t>
            </a:r>
            <a:r>
              <a:rPr lang="en-US" sz="1800" spc="-20" noProof="0" dirty="0" err="1">
                <a:solidFill>
                  <a:schemeClr val="tx1"/>
                </a:solidFill>
              </a:rPr>
              <a:t>set</a:t>
            </a:r>
            <a:r>
              <a:rPr lang="en-US" spc="-20" noProof="0" dirty="0" err="1"/>
              <a:t>:</a:t>
            </a:r>
            <a:r>
              <a:rPr lang="en-US" spc="-20" noProof="0" dirty="0" err="1">
                <a:solidFill>
                  <a:schemeClr val="tx1"/>
                </a:solidFill>
              </a:rPr>
              <a:t>and</a:t>
            </a:r>
            <a:r>
              <a:rPr lang="en-US" spc="-20" noProof="0" dirty="0">
                <a:solidFill>
                  <a:schemeClr val="tx1"/>
                </a:solidFill>
              </a:rPr>
              <a:t> the </a:t>
            </a:r>
            <a:r>
              <a:rPr lang="en-US" sz="1800" spc="-20" noProof="0" dirty="0">
                <a:solidFill>
                  <a:schemeClr val="tx1"/>
                </a:solidFill>
              </a:rPr>
              <a:t>file it refers to exists and is readable</a:t>
            </a:r>
            <a:r>
              <a:rPr lang="en-US" spc="-20" dirty="0">
                <a:solidFill>
                  <a:schemeClr val="tx1"/>
                </a:solidFill>
              </a:rPr>
              <a:t>, it is read and run before the statements in the script</a:t>
            </a:r>
            <a:endParaRPr lang="en-US" sz="1800" spc="-20" noProof="0" dirty="0"/>
          </a:p>
          <a:p>
            <a:pPr marL="747157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20" noProof="0" dirty="0"/>
          </a:p>
          <a:p>
            <a:pPr marL="469953" lvl="1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b="1" spc="-20" noProof="0" dirty="0"/>
              <a:t>Unless</a:t>
            </a:r>
            <a:r>
              <a:rPr lang="en-US" sz="1800" spc="-20" noProof="0" dirty="0"/>
              <a:t> </a:t>
            </a:r>
            <a:r>
              <a:rPr lang="en-US" spc="-20" dirty="0"/>
              <a:t>the script was </a:t>
            </a:r>
            <a:r>
              <a:rPr lang="en-US" sz="1800" spc="-20" noProof="0" dirty="0"/>
              <a:t>started with </a:t>
            </a:r>
            <a:r>
              <a:rPr lang="en-US" sz="1800" b="1" spc="-20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--login  </a:t>
            </a:r>
            <a:r>
              <a:rPr lang="en-US" spc="-20" noProof="0" dirty="0"/>
              <a:t>In that case, i</a:t>
            </a:r>
            <a:r>
              <a:rPr lang="en-US" sz="1800" spc="-20" noProof="0" dirty="0"/>
              <a:t>t will run as if it is a login shell instead.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31422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CB4DC-8985-3161-0D9D-6AB192063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B05EA98-0C25-B3BF-D845-10CB9D353F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8BE1548-21D3-1BE2-B350-CBBB93247E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E7D08-A1E1-054A-D7A8-EA36A9E595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F3469444-D02B-D446-9CF8-19DEDDE073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8188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DCF697C-464C-E908-57DA-E7F11641A7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command is used to display all exported/global variables in the current shell?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variable contains the list of directories used to search for external programs?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The following files exist in a user's home directory</a:t>
            </a:r>
            <a:r>
              <a:rPr lang="en-US" noProof="0" dirty="0"/>
              <a:t>. W</a:t>
            </a:r>
            <a:r>
              <a:rPr lang="en-US" sz="1800" noProof="0" dirty="0"/>
              <a:t>hich would be executed on login, and in what order?</a:t>
            </a:r>
          </a:p>
          <a:p>
            <a:pPr marL="800100" lvl="5" indent="-342900">
              <a:lnSpc>
                <a:spcPct val="150000"/>
              </a:lnSpc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.profile</a:t>
            </a:r>
          </a:p>
          <a:p>
            <a:pPr marL="800100" lvl="5" indent="-342900">
              <a:lnSpc>
                <a:spcPct val="150000"/>
              </a:lnSpc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bashrc</a:t>
            </a:r>
            <a:endParaRPr lang="en-US" b="1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800100" lvl="5" indent="-342900">
              <a:lnSpc>
                <a:spcPct val="150000"/>
              </a:lnSpc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bash_profile</a:t>
            </a:r>
            <a:endParaRPr lang="en-US" b="1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800100" lvl="5" indent="-342900">
              <a:lnSpc>
                <a:spcPct val="150000"/>
              </a:lnSpc>
            </a:pPr>
            <a:r>
              <a:rPr lang="en-US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.</a:t>
            </a:r>
            <a:r>
              <a:rPr lang="en-US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bash_login</a:t>
            </a:r>
            <a:endParaRPr lang="en-US" b="1" noProof="0" dirty="0">
              <a:solidFill>
                <a:srgbClr val="7030A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Which two commands manipulate and interrogate environmental definitions and options?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would you switch on spell checking when changing directories for a bash user?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9473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529D89-2C5B-1819-6C27-05FDDCBC2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6 – T2 and T3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02640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AA8E6E-5647-323C-BB3C-1208BBC4F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maintains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T</a:t>
            </a:r>
            <a:r>
              <a:rPr lang="en-US" spc="-98" noProof="0" dirty="0">
                <a:solidFill>
                  <a:srgbClr val="2D2C2C"/>
                </a:solidFill>
                <a:cs typeface="Segoe UI"/>
              </a:rPr>
              <a:t>his is t</a:t>
            </a:r>
            <a:r>
              <a:rPr lang="en-US" sz="1800" spc="-98" noProof="0" dirty="0">
                <a:solidFill>
                  <a:srgbClr val="2D2C2C"/>
                </a:solidFill>
                <a:cs typeface="Segoe UI"/>
              </a:rPr>
              <a:t>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session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provide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sub-shells.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Variables,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aliases,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functions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part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of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environment.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created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at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command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line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are lost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when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you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log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out.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6080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Use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'start-up'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'permanent'</a:t>
            </a:r>
            <a:r>
              <a:rPr lang="en-US" sz="1800" spc="7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definitions.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Different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are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used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login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non-login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shells.</a:t>
            </a: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6080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scripts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must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have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BASH_ENV</a:t>
            </a:r>
            <a:r>
              <a:rPr lang="en-US" sz="1800" b="1" spc="5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defined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start-up.</a:t>
            </a:r>
          </a:p>
          <a:p>
            <a:pPr marL="6080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4" noProof="0" dirty="0">
              <a:solidFill>
                <a:srgbClr val="2D2C2C"/>
              </a:solidFill>
              <a:cs typeface="Segoe UI"/>
            </a:endParaRPr>
          </a:p>
          <a:p>
            <a:pPr marL="6080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behavior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controlled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 -o</a:t>
            </a:r>
            <a:r>
              <a:rPr lang="en-US" sz="1800" b="1" spc="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shopt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5936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E1E207-3547-F3BE-10C1-6946FD1B9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0A5CC7-66A1-0582-2B3B-A714CB83987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0317169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Blu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Red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7.xml><?xml version="1.0" encoding="utf-8"?>
<a:theme xmlns:a="http://schemas.openxmlformats.org/drawingml/2006/main" name="Green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8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C71F1D-A98C-43DF-A986-061295C23702}">
  <ds:schemaRefs>
    <ds:schemaRef ds:uri="52e7f57a-cc1d-4bce-9b60-d9dd785361c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851bab5-d36a-4f24-a761-998180967d1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19433</TotalTime>
  <Words>2863</Words>
  <Application>Microsoft Office PowerPoint</Application>
  <PresentationFormat>Widescreen</PresentationFormat>
  <Paragraphs>408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28</vt:i4>
      </vt:variant>
    </vt:vector>
  </HeadingPairs>
  <TitlesOfParts>
    <vt:vector size="43" baseType="lpstr">
      <vt:lpstr>Aptos</vt:lpstr>
      <vt:lpstr>Arial</vt:lpstr>
      <vt:lpstr>Calibri</vt:lpstr>
      <vt:lpstr>Figtree</vt:lpstr>
      <vt:lpstr>Hack</vt:lpstr>
      <vt:lpstr>Montserrat</vt:lpstr>
      <vt:lpstr>Segoe UI</vt:lpstr>
      <vt:lpstr>Cover Slides - Business/Marketing</vt:lpstr>
      <vt:lpstr>Divider Slides</vt:lpstr>
      <vt:lpstr>Blue Module</vt:lpstr>
      <vt:lpstr>Red Module</vt:lpstr>
      <vt:lpstr>Purple Module</vt:lpstr>
      <vt:lpstr>Orange Module</vt:lpstr>
      <vt:lpstr>Green Module</vt:lpstr>
      <vt:lpstr>B/W Module</vt:lpstr>
      <vt:lpstr>Module 6: Customising the Bash Environment</vt:lpstr>
      <vt:lpstr>Contents</vt:lpstr>
      <vt:lpstr>Shell definitions</vt:lpstr>
      <vt:lpstr>Bash environment definitions</vt:lpstr>
      <vt:lpstr>Parent / child</vt:lpstr>
      <vt:lpstr>Shell variables</vt:lpstr>
      <vt:lpstr>Environment variables</vt:lpstr>
      <vt:lpstr>Alias</vt:lpstr>
      <vt:lpstr>Function</vt:lpstr>
      <vt:lpstr>Lab</vt:lpstr>
      <vt:lpstr>Practical exercise 6 – T1</vt:lpstr>
      <vt:lpstr>Controlling shell behavior</vt:lpstr>
      <vt:lpstr>Generic shell options</vt:lpstr>
      <vt:lpstr>Bash specific options</vt:lpstr>
      <vt:lpstr>Knowledge check</vt:lpstr>
      <vt:lpstr>What are script files?</vt:lpstr>
      <vt:lpstr>What is a shell script?</vt:lpstr>
      <vt:lpstr>Why automate with scripts?</vt:lpstr>
      <vt:lpstr>Various ways to run scripts</vt:lpstr>
      <vt:lpstr>Shell startup files</vt:lpstr>
      <vt:lpstr>Interactive-login bash</vt:lpstr>
      <vt:lpstr>Interactive non-login bash</vt:lpstr>
      <vt:lpstr>Non-interactive non-login bash</vt:lpstr>
      <vt:lpstr>Review and lab</vt:lpstr>
      <vt:lpstr>Review questions</vt:lpstr>
      <vt:lpstr>Practical exercise 6 – T2 and T3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48</cp:revision>
  <dcterms:created xsi:type="dcterms:W3CDTF">2024-06-24T11:44:08Z</dcterms:created>
  <dcterms:modified xsi:type="dcterms:W3CDTF">2026-06-05T09:00:18Z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