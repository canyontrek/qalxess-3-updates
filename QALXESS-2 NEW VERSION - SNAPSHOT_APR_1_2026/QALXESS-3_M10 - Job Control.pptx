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74" r:id="rId6"/>
    <p:sldMasterId id="2147483897" r:id="rId7"/>
    <p:sldMasterId id="2147483908" r:id="rId8"/>
    <p:sldMasterId id="2147483919" r:id="rId9"/>
    <p:sldMasterId id="2147483930" r:id="rId10"/>
  </p:sldMasterIdLst>
  <p:notesMasterIdLst>
    <p:notesMasterId r:id="rId35"/>
  </p:notesMasterIdLst>
  <p:sldIdLst>
    <p:sldId id="1325" r:id="rId11"/>
    <p:sldId id="1326" r:id="rId12"/>
    <p:sldId id="1327" r:id="rId13"/>
    <p:sldId id="1328" r:id="rId14"/>
    <p:sldId id="1329" r:id="rId15"/>
    <p:sldId id="1330" r:id="rId16"/>
    <p:sldId id="1331" r:id="rId17"/>
    <p:sldId id="1332" r:id="rId18"/>
    <p:sldId id="1333" r:id="rId19"/>
    <p:sldId id="1334" r:id="rId20"/>
    <p:sldId id="1335" r:id="rId21"/>
    <p:sldId id="1336" r:id="rId22"/>
    <p:sldId id="1337" r:id="rId23"/>
    <p:sldId id="1338" r:id="rId24"/>
    <p:sldId id="1339" r:id="rId25"/>
    <p:sldId id="1340" r:id="rId26"/>
    <p:sldId id="1341" r:id="rId27"/>
    <p:sldId id="1342" r:id="rId28"/>
    <p:sldId id="723" r:id="rId29"/>
    <p:sldId id="1343" r:id="rId30"/>
    <p:sldId id="1348" r:id="rId31"/>
    <p:sldId id="1344" r:id="rId32"/>
    <p:sldId id="1345" r:id="rId33"/>
    <p:sldId id="134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325"/>
            <p14:sldId id="1326"/>
            <p14:sldId id="1327"/>
            <p14:sldId id="1328"/>
            <p14:sldId id="1329"/>
            <p14:sldId id="1330"/>
            <p14:sldId id="1331"/>
            <p14:sldId id="1332"/>
            <p14:sldId id="1333"/>
            <p14:sldId id="1334"/>
            <p14:sldId id="1335"/>
            <p14:sldId id="1336"/>
            <p14:sldId id="1337"/>
            <p14:sldId id="1338"/>
            <p14:sldId id="1339"/>
            <p14:sldId id="1340"/>
            <p14:sldId id="1341"/>
            <p14:sldId id="1342"/>
            <p14:sldId id="723"/>
            <p14:sldId id="1343"/>
            <p14:sldId id="1348"/>
            <p14:sldId id="1344"/>
            <p14:sldId id="1345"/>
            <p14:sldId id="1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9C882-C66E-4189-A342-98107057FB47}" v="4" dt="2025-05-30T13:01:51.00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0565"/>
    <p:restoredTop sz="91387"/>
  </p:normalViewPr>
  <p:slideViewPr>
    <p:cSldViewPr snapToGrid="0">
      <p:cViewPr varScale="1">
        <p:scale>
          <a:sx n="104" d="100"/>
          <a:sy n="104" d="100"/>
        </p:scale>
        <p:origin x="1128" y="318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-3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0C5DE1BD-3011-4463-A6D4-1AA5934FA549}"/>
    <pc:docChg chg="undo redo custSel modSld delMainMaster">
      <pc:chgData name="Feist, Ella" userId="992bbaf2-811d-42cb-a4d6-e7fc45e325e8" providerId="ADAL" clId="{0C5DE1BD-3011-4463-A6D4-1AA5934FA549}" dt="2025-05-28T10:25:03.830" v="251" actId="20577"/>
      <pc:docMkLst>
        <pc:docMk/>
      </pc:docMkLst>
      <pc:sldChg chg="modSp mod">
        <pc:chgData name="Feist, Ella" userId="992bbaf2-811d-42cb-a4d6-e7fc45e325e8" providerId="ADAL" clId="{0C5DE1BD-3011-4463-A6D4-1AA5934FA549}" dt="2025-05-28T10:14:14.525" v="224" actId="20577"/>
        <pc:sldMkLst>
          <pc:docMk/>
          <pc:sldMk cId="845402614" sldId="723"/>
        </pc:sldMkLst>
        <pc:spChg chg="mod">
          <ac:chgData name="Feist, Ella" userId="992bbaf2-811d-42cb-a4d6-e7fc45e325e8" providerId="ADAL" clId="{0C5DE1BD-3011-4463-A6D4-1AA5934FA549}" dt="2025-05-28T10:14:14.525" v="224" actId="20577"/>
          <ac:spMkLst>
            <pc:docMk/>
            <pc:sldMk cId="845402614" sldId="7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09:58:48.887" v="12" actId="20577"/>
        <pc:sldMkLst>
          <pc:docMk/>
          <pc:sldMk cId="773788177" sldId="1325"/>
        </pc:sldMkLst>
        <pc:spChg chg="mod">
          <ac:chgData name="Feist, Ella" userId="992bbaf2-811d-42cb-a4d6-e7fc45e325e8" providerId="ADAL" clId="{0C5DE1BD-3011-4463-A6D4-1AA5934FA549}" dt="2025-05-28T09:58:13.545" v="0" actId="20577"/>
          <ac:spMkLst>
            <pc:docMk/>
            <pc:sldMk cId="773788177" sldId="132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0C5DE1BD-3011-4463-A6D4-1AA5934FA549}" dt="2025-05-28T09:58:48.887" v="12" actId="20577"/>
          <ac:graphicFrameMkLst>
            <pc:docMk/>
            <pc:sldMk cId="773788177" sldId="1325"/>
            <ac:graphicFrameMk id="6" creationId="{27EBD157-B537-C50C-1AB3-8A1A6E7629A1}"/>
          </ac:graphicFrameMkLst>
        </pc:graphicFrameChg>
      </pc:sldChg>
      <pc:sldChg chg="modSp mod">
        <pc:chgData name="Feist, Ella" userId="992bbaf2-811d-42cb-a4d6-e7fc45e325e8" providerId="ADAL" clId="{0C5DE1BD-3011-4463-A6D4-1AA5934FA549}" dt="2025-05-28T09:58:52.599" v="13" actId="12"/>
        <pc:sldMkLst>
          <pc:docMk/>
          <pc:sldMk cId="1698393279" sldId="1326"/>
        </pc:sldMkLst>
        <pc:spChg chg="mod">
          <ac:chgData name="Feist, Ella" userId="992bbaf2-811d-42cb-a4d6-e7fc45e325e8" providerId="ADAL" clId="{0C5DE1BD-3011-4463-A6D4-1AA5934FA549}" dt="2025-05-28T09:58:52.599" v="13" actId="12"/>
          <ac:spMkLst>
            <pc:docMk/>
            <pc:sldMk cId="1698393279" sldId="132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0C5DE1BD-3011-4463-A6D4-1AA5934FA549}" dt="2025-05-28T09:59:17.089" v="26" actId="20577"/>
        <pc:sldMkLst>
          <pc:docMk/>
          <pc:sldMk cId="1392687769" sldId="1328"/>
        </pc:sldMkLst>
        <pc:spChg chg="mod">
          <ac:chgData name="Feist, Ella" userId="992bbaf2-811d-42cb-a4d6-e7fc45e325e8" providerId="ADAL" clId="{0C5DE1BD-3011-4463-A6D4-1AA5934FA549}" dt="2025-05-28T09:58:58.903" v="17" actId="20577"/>
          <ac:spMkLst>
            <pc:docMk/>
            <pc:sldMk cId="1392687769" sldId="1328"/>
            <ac:spMk id="3" creationId="{341172B6-7238-27E7-B412-709EC55FB2CD}"/>
          </ac:spMkLst>
        </pc:spChg>
        <pc:spChg chg="mod">
          <ac:chgData name="Feist, Ella" userId="992bbaf2-811d-42cb-a4d6-e7fc45e325e8" providerId="ADAL" clId="{0C5DE1BD-3011-4463-A6D4-1AA5934FA549}" dt="2025-05-28T09:59:17.089" v="26" actId="20577"/>
          <ac:spMkLst>
            <pc:docMk/>
            <pc:sldMk cId="1392687769" sldId="1328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0:42.095" v="78" actId="20577"/>
        <pc:sldMkLst>
          <pc:docMk/>
          <pc:sldMk cId="1727353045" sldId="1329"/>
        </pc:sldMkLst>
        <pc:spChg chg="mod">
          <ac:chgData name="Feist, Ella" userId="992bbaf2-811d-42cb-a4d6-e7fc45e325e8" providerId="ADAL" clId="{0C5DE1BD-3011-4463-A6D4-1AA5934FA549}" dt="2025-05-28T10:00:42.095" v="78" actId="20577"/>
          <ac:spMkLst>
            <pc:docMk/>
            <pc:sldMk cId="1727353045" sldId="1329"/>
            <ac:spMk id="5" creationId="{91A8ED3D-B755-43C9-BCB1-DCF495C0C9DB}"/>
          </ac:spMkLst>
        </pc:spChg>
        <pc:spChg chg="mod">
          <ac:chgData name="Feist, Ella" userId="992bbaf2-811d-42cb-a4d6-e7fc45e325e8" providerId="ADAL" clId="{0C5DE1BD-3011-4463-A6D4-1AA5934FA549}" dt="2025-05-28T09:59:28.444" v="45" actId="1036"/>
          <ac:spMkLst>
            <pc:docMk/>
            <pc:sldMk cId="1727353045" sldId="1329"/>
            <ac:spMk id="7" creationId="{94718481-ED3F-30E4-0BCD-F6BBA86D14A5}"/>
          </ac:spMkLst>
        </pc:spChg>
        <pc:spChg chg="mod">
          <ac:chgData name="Feist, Ella" userId="992bbaf2-811d-42cb-a4d6-e7fc45e325e8" providerId="ADAL" clId="{0C5DE1BD-3011-4463-A6D4-1AA5934FA549}" dt="2025-05-28T09:59:31.767" v="62" actId="1036"/>
          <ac:spMkLst>
            <pc:docMk/>
            <pc:sldMk cId="1727353045" sldId="1329"/>
            <ac:spMk id="8" creationId="{49C038C0-C309-9B0A-ABC6-0410A196066D}"/>
          </ac:spMkLst>
        </pc:spChg>
      </pc:sldChg>
      <pc:sldChg chg="modSp mod">
        <pc:chgData name="Feist, Ella" userId="992bbaf2-811d-42cb-a4d6-e7fc45e325e8" providerId="ADAL" clId="{0C5DE1BD-3011-4463-A6D4-1AA5934FA549}" dt="2025-05-28T10:00:52.115" v="82" actId="20577"/>
        <pc:sldMkLst>
          <pc:docMk/>
          <pc:sldMk cId="2674618432" sldId="1330"/>
        </pc:sldMkLst>
        <pc:spChg chg="mod">
          <ac:chgData name="Feist, Ella" userId="992bbaf2-811d-42cb-a4d6-e7fc45e325e8" providerId="ADAL" clId="{0C5DE1BD-3011-4463-A6D4-1AA5934FA549}" dt="2025-05-28T10:00:48.521" v="79"/>
          <ac:spMkLst>
            <pc:docMk/>
            <pc:sldMk cId="2674618432" sldId="1330"/>
            <ac:spMk id="3" creationId="{13B66C1C-2AAB-4ED0-90D2-B2FCAAA5FB42}"/>
          </ac:spMkLst>
        </pc:spChg>
        <pc:spChg chg="mod">
          <ac:chgData name="Feist, Ella" userId="992bbaf2-811d-42cb-a4d6-e7fc45e325e8" providerId="ADAL" clId="{0C5DE1BD-3011-4463-A6D4-1AA5934FA549}" dt="2025-05-28T10:00:52.115" v="82" actId="20577"/>
          <ac:spMkLst>
            <pc:docMk/>
            <pc:sldMk cId="2674618432" sldId="133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1:52.523" v="118" actId="108"/>
        <pc:sldMkLst>
          <pc:docMk/>
          <pc:sldMk cId="2588639112" sldId="1331"/>
        </pc:sldMkLst>
        <pc:spChg chg="mod">
          <ac:chgData name="Feist, Ella" userId="992bbaf2-811d-42cb-a4d6-e7fc45e325e8" providerId="ADAL" clId="{0C5DE1BD-3011-4463-A6D4-1AA5934FA549}" dt="2025-05-28T10:00:56.917" v="83"/>
          <ac:spMkLst>
            <pc:docMk/>
            <pc:sldMk cId="2588639112" sldId="1331"/>
            <ac:spMk id="4" creationId="{3AFB6982-B950-1F95-C9B7-9932E441AED0}"/>
          </ac:spMkLst>
        </pc:spChg>
        <pc:spChg chg="mod">
          <ac:chgData name="Feist, Ella" userId="992bbaf2-811d-42cb-a4d6-e7fc45e325e8" providerId="ADAL" clId="{0C5DE1BD-3011-4463-A6D4-1AA5934FA549}" dt="2025-05-28T10:01:52.523" v="118" actId="108"/>
          <ac:spMkLst>
            <pc:docMk/>
            <pc:sldMk cId="2588639112" sldId="1331"/>
            <ac:spMk id="5" creationId="{91A8ED3D-B755-43C9-BCB1-DCF495C0C9DB}"/>
          </ac:spMkLst>
        </pc:spChg>
        <pc:spChg chg="mod">
          <ac:chgData name="Feist, Ella" userId="992bbaf2-811d-42cb-a4d6-e7fc45e325e8" providerId="ADAL" clId="{0C5DE1BD-3011-4463-A6D4-1AA5934FA549}" dt="2025-05-28T10:01:06.726" v="104" actId="1036"/>
          <ac:spMkLst>
            <pc:docMk/>
            <pc:sldMk cId="2588639112" sldId="1331"/>
            <ac:spMk id="7" creationId="{93C216FD-732D-3B7D-DB96-2BA0BF3C79ED}"/>
          </ac:spMkLst>
        </pc:spChg>
        <pc:graphicFrameChg chg="mod modGraphic">
          <ac:chgData name="Feist, Ella" userId="992bbaf2-811d-42cb-a4d6-e7fc45e325e8" providerId="ADAL" clId="{0C5DE1BD-3011-4463-A6D4-1AA5934FA549}" dt="2025-05-28T10:01:39.710" v="112" actId="1076"/>
          <ac:graphicFrameMkLst>
            <pc:docMk/>
            <pc:sldMk cId="2588639112" sldId="1331"/>
            <ac:graphicFrameMk id="6" creationId="{F3E956E6-C2B3-0E21-0624-D09BEF0E0864}"/>
          </ac:graphicFrameMkLst>
        </pc:graphicFrameChg>
      </pc:sldChg>
      <pc:sldChg chg="modSp mod">
        <pc:chgData name="Feist, Ella" userId="992bbaf2-811d-42cb-a4d6-e7fc45e325e8" providerId="ADAL" clId="{0C5DE1BD-3011-4463-A6D4-1AA5934FA549}" dt="2025-05-28T10:02:36.101" v="132" actId="14100"/>
        <pc:sldMkLst>
          <pc:docMk/>
          <pc:sldMk cId="3937756192" sldId="1332"/>
        </pc:sldMkLst>
        <pc:spChg chg="mod">
          <ac:chgData name="Feist, Ella" userId="992bbaf2-811d-42cb-a4d6-e7fc45e325e8" providerId="ADAL" clId="{0C5DE1BD-3011-4463-A6D4-1AA5934FA549}" dt="2025-05-28T10:01:57.793" v="119"/>
          <ac:spMkLst>
            <pc:docMk/>
            <pc:sldMk cId="3937756192" sldId="1332"/>
            <ac:spMk id="3" creationId="{1740D870-41F9-DA17-EBF7-1A4E9965869E}"/>
          </ac:spMkLst>
        </pc:spChg>
        <pc:spChg chg="mod">
          <ac:chgData name="Feist, Ella" userId="992bbaf2-811d-42cb-a4d6-e7fc45e325e8" providerId="ADAL" clId="{0C5DE1BD-3011-4463-A6D4-1AA5934FA549}" dt="2025-05-28T10:02:36.101" v="132" actId="14100"/>
          <ac:spMkLst>
            <pc:docMk/>
            <pc:sldMk cId="3937756192" sldId="133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2:46.440" v="133" actId="20577"/>
        <pc:sldMkLst>
          <pc:docMk/>
          <pc:sldMk cId="739151963" sldId="1333"/>
        </pc:sldMkLst>
        <pc:spChg chg="mod">
          <ac:chgData name="Feist, Ella" userId="992bbaf2-811d-42cb-a4d6-e7fc45e325e8" providerId="ADAL" clId="{0C5DE1BD-3011-4463-A6D4-1AA5934FA549}" dt="2025-05-28T10:02:46.440" v="133" actId="20577"/>
          <ac:spMkLst>
            <pc:docMk/>
            <pc:sldMk cId="739151963" sldId="1333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0C5DE1BD-3011-4463-A6D4-1AA5934FA549}" dt="2025-05-28T10:04:33.307" v="147" actId="108"/>
        <pc:sldMkLst>
          <pc:docMk/>
          <pc:sldMk cId="1749591313" sldId="1334"/>
        </pc:sldMkLst>
        <pc:spChg chg="mod">
          <ac:chgData name="Feist, Ella" userId="992bbaf2-811d-42cb-a4d6-e7fc45e325e8" providerId="ADAL" clId="{0C5DE1BD-3011-4463-A6D4-1AA5934FA549}" dt="2025-05-28T10:04:33.307" v="147" actId="108"/>
          <ac:spMkLst>
            <pc:docMk/>
            <pc:sldMk cId="1749591313" sldId="1334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04.090" v="162" actId="948"/>
        <pc:sldMkLst>
          <pc:docMk/>
          <pc:sldMk cId="4152184762" sldId="1335"/>
        </pc:sldMkLst>
        <pc:spChg chg="mod">
          <ac:chgData name="Feist, Ella" userId="992bbaf2-811d-42cb-a4d6-e7fc45e325e8" providerId="ADAL" clId="{0C5DE1BD-3011-4463-A6D4-1AA5934FA549}" dt="2025-05-28T10:04:38.386" v="148" actId="20577"/>
          <ac:spMkLst>
            <pc:docMk/>
            <pc:sldMk cId="4152184762" sldId="1335"/>
            <ac:spMk id="3" creationId="{0F6C445F-B297-B308-B19D-03660A773153}"/>
          </ac:spMkLst>
        </pc:spChg>
        <pc:spChg chg="mod">
          <ac:chgData name="Feist, Ella" userId="992bbaf2-811d-42cb-a4d6-e7fc45e325e8" providerId="ADAL" clId="{0C5DE1BD-3011-4463-A6D4-1AA5934FA549}" dt="2025-05-28T10:05:04.090" v="162" actId="948"/>
          <ac:spMkLst>
            <pc:docMk/>
            <pc:sldMk cId="4152184762" sldId="1335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30.315" v="175" actId="20577"/>
        <pc:sldMkLst>
          <pc:docMk/>
          <pc:sldMk cId="1276361503" sldId="1336"/>
        </pc:sldMkLst>
        <pc:spChg chg="mod">
          <ac:chgData name="Feist, Ella" userId="992bbaf2-811d-42cb-a4d6-e7fc45e325e8" providerId="ADAL" clId="{0C5DE1BD-3011-4463-A6D4-1AA5934FA549}" dt="2025-05-28T10:05:10.192" v="163"/>
          <ac:spMkLst>
            <pc:docMk/>
            <pc:sldMk cId="1276361503" sldId="1336"/>
            <ac:spMk id="3" creationId="{1882CFE2-1A80-23CB-EBCE-510AAED428C8}"/>
          </ac:spMkLst>
        </pc:spChg>
        <pc:spChg chg="mod">
          <ac:chgData name="Feist, Ella" userId="992bbaf2-811d-42cb-a4d6-e7fc45e325e8" providerId="ADAL" clId="{0C5DE1BD-3011-4463-A6D4-1AA5934FA549}" dt="2025-05-28T10:05:30.315" v="175" actId="20577"/>
          <ac:spMkLst>
            <pc:docMk/>
            <pc:sldMk cId="1276361503" sldId="1336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5:48.922" v="181" actId="20577"/>
        <pc:sldMkLst>
          <pc:docMk/>
          <pc:sldMk cId="3098065164" sldId="1337"/>
        </pc:sldMkLst>
        <pc:spChg chg="mod">
          <ac:chgData name="Feist, Ella" userId="992bbaf2-811d-42cb-a4d6-e7fc45e325e8" providerId="ADAL" clId="{0C5DE1BD-3011-4463-A6D4-1AA5934FA549}" dt="2025-05-28T10:05:35.529" v="177" actId="20577"/>
          <ac:spMkLst>
            <pc:docMk/>
            <pc:sldMk cId="3098065164" sldId="1337"/>
            <ac:spMk id="3" creationId="{45AD4D5F-E7EE-7EE6-4EA1-9C159596EB05}"/>
          </ac:spMkLst>
        </pc:spChg>
        <pc:spChg chg="mod">
          <ac:chgData name="Feist, Ella" userId="992bbaf2-811d-42cb-a4d6-e7fc45e325e8" providerId="ADAL" clId="{0C5DE1BD-3011-4463-A6D4-1AA5934FA549}" dt="2025-05-28T10:05:48.922" v="181" actId="20577"/>
          <ac:spMkLst>
            <pc:docMk/>
            <pc:sldMk cId="3098065164" sldId="1337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0C5DE1BD-3011-4463-A6D4-1AA5934FA549}" dt="2025-05-28T10:07:48.148" v="205" actId="20577"/>
        <pc:sldMkLst>
          <pc:docMk/>
          <pc:sldMk cId="3053397788" sldId="1339"/>
        </pc:sldMkLst>
        <pc:spChg chg="mod ord">
          <ac:chgData name="Feist, Ella" userId="992bbaf2-811d-42cb-a4d6-e7fc45e325e8" providerId="ADAL" clId="{0C5DE1BD-3011-4463-A6D4-1AA5934FA549}" dt="2025-05-28T10:07:23.285" v="191" actId="700"/>
          <ac:spMkLst>
            <pc:docMk/>
            <pc:sldMk cId="3053397788" sldId="1339"/>
            <ac:spMk id="2" creationId="{A9A6FF77-D641-4417-92E7-11CC6238BF20}"/>
          </ac:spMkLst>
        </pc:spChg>
        <pc:spChg chg="mod ord">
          <ac:chgData name="Feist, Ella" userId="992bbaf2-811d-42cb-a4d6-e7fc45e325e8" providerId="ADAL" clId="{0C5DE1BD-3011-4463-A6D4-1AA5934FA549}" dt="2025-05-28T10:07:23.285" v="191" actId="700"/>
          <ac:spMkLst>
            <pc:docMk/>
            <pc:sldMk cId="3053397788" sldId="1339"/>
            <ac:spMk id="3" creationId="{1EE91687-474D-E29B-AF55-1BE8FC50E3DC}"/>
          </ac:spMkLst>
        </pc:spChg>
        <pc:spChg chg="mod ord">
          <ac:chgData name="Feist, Ella" userId="992bbaf2-811d-42cb-a4d6-e7fc45e325e8" providerId="ADAL" clId="{0C5DE1BD-3011-4463-A6D4-1AA5934FA549}" dt="2025-05-28T10:07:48.148" v="205" actId="20577"/>
          <ac:spMkLst>
            <pc:docMk/>
            <pc:sldMk cId="3053397788" sldId="1339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8:00.456" v="208" actId="20577"/>
        <pc:sldMkLst>
          <pc:docMk/>
          <pc:sldMk cId="2612574953" sldId="1340"/>
        </pc:sldMkLst>
        <pc:spChg chg="mod">
          <ac:chgData name="Feist, Ella" userId="992bbaf2-811d-42cb-a4d6-e7fc45e325e8" providerId="ADAL" clId="{0C5DE1BD-3011-4463-A6D4-1AA5934FA549}" dt="2025-05-28T10:07:53.491" v="206" actId="20577"/>
          <ac:spMkLst>
            <pc:docMk/>
            <pc:sldMk cId="2612574953" sldId="1340"/>
            <ac:spMk id="3" creationId="{DAC4D0F9-9E19-4744-8CB6-9C62E48A6F2A}"/>
          </ac:spMkLst>
        </pc:spChg>
        <pc:spChg chg="mod">
          <ac:chgData name="Feist, Ella" userId="992bbaf2-811d-42cb-a4d6-e7fc45e325e8" providerId="ADAL" clId="{0C5DE1BD-3011-4463-A6D4-1AA5934FA549}" dt="2025-05-28T10:08:00.456" v="208" actId="20577"/>
          <ac:spMkLst>
            <pc:docMk/>
            <pc:sldMk cId="2612574953" sldId="134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08:05.120" v="209" actId="20577"/>
        <pc:sldMkLst>
          <pc:docMk/>
          <pc:sldMk cId="879863837" sldId="1341"/>
        </pc:sldMkLst>
        <pc:spChg chg="mod">
          <ac:chgData name="Feist, Ella" userId="992bbaf2-811d-42cb-a4d6-e7fc45e325e8" providerId="ADAL" clId="{0C5DE1BD-3011-4463-A6D4-1AA5934FA549}" dt="2025-05-28T10:08:05.120" v="209" actId="20577"/>
          <ac:spMkLst>
            <pc:docMk/>
            <pc:sldMk cId="879863837" sldId="1341"/>
            <ac:spMk id="3" creationId="{2DD0389B-C1FC-E5E0-7C4F-1CEB851566EF}"/>
          </ac:spMkLst>
        </pc:spChg>
      </pc:sldChg>
      <pc:sldChg chg="modSp mod">
        <pc:chgData name="Feist, Ella" userId="992bbaf2-811d-42cb-a4d6-e7fc45e325e8" providerId="ADAL" clId="{0C5DE1BD-3011-4463-A6D4-1AA5934FA549}" dt="2025-05-28T10:13:44.604" v="215" actId="20577"/>
        <pc:sldMkLst>
          <pc:docMk/>
          <pc:sldMk cId="1791970138" sldId="1342"/>
        </pc:sldMkLst>
        <pc:spChg chg="mod">
          <ac:chgData name="Feist, Ella" userId="992bbaf2-811d-42cb-a4d6-e7fc45e325e8" providerId="ADAL" clId="{0C5DE1BD-3011-4463-A6D4-1AA5934FA549}" dt="2025-05-28T10:13:20.266" v="210" actId="20577"/>
          <ac:spMkLst>
            <pc:docMk/>
            <pc:sldMk cId="1791970138" sldId="1342"/>
            <ac:spMk id="4" creationId="{744B4EA1-27F0-0B74-B5C2-C6112D019B3A}"/>
          </ac:spMkLst>
        </pc:spChg>
        <pc:spChg chg="mod">
          <ac:chgData name="Feist, Ella" userId="992bbaf2-811d-42cb-a4d6-e7fc45e325e8" providerId="ADAL" clId="{0C5DE1BD-3011-4463-A6D4-1AA5934FA549}" dt="2025-05-28T10:13:44.604" v="215" actId="20577"/>
          <ac:spMkLst>
            <pc:docMk/>
            <pc:sldMk cId="1791970138" sldId="1342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0C5DE1BD-3011-4463-A6D4-1AA5934FA549}" dt="2025-05-28T10:21:03.424" v="227" actId="20577"/>
        <pc:sldMkLst>
          <pc:docMk/>
          <pc:sldMk cId="2286701262" sldId="1343"/>
        </pc:sldMkLst>
        <pc:spChg chg="mod">
          <ac:chgData name="Feist, Ella" userId="992bbaf2-811d-42cb-a4d6-e7fc45e325e8" providerId="ADAL" clId="{0C5DE1BD-3011-4463-A6D4-1AA5934FA549}" dt="2025-05-28T10:21:03.424" v="227" actId="20577"/>
          <ac:spMkLst>
            <pc:docMk/>
            <pc:sldMk cId="2286701262" sldId="1343"/>
            <ac:spMk id="5" creationId="{91A8ED3D-B755-43C9-BCB1-DCF495C0C9DB}"/>
          </ac:spMkLst>
        </pc:spChg>
      </pc:sldChg>
      <pc:sldChg chg="delSp modSp mod modClrScheme chgLayout">
        <pc:chgData name="Feist, Ella" userId="992bbaf2-811d-42cb-a4d6-e7fc45e325e8" providerId="ADAL" clId="{0C5DE1BD-3011-4463-A6D4-1AA5934FA549}" dt="2025-05-28T10:21:19.291" v="238" actId="700"/>
        <pc:sldMkLst>
          <pc:docMk/>
          <pc:sldMk cId="1015197599" sldId="1344"/>
        </pc:sldMkLst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2" creationId="{D7EC235F-614F-714E-A97F-4FF50EFF14FD}"/>
          </ac:spMkLst>
        </pc:spChg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4" creationId="{E9C5A723-C0B1-124B-8CB6-AA3105C9A4E6}"/>
          </ac:spMkLst>
        </pc:spChg>
        <pc:spChg chg="mod ord">
          <ac:chgData name="Feist, Ella" userId="992bbaf2-811d-42cb-a4d6-e7fc45e325e8" providerId="ADAL" clId="{0C5DE1BD-3011-4463-A6D4-1AA5934FA549}" dt="2025-05-28T10:21:19.291" v="238" actId="700"/>
          <ac:spMkLst>
            <pc:docMk/>
            <pc:sldMk cId="1015197599" sldId="1344"/>
            <ac:spMk id="7" creationId="{6AACFB6C-7984-FF44-6BD7-ACC6C48E180E}"/>
          </ac:spMkLst>
        </pc:spChg>
      </pc:sldChg>
      <pc:sldChg chg="addSp delSp modSp mod chgLayout">
        <pc:chgData name="Feist, Ella" userId="992bbaf2-811d-42cb-a4d6-e7fc45e325e8" providerId="ADAL" clId="{0C5DE1BD-3011-4463-A6D4-1AA5934FA549}" dt="2025-05-28T10:24:51.853" v="246" actId="478"/>
        <pc:sldMkLst>
          <pc:docMk/>
          <pc:sldMk cId="1775256585" sldId="1345"/>
        </pc:sldMkLst>
        <pc:spChg chg="mod ord">
          <ac:chgData name="Feist, Ella" userId="992bbaf2-811d-42cb-a4d6-e7fc45e325e8" providerId="ADAL" clId="{0C5DE1BD-3011-4463-A6D4-1AA5934FA549}" dt="2025-05-28T10:24:42.573" v="241" actId="6264"/>
          <ac:spMkLst>
            <pc:docMk/>
            <pc:sldMk cId="1775256585" sldId="1345"/>
            <ac:spMk id="2" creationId="{D7EC235F-614F-714E-A97F-4FF50EFF14FD}"/>
          </ac:spMkLst>
        </pc:spChg>
        <pc:spChg chg="mod ord">
          <ac:chgData name="Feist, Ella" userId="992bbaf2-811d-42cb-a4d6-e7fc45e325e8" providerId="ADAL" clId="{0C5DE1BD-3011-4463-A6D4-1AA5934FA549}" dt="2025-05-28T10:24:50.162" v="245" actId="20577"/>
          <ac:spMkLst>
            <pc:docMk/>
            <pc:sldMk cId="1775256585" sldId="1345"/>
            <ac:spMk id="4" creationId="{E9C5A723-C0B1-124B-8CB6-AA3105C9A4E6}"/>
          </ac:spMkLst>
        </pc:spChg>
        <pc:spChg chg="mod ord">
          <ac:chgData name="Feist, Ella" userId="992bbaf2-811d-42cb-a4d6-e7fc45e325e8" providerId="ADAL" clId="{0C5DE1BD-3011-4463-A6D4-1AA5934FA549}" dt="2025-05-28T10:24:44.320" v="242" actId="20577"/>
          <ac:spMkLst>
            <pc:docMk/>
            <pc:sldMk cId="1775256585" sldId="1345"/>
            <ac:spMk id="5" creationId="{DEE2EF33-23A1-2676-9EBC-C05ABDEEA09C}"/>
          </ac:spMkLst>
        </pc:spChg>
      </pc:sldChg>
      <pc:sldChg chg="modSp mod modClrScheme chgLayout">
        <pc:chgData name="Feist, Ella" userId="992bbaf2-811d-42cb-a4d6-e7fc45e325e8" providerId="ADAL" clId="{0C5DE1BD-3011-4463-A6D4-1AA5934FA549}" dt="2025-05-28T10:25:03.830" v="251" actId="20577"/>
        <pc:sldMkLst>
          <pc:docMk/>
          <pc:sldMk cId="2393783348" sldId="1346"/>
        </pc:sldMkLst>
        <pc:spChg chg="mod ord">
          <ac:chgData name="Feist, Ella" userId="992bbaf2-811d-42cb-a4d6-e7fc45e325e8" providerId="ADAL" clId="{0C5DE1BD-3011-4463-A6D4-1AA5934FA549}" dt="2025-05-28T10:24:55.195" v="247" actId="700"/>
          <ac:spMkLst>
            <pc:docMk/>
            <pc:sldMk cId="2393783348" sldId="1346"/>
            <ac:spMk id="2" creationId="{F111C5DB-635E-4576-A4C3-837B7E452E1E}"/>
          </ac:spMkLst>
        </pc:spChg>
        <pc:spChg chg="mod ord">
          <ac:chgData name="Feist, Ella" userId="992bbaf2-811d-42cb-a4d6-e7fc45e325e8" providerId="ADAL" clId="{0C5DE1BD-3011-4463-A6D4-1AA5934FA549}" dt="2025-05-28T10:24:55.195" v="247" actId="700"/>
          <ac:spMkLst>
            <pc:docMk/>
            <pc:sldMk cId="2393783348" sldId="1346"/>
            <ac:spMk id="3" creationId="{3B50A59D-D701-0A61-F252-8FA342EA57D7}"/>
          </ac:spMkLst>
        </pc:spChg>
        <pc:spChg chg="mod ord">
          <ac:chgData name="Feist, Ella" userId="992bbaf2-811d-42cb-a4d6-e7fc45e325e8" providerId="ADAL" clId="{0C5DE1BD-3011-4463-A6D4-1AA5934FA549}" dt="2025-05-28T10:25:03.830" v="251" actId="20577"/>
          <ac:spMkLst>
            <pc:docMk/>
            <pc:sldMk cId="2393783348" sldId="134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0C5DE1BD-3011-4463-A6D4-1AA5934FA549}" dt="2025-05-28T10:21:08.763" v="234" actId="6549"/>
        <pc:sldMkLst>
          <pc:docMk/>
          <pc:sldMk cId="3992252699" sldId="1348"/>
        </pc:sldMkLst>
        <pc:spChg chg="mod">
          <ac:chgData name="Feist, Ella" userId="992bbaf2-811d-42cb-a4d6-e7fc45e325e8" providerId="ADAL" clId="{0C5DE1BD-3011-4463-A6D4-1AA5934FA549}" dt="2025-05-28T10:21:08.763" v="234" actId="6549"/>
          <ac:spMkLst>
            <pc:docMk/>
            <pc:sldMk cId="3992252699" sldId="1348"/>
            <ac:spMk id="5" creationId="{543CA3BA-D737-2AE6-FB0A-8FC4F9E15603}"/>
          </ac:spMkLst>
        </pc:spChg>
      </pc:sld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0C5DE1BD-3011-4463-A6D4-1AA5934FA549}" dt="2025-05-28T09:58:24.285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0C5DE1BD-3011-4463-A6D4-1AA5934FA549}" dt="2025-05-28T09:58:24.285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E649C882-C66E-4189-A342-98107057FB47}"/>
    <pc:docChg chg="custSel modSld">
      <pc:chgData name="Feist, Ella" userId="992bbaf2-811d-42cb-a4d6-e7fc45e325e8" providerId="ADAL" clId="{E649C882-C66E-4189-A342-98107057FB47}" dt="2025-05-30T13:01:58.698" v="68" actId="20577"/>
      <pc:docMkLst>
        <pc:docMk/>
      </pc:docMkLst>
      <pc:sldChg chg="modSp mod modNotes">
        <pc:chgData name="Feist, Ella" userId="992bbaf2-811d-42cb-a4d6-e7fc45e325e8" providerId="ADAL" clId="{E649C882-C66E-4189-A342-98107057FB47}" dt="2025-05-30T13:01:36.894" v="56" actId="207"/>
        <pc:sldMkLst>
          <pc:docMk/>
          <pc:sldMk cId="845402614" sldId="72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3" creationId="{A77EFA22-9991-7C1F-DC5A-389A147AE74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4" creationId="{189D0C8F-9DC3-6879-BBE0-3A0127FD0F9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45402614" sldId="723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773788177" sldId="132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73788177" sldId="1325"/>
            <ac:spMk id="2" creationId="{CB24ECF5-37BB-BEFC-02EA-25FBF853C59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73788177" sldId="1325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E649C882-C66E-4189-A342-98107057FB47}" dt="2025-05-30T12:59:04.262" v="0" actId="790"/>
          <ac:graphicFrameMkLst>
            <pc:docMk/>
            <pc:sldMk cId="773788177" sldId="1325"/>
            <ac:graphicFrameMk id="6" creationId="{27EBD157-B537-C50C-1AB3-8A1A6E7629A1}"/>
          </ac:graphicFrameMkLst>
        </pc:graphicFrame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698393279" sldId="132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698393279" sldId="1326"/>
            <ac:spMk id="4" creationId="{00000000-0000-0000-0000-00000000000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698393279" sldId="1326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4144326412" sldId="1327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44326412" sldId="1327"/>
            <ac:spMk id="2" creationId="{4EF90D40-851B-791F-8B24-9F826FAC248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44326412" sldId="1327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17.130" v="1" actId="207"/>
        <pc:sldMkLst>
          <pc:docMk/>
          <pc:sldMk cId="1392687769" sldId="132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3" creationId="{341172B6-7238-27E7-B412-709EC55FB2C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392687769" sldId="1328"/>
            <ac:spMk id="7" creationId="{94718481-ED3F-30E4-0BCD-F6BBA86D14A5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37.543" v="13" actId="20577"/>
        <pc:sldMkLst>
          <pc:docMk/>
          <pc:sldMk cId="1727353045" sldId="1329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3" creationId="{A96846F4-D700-5121-B5E0-2C194A4F2AE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7" creationId="{94718481-ED3F-30E4-0BCD-F6BBA86D14A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27353045" sldId="1329"/>
            <ac:spMk id="8" creationId="{49C038C0-C309-9B0A-ABC6-0410A196066D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44.511" v="16" actId="20577"/>
        <pc:sldMkLst>
          <pc:docMk/>
          <pc:sldMk cId="2674618432" sldId="1330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3" creationId="{13B66C1C-2AAB-4ED0-90D2-B2FCAAA5FB42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9" creationId="{2F5A66A4-8F98-8662-3607-0AA88DC4A25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74618432" sldId="1330"/>
            <ac:spMk id="10" creationId="{C9587332-4610-EC76-DB4A-416525804C75}"/>
          </ac:spMkLst>
        </pc:spChg>
      </pc:sldChg>
      <pc:sldChg chg="modSp mod modNotes">
        <pc:chgData name="Feist, Ella" userId="992bbaf2-811d-42cb-a4d6-e7fc45e325e8" providerId="ADAL" clId="{E649C882-C66E-4189-A342-98107057FB47}" dt="2025-05-30T12:59:49.425" v="18" actId="207"/>
        <pc:sldMkLst>
          <pc:docMk/>
          <pc:sldMk cId="2588639112" sldId="1331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4" creationId="{3AFB6982-B950-1F95-C9B7-9932E441AED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588639112" sldId="1331"/>
            <ac:spMk id="7" creationId="{93C216FD-732D-3B7D-DB96-2BA0BF3C79ED}"/>
          </ac:spMkLst>
        </pc:spChg>
        <pc:graphicFrameChg chg="modGraphic">
          <ac:chgData name="Feist, Ella" userId="992bbaf2-811d-42cb-a4d6-e7fc45e325e8" providerId="ADAL" clId="{E649C882-C66E-4189-A342-98107057FB47}" dt="2025-05-30T12:59:04.262" v="0" actId="790"/>
          <ac:graphicFrameMkLst>
            <pc:docMk/>
            <pc:sldMk cId="2588639112" sldId="1331"/>
            <ac:graphicFrameMk id="6" creationId="{F3E956E6-C2B3-0E21-0624-D09BEF0E0864}"/>
          </ac:graphicFrameMkLst>
        </pc:graphicFrameChg>
      </pc:sldChg>
      <pc:sldChg chg="modSp mod modNotes">
        <pc:chgData name="Feist, Ella" userId="992bbaf2-811d-42cb-a4d6-e7fc45e325e8" providerId="ADAL" clId="{E649C882-C66E-4189-A342-98107057FB47}" dt="2025-05-30T13:00:03.999" v="25" actId="313"/>
        <pc:sldMkLst>
          <pc:docMk/>
          <pc:sldMk cId="3937756192" sldId="1332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3" creationId="{1740D870-41F9-DA17-EBF7-1A4E9965869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31" creationId="{73EBF5FE-9179-47BE-4C8F-CD8149CCCA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1" creationId="{861C75C7-0DF2-A217-B61B-DE5B01EBD221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3" creationId="{0F29FF3A-6F9A-8114-419B-2E45D60656C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4" creationId="{4D05D929-6F1B-BADA-3998-C31CED19EA3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5" creationId="{63836119-B503-0EC3-8F5B-3654EDF26C97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47" creationId="{21DE59E3-D070-DF49-71D5-4C1860B899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37756192" sldId="1332"/>
            <ac:spMk id="51" creationId="{A787AD9B-4964-1DFB-334C-5701F643EA5A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739151963" sldId="133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39151963" sldId="1333"/>
            <ac:spMk id="2" creationId="{00D65863-7E69-7807-BC29-B98330F7722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739151963" sldId="1333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24.506" v="37" actId="20577"/>
        <pc:sldMkLst>
          <pc:docMk/>
          <pc:sldMk cId="1749591313" sldId="1334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3" creationId="{1C09EAC3-0CE7-E56D-B7FB-BCA5D8ACA48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9" creationId="{AD90588E-7AF0-627A-BA8B-0CB2C21F167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49591313" sldId="1334"/>
            <ac:spMk id="10" creationId="{E3BEB5B6-FC05-F4B7-0169-1A4EC8EB547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28.437" v="38" actId="207"/>
        <pc:sldMkLst>
          <pc:docMk/>
          <pc:sldMk cId="4152184762" sldId="133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3" creationId="{0F6C445F-B297-B308-B19D-03660A77315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7" creationId="{33BC5F87-9047-07A5-A0B6-6F4A4A15C04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4152184762" sldId="1335"/>
            <ac:spMk id="8" creationId="{D89A3895-F4F1-7E11-4CCB-249843E4C998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32.718" v="39" actId="207"/>
        <pc:sldMkLst>
          <pc:docMk/>
          <pc:sldMk cId="1276361503" sldId="133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3" creationId="{1882CFE2-1A80-23CB-EBCE-510AAED428C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9" creationId="{D0CAF789-397E-63F2-55FC-96072D2A3FF8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276361503" sldId="1336"/>
            <ac:spMk id="10" creationId="{D6D0770C-1759-D5BD-7C96-B89644BD47FE}"/>
          </ac:spMkLst>
        </pc:spChg>
      </pc:sldChg>
      <pc:sldChg chg="modSp mod modNotes">
        <pc:chgData name="Feist, Ella" userId="992bbaf2-811d-42cb-a4d6-e7fc45e325e8" providerId="ADAL" clId="{E649C882-C66E-4189-A342-98107057FB47}" dt="2025-05-30T13:00:44.928" v="41" actId="12"/>
        <pc:sldMkLst>
          <pc:docMk/>
          <pc:sldMk cId="3098065164" sldId="1337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3" creationId="{45AD4D5F-E7EE-7EE6-4EA1-9C159596EB05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4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98065164" sldId="1337"/>
            <ac:spMk id="8" creationId="{A20CF339-0875-083B-2DF0-3BB39A753DF8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563263001" sldId="133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563263001" sldId="1338"/>
            <ac:spMk id="2" creationId="{C4DC11D4-80D8-190F-7337-8117402B6B42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563263001" sldId="1338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02.360" v="46" actId="20577"/>
        <pc:sldMkLst>
          <pc:docMk/>
          <pc:sldMk cId="3053397788" sldId="1339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3" creationId="{1EE91687-474D-E29B-AF55-1BE8FC50E3DC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053397788" sldId="133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10.206" v="49" actId="14100"/>
        <pc:sldMkLst>
          <pc:docMk/>
          <pc:sldMk cId="2612574953" sldId="1340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3" creationId="{DAC4D0F9-9E19-4744-8CB6-9C62E48A6F2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612574953" sldId="1340"/>
            <ac:spMk id="7" creationId="{A3C90D67-E9A2-18F9-176D-A6D9DD5DEEC2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27.496" v="53" actId="12"/>
        <pc:sldMkLst>
          <pc:docMk/>
          <pc:sldMk cId="879863837" sldId="1341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3" creationId="{2DD0389B-C1FC-E5E0-7C4F-1CEB851566E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5" creationId="{91A8ED3D-B755-43C9-BCB1-DCF495C0C9DB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879863837" sldId="1341"/>
            <ac:spMk id="8" creationId="{A20CF339-0875-083B-2DF0-3BB39A753DF8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33.533" v="55" actId="20577"/>
        <pc:sldMkLst>
          <pc:docMk/>
          <pc:sldMk cId="1791970138" sldId="1342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2" creationId="{A9A6FF77-D641-4417-92E7-11CC6238BF2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3" creationId="{A77EFA22-9991-7C1F-DC5A-389A147AE74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4" creationId="{744B4EA1-27F0-0B74-B5C2-C6112D019B3A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91970138" sldId="1342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E649C882-C66E-4189-A342-98107057FB47}" dt="2025-05-30T13:01:58.698" v="68" actId="20577"/>
        <pc:sldMkLst>
          <pc:docMk/>
          <pc:sldMk cId="2286701262" sldId="1343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4" creationId="{86806C43-41BF-EB3B-8717-17607C2DC10F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59" creationId="{FB4B1D70-E293-9107-AAC9-EC5702781F2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72" creationId="{85BF3572-05D5-D638-1659-BA6817C6B41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1" creationId="{EF6D4DA8-F2E0-6D6D-FC01-567E23B203A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4" creationId="{66010318-D889-34A5-BD1A-D79FCE2B88D4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5" creationId="{9AA7DA1D-8CE4-C095-9DE8-897DE262F4B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86" creationId="{3754CDF9-D856-14CF-B6B1-638B4766DE7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93" creationId="{708791F9-6BE4-E83B-9A27-E032334FEEC0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96" creationId="{E25F9C61-36B1-F960-6A7A-58F61302DDD9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286701262" sldId="1343"/>
            <ac:spMk id="100" creationId="{7053BCD5-476D-9EB0-482E-DB3B3EDEA1E5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015197599" sldId="1344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2" creationId="{D7EC235F-614F-714E-A97F-4FF50EFF14F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4" creationId="{E9C5A723-C0B1-124B-8CB6-AA3105C9A4E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015197599" sldId="1344"/>
            <ac:spMk id="7" creationId="{6AACFB6C-7984-FF44-6BD7-ACC6C48E180E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1775256585" sldId="1345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2" creationId="{D7EC235F-614F-714E-A97F-4FF50EFF14FD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4" creationId="{E9C5A723-C0B1-124B-8CB6-AA3105C9A4E6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1775256585" sldId="1345"/>
            <ac:spMk id="5" creationId="{DEE2EF33-23A1-2676-9EBC-C05ABDEEA09C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2393783348" sldId="1346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2" creationId="{F111C5DB-635E-4576-A4C3-837B7E452E1E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3" creationId="{3B50A59D-D701-0A61-F252-8FA342EA57D7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2393783348" sldId="1346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E649C882-C66E-4189-A342-98107057FB47}" dt="2025-05-30T12:59:04.262" v="0" actId="790"/>
        <pc:sldMkLst>
          <pc:docMk/>
          <pc:sldMk cId="3992252699" sldId="1348"/>
        </pc:sldMkLst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92252699" sldId="1348"/>
            <ac:spMk id="5" creationId="{543CA3BA-D737-2AE6-FB0A-8FC4F9E15603}"/>
          </ac:spMkLst>
        </pc:spChg>
        <pc:spChg chg="mod">
          <ac:chgData name="Feist, Ella" userId="992bbaf2-811d-42cb-a4d6-e7fc45e325e8" providerId="ADAL" clId="{E649C882-C66E-4189-A342-98107057FB47}" dt="2025-05-30T12:59:04.262" v="0" actId="790"/>
          <ac:spMkLst>
            <pc:docMk/>
            <pc:sldMk cId="3992252699" sldId="1348"/>
            <ac:spMk id="6" creationId="{A56A5615-34FC-854E-08B5-6AD18C2A04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30/05/2025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104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9019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343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shell normally executes a command and waits for the command to complete before prompting for a  new one, this is called synchronous execution.</a:t>
            </a:r>
          </a:p>
          <a:p>
            <a:r>
              <a:rPr lang="en-GB" noProof="0" dirty="0"/>
              <a:t>These can be stopped using a ^z.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1731605-2EC6-BF88-A48F-C07C71072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266458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889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use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 ampersand </a:t>
            </a:r>
            <a:r>
              <a:rPr lang="en-GB" sz="1200" spc="-10" noProof="0" dirty="0">
                <a:latin typeface="+mn-lt"/>
                <a:cs typeface="Segoe UI"/>
              </a:rPr>
              <a:t>(&amp;)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25" noProof="0" dirty="0">
                <a:latin typeface="+mn-lt"/>
                <a:cs typeface="Segoe UI"/>
              </a:rPr>
              <a:t>terminator tells </a:t>
            </a:r>
            <a:r>
              <a:rPr lang="en-GB" sz="1200" spc="-20" noProof="0" dirty="0">
                <a:latin typeface="+mn-lt"/>
                <a:cs typeface="Segoe UI"/>
              </a:rPr>
              <a:t>the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20" noProof="0" dirty="0">
                <a:latin typeface="+mn-lt"/>
                <a:cs typeface="Segoe UI"/>
              </a:rPr>
              <a:t>the command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i.e.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don't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wait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complete, this is called asynchronous execution.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After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starting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!.</a:t>
            </a:r>
            <a:endParaRPr lang="en-GB" sz="1200" spc="215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Subsequent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overwrite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pc="-20" dirty="0">
                <a:cs typeface="Segoe UI"/>
              </a:rPr>
              <a:t> 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z="1200" spc="-7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!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last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executed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background.</a:t>
            </a:r>
          </a:p>
          <a:p>
            <a:pPr marL="12700" marR="36322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ignore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interrupt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key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(DEL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^C) 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only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terminated</a:t>
            </a:r>
            <a:r>
              <a:rPr lang="en-GB" sz="1200" spc="-20" noProof="0" dirty="0">
                <a:latin typeface="+mn-lt"/>
                <a:cs typeface="Segoe UI"/>
              </a:rPr>
              <a:t> 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812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Logging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off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prompt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reminding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9747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running,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I/O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keyboard.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suspended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(stopped)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try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read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keyboard, like vi.</a:t>
            </a:r>
            <a:endParaRPr lang="en-GB" sz="1200" spc="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appears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normal;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disrupt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output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</a:t>
            </a:r>
            <a:r>
              <a:rPr lang="en-GB" sz="1200" spc="-1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(including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terminal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suspend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attempt</a:t>
            </a:r>
            <a:r>
              <a:rPr lang="en-GB" sz="1200" spc="-15" noProof="0" dirty="0">
                <a:latin typeface="+mn-lt"/>
                <a:cs typeface="Segoe UI"/>
              </a:rPr>
              <a:t> 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screen.</a:t>
            </a:r>
          </a:p>
          <a:p>
            <a:pPr marL="12700" marR="12700">
              <a:lnSpc>
                <a:spcPct val="100000"/>
              </a:lnSpc>
              <a:spcBef>
                <a:spcPts val="600"/>
              </a:spcBef>
            </a:pP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stty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tostop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includes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job-control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queue.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assigned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(PID).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5367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task.</a:t>
            </a:r>
            <a:endParaRPr lang="en-GB" sz="1200" spc="-35" noProof="0" dirty="0">
              <a:latin typeface="+mn-lt"/>
              <a:cs typeface="Segoe UI"/>
            </a:endParaRPr>
          </a:p>
          <a:p>
            <a:pPr marL="12700" marR="15367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signal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omitted,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assume</a:t>
            </a:r>
            <a:r>
              <a:rPr lang="en-GB" sz="1200" spc="2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-TERM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default.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330882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sent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mode,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stay</a:t>
            </a:r>
            <a:r>
              <a:rPr lang="en-GB" sz="1200" spc="-15" noProof="0" dirty="0">
                <a:latin typeface="+mn-lt"/>
                <a:cs typeface="Segoe UI"/>
              </a:rPr>
              <a:t> there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until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do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something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spc="-30" noProof="0" dirty="0">
                <a:latin typeface="+mn-lt"/>
                <a:cs typeface="Segoe UI"/>
              </a:rPr>
              <a:t>l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30" noProof="0" dirty="0">
                <a:latin typeface="+mn-lt"/>
                <a:cs typeface="Segoe UI"/>
              </a:rPr>
              <a:t> twi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e)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only.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Trying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going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en-GB" sz="1200" spc="-30" noProof="0" dirty="0">
                <a:latin typeface="+mn-lt"/>
                <a:cs typeface="Segoe UI"/>
              </a:rPr>
              <a:t>t</a:t>
            </a:r>
            <a:r>
              <a:rPr lang="en-GB" sz="1200" noProof="0" dirty="0">
                <a:latin typeface="+mn-lt"/>
                <a:cs typeface="Segoe UI"/>
              </a:rPr>
              <a:t>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w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5" noProof="0" dirty="0">
                <a:latin typeface="+mn-lt"/>
                <a:cs typeface="Segoe UI"/>
              </a:rPr>
              <a:t>k</a:t>
            </a:r>
            <a:r>
              <a:rPr lang="en-GB" sz="1200" spc="5" noProof="0" dirty="0">
                <a:latin typeface="+mn-lt"/>
                <a:cs typeface="Segoe UI"/>
              </a:rPr>
              <a:t>…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Y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ca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</a:t>
            </a:r>
            <a:r>
              <a:rPr lang="en-GB" sz="1200" noProof="0" dirty="0">
                <a:latin typeface="+mn-lt"/>
                <a:cs typeface="Segoe UI"/>
              </a:rPr>
              <a:t>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20" noProof="0" dirty="0">
                <a:latin typeface="+mn-lt"/>
                <a:cs typeface="Segoe UI"/>
              </a:rPr>
              <a:t>ou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s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noProof="0" dirty="0">
                <a:latin typeface="+mn-lt"/>
                <a:cs typeface="Segoe UI"/>
              </a:rPr>
              <a:t>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k</a:t>
            </a:r>
            <a:r>
              <a:rPr lang="en-GB" sz="1200" spc="-30" noProof="0" dirty="0">
                <a:latin typeface="+mn-lt"/>
                <a:cs typeface="Segoe UI"/>
              </a:rPr>
              <a:t>il</a:t>
            </a:r>
            <a:r>
              <a:rPr lang="en-GB" sz="1200" noProof="0" dirty="0">
                <a:latin typeface="+mn-lt"/>
                <a:cs typeface="Segoe UI"/>
              </a:rPr>
              <a:t>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noProof="0" dirty="0">
                <a:latin typeface="+mn-lt"/>
                <a:cs typeface="Segoe UI"/>
              </a:rPr>
              <a:t>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a</a:t>
            </a:r>
            <a:r>
              <a:rPr lang="en-GB" sz="1200" noProof="0" dirty="0">
                <a:latin typeface="+mn-lt"/>
                <a:cs typeface="Segoe UI"/>
              </a:rPr>
              <a:t>s</a:t>
            </a:r>
            <a:r>
              <a:rPr lang="en-GB" sz="1200" spc="-30" noProof="0" dirty="0">
                <a:latin typeface="+mn-lt"/>
                <a:cs typeface="Segoe UI"/>
              </a:rPr>
              <a:t> w</a:t>
            </a:r>
            <a:r>
              <a:rPr lang="en-GB" sz="1200" spc="-25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ll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non-interactive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foreground,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killed.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restart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tasks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remember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redirect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</a:t>
            </a:r>
            <a:r>
              <a:rPr lang="en-GB" sz="1200" spc="-20" noProof="0" dirty="0">
                <a:latin typeface="+mn-lt"/>
                <a:cs typeface="Segoe UI"/>
              </a:rPr>
              <a:t>outputs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/dev/null!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013907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Using Linux </a:t>
            </a:r>
            <a:r>
              <a:rPr lang="en-GB" sz="1200" spc="-20" noProof="0" dirty="0">
                <a:latin typeface="+mn-lt"/>
                <a:cs typeface="Segoe UI"/>
              </a:rPr>
              <a:t>often involves </a:t>
            </a:r>
            <a:r>
              <a:rPr lang="en-GB" sz="1200" spc="-15" noProof="0" dirty="0">
                <a:latin typeface="+mn-lt"/>
                <a:cs typeface="Segoe UI"/>
              </a:rPr>
              <a:t>running </a:t>
            </a:r>
            <a:r>
              <a:rPr lang="en-GB" sz="1200" spc="-20" noProof="0" dirty="0">
                <a:latin typeface="+mn-lt"/>
                <a:cs typeface="Segoe UI"/>
              </a:rPr>
              <a:t>commands that take time.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long print job </a:t>
            </a:r>
            <a:r>
              <a:rPr lang="en-GB" sz="1200" spc="-20" noProof="0" dirty="0">
                <a:latin typeface="+mn-lt"/>
                <a:cs typeface="Segoe UI"/>
              </a:rPr>
              <a:t>might </a:t>
            </a:r>
            <a:r>
              <a:rPr lang="en-GB" sz="1200" spc="-10" noProof="0" dirty="0">
                <a:latin typeface="+mn-lt"/>
                <a:cs typeface="Segoe UI"/>
              </a:rPr>
              <a:t>be one </a:t>
            </a:r>
            <a:r>
              <a:rPr lang="en-GB" sz="1200" spc="-25" noProof="0" dirty="0">
                <a:latin typeface="+mn-lt"/>
                <a:cs typeface="Segoe UI"/>
              </a:rPr>
              <a:t>example.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want/need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go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compromise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security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 just </a:t>
            </a:r>
            <a:r>
              <a:rPr lang="en-GB" sz="1200" spc="-20" noProof="0" dirty="0">
                <a:latin typeface="+mn-lt"/>
                <a:cs typeface="Segoe UI"/>
              </a:rPr>
              <a:t>left </a:t>
            </a:r>
            <a:r>
              <a:rPr lang="en-GB" sz="1200" spc="-15" noProof="0" dirty="0">
                <a:latin typeface="+mn-lt"/>
                <a:cs typeface="Segoe UI"/>
              </a:rPr>
              <a:t>it running.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By the </a:t>
            </a:r>
            <a:r>
              <a:rPr lang="en-GB" sz="1200" spc="-20" noProof="0" dirty="0">
                <a:latin typeface="+mn-lt"/>
                <a:cs typeface="Segoe UI"/>
              </a:rPr>
              <a:t>time </a:t>
            </a:r>
            <a:r>
              <a:rPr lang="en-GB" sz="1200" spc="-15" noProof="0" dirty="0">
                <a:latin typeface="+mn-lt"/>
                <a:cs typeface="Segoe UI"/>
              </a:rPr>
              <a:t>you get in the </a:t>
            </a:r>
            <a:r>
              <a:rPr lang="en-GB" sz="1200" spc="-25" noProof="0" dirty="0">
                <a:latin typeface="+mn-lt"/>
                <a:cs typeface="Segoe UI"/>
              </a:rPr>
              <a:t>office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following </a:t>
            </a:r>
            <a:r>
              <a:rPr lang="en-GB" sz="1200" spc="-20" noProof="0" dirty="0">
                <a:latin typeface="+mn-lt"/>
                <a:cs typeface="Segoe UI"/>
              </a:rPr>
              <a:t>day,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account may have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compromised.</a:t>
            </a:r>
          </a:p>
          <a:p>
            <a:pPr marL="12700" marR="17081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where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nohup</a:t>
            </a:r>
            <a:r>
              <a:rPr lang="en-GB" sz="1200" spc="-15" noProof="0" dirty="0">
                <a:latin typeface="+mn-lt"/>
                <a:cs typeface="Segoe UI"/>
              </a:rPr>
              <a:t>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combined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execution </a:t>
            </a:r>
            <a:r>
              <a:rPr lang="en-GB" sz="1200" spc="-20" noProof="0" dirty="0">
                <a:latin typeface="+mn-lt"/>
                <a:cs typeface="Segoe UI"/>
              </a:rPr>
              <a:t>mechanism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step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in.</a:t>
            </a:r>
            <a:endParaRPr lang="en-GB" sz="1200" spc="-60" noProof="0" dirty="0">
              <a:latin typeface="+mn-lt"/>
              <a:cs typeface="Segoe UI"/>
            </a:endParaRPr>
          </a:p>
          <a:p>
            <a:pPr marL="12700" marR="17081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Submit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5" noProof="0" dirty="0" err="1">
                <a:latin typeface="+mn-lt"/>
                <a:cs typeface="Segoe UI"/>
              </a:rPr>
              <a:t>nohup</a:t>
            </a:r>
            <a:r>
              <a:rPr lang="en-GB" sz="1200" spc="-15" noProof="0" dirty="0">
                <a:latin typeface="+mn-lt"/>
                <a:cs typeface="Segoe UI"/>
              </a:rPr>
              <a:t>, and you </a:t>
            </a:r>
            <a:r>
              <a:rPr lang="en-GB" sz="1200" spc="-20" noProof="0" dirty="0">
                <a:latin typeface="+mn-lt"/>
                <a:cs typeface="Segoe UI"/>
              </a:rPr>
              <a:t>can safely </a:t>
            </a:r>
            <a:r>
              <a:rPr lang="en-GB" sz="1200" spc="-15" noProof="0" dirty="0">
                <a:latin typeface="+mn-lt"/>
                <a:cs typeface="Segoe UI"/>
              </a:rPr>
              <a:t>log out, </a:t>
            </a:r>
            <a:r>
              <a:rPr lang="en-GB" sz="1200" spc="-20" noProof="0" dirty="0">
                <a:latin typeface="+mn-lt"/>
                <a:cs typeface="Segoe UI"/>
              </a:rPr>
              <a:t>knowing that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background </a:t>
            </a:r>
            <a:r>
              <a:rPr lang="en-GB" sz="1200" spc="-15" noProof="0" dirty="0">
                <a:latin typeface="+mn-lt"/>
                <a:cs typeface="Segoe UI"/>
              </a:rPr>
              <a:t>job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continue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completion.</a:t>
            </a:r>
          </a:p>
          <a:p>
            <a:pPr marL="12700" marR="170815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After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‘</a:t>
            </a:r>
            <a:r>
              <a:rPr lang="en-GB" sz="1200" spc="-15" noProof="0" dirty="0" err="1">
                <a:latin typeface="+mn-lt"/>
                <a:cs typeface="Segoe UI"/>
              </a:rPr>
              <a:t>nohuped</a:t>
            </a:r>
            <a:r>
              <a:rPr lang="en-GB" sz="1200" spc="-15" noProof="0" dirty="0">
                <a:latin typeface="+mn-lt"/>
                <a:cs typeface="Segoe UI"/>
              </a:rPr>
              <a:t>’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attached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original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Beware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implementation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differences.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BASH,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background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25" noProof="0" dirty="0">
                <a:latin typeface="+mn-lt"/>
                <a:cs typeface="Segoe UI"/>
              </a:rPr>
              <a:t>automatically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“</a:t>
            </a:r>
            <a:r>
              <a:rPr lang="en-GB" sz="1200" spc="-15" noProof="0" dirty="0" err="1">
                <a:latin typeface="+mn-lt"/>
                <a:cs typeface="Segoe UI"/>
              </a:rPr>
              <a:t>nohuped</a:t>
            </a:r>
            <a:r>
              <a:rPr lang="en-GB" sz="1200" spc="-15" noProof="0" dirty="0">
                <a:latin typeface="+mn-lt"/>
                <a:cs typeface="Segoe UI"/>
              </a:rPr>
              <a:t>”.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3269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439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038600"/>
          </a:xfrm>
        </p:spPr>
        <p:txBody>
          <a:bodyPr/>
          <a:lstStyle/>
          <a:p>
            <a:pPr marL="12700" marR="7683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at </a:t>
            </a:r>
            <a:r>
              <a:rPr lang="en-GB" sz="1200" spc="-20" noProof="0" dirty="0">
                <a:latin typeface="+mn-lt"/>
                <a:cs typeface="Segoe UI"/>
              </a:rPr>
              <a:t>command reads commands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0" noProof="0" dirty="0">
                <a:latin typeface="+mn-lt"/>
                <a:cs typeface="Segoe UI"/>
              </a:rPr>
              <a:t>standard </a:t>
            </a:r>
            <a:r>
              <a:rPr lang="en-GB" sz="1200" spc="-15" noProof="0" dirty="0">
                <a:latin typeface="+mn-lt"/>
                <a:cs typeface="Segoe UI"/>
              </a:rPr>
              <a:t>input and then </a:t>
            </a:r>
            <a:r>
              <a:rPr lang="en-GB" sz="1200" spc="-25" noProof="0" dirty="0">
                <a:latin typeface="+mn-lt"/>
                <a:cs typeface="Segoe UI"/>
              </a:rPr>
              <a:t>executes </a:t>
            </a:r>
            <a:r>
              <a:rPr lang="en-GB" sz="1200" spc="-20" noProof="0" dirty="0">
                <a:latin typeface="+mn-lt"/>
                <a:cs typeface="Segoe UI"/>
              </a:rPr>
              <a:t>these commands </a:t>
            </a:r>
            <a:r>
              <a:rPr lang="en-GB" sz="1200" spc="-15" noProof="0" dirty="0">
                <a:latin typeface="+mn-lt"/>
                <a:cs typeface="Segoe UI"/>
              </a:rPr>
              <a:t>at some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future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time.</a:t>
            </a:r>
          </a:p>
          <a:p>
            <a:pPr marL="12700" marR="7683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absolute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day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5" noProof="0" dirty="0">
                <a:latin typeface="+mn-lt"/>
                <a:cs typeface="Segoe UI"/>
              </a:rPr>
              <a:t>be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relative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certain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time,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using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increment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field.</a:t>
            </a:r>
          </a:p>
          <a:p>
            <a:pPr marL="12700" marR="76835">
              <a:lnSpc>
                <a:spcPct val="100000"/>
              </a:lnSpc>
              <a:spcBef>
                <a:spcPts val="105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day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week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11454">
              <a:lnSpc>
                <a:spcPct val="100000"/>
              </a:lnSpc>
              <a:spcBef>
                <a:spcPts val="605"/>
              </a:spcBef>
            </a:pPr>
            <a:r>
              <a:rPr lang="en-GB" sz="1200" spc="-20" noProof="0" dirty="0">
                <a:latin typeface="+mn-lt"/>
                <a:cs typeface="Segoe UI"/>
              </a:rPr>
              <a:t>Consult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/</a:t>
            </a:r>
            <a:r>
              <a:rPr lang="en-GB" sz="1200" spc="-25" noProof="0" dirty="0" err="1">
                <a:latin typeface="+mn-lt"/>
                <a:cs typeface="Segoe UI"/>
              </a:rPr>
              <a:t>usr</a:t>
            </a:r>
            <a:r>
              <a:rPr lang="en-GB" sz="1200" spc="-25" noProof="0" dirty="0">
                <a:latin typeface="+mn-lt"/>
                <a:cs typeface="Segoe UI"/>
              </a:rPr>
              <a:t>/share/doc/packages/at/</a:t>
            </a:r>
            <a:r>
              <a:rPr lang="en-GB" sz="1200" spc="-25" noProof="0" dirty="0" err="1">
                <a:latin typeface="+mn-lt"/>
                <a:cs typeface="Segoe UI"/>
              </a:rPr>
              <a:t>timespec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15" noProof="0" dirty="0">
                <a:latin typeface="+mn-lt"/>
                <a:cs typeface="Segoe UI"/>
              </a:rPr>
              <a:t>for the </a:t>
            </a:r>
            <a:r>
              <a:rPr lang="en-GB" sz="1200" spc="-20" noProof="0" dirty="0">
                <a:latin typeface="+mn-lt"/>
                <a:cs typeface="Segoe UI"/>
              </a:rPr>
              <a:t>complete list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various time </a:t>
            </a:r>
            <a:r>
              <a:rPr lang="en-GB" sz="1200" spc="-25" noProof="0" dirty="0">
                <a:latin typeface="+mn-lt"/>
                <a:cs typeface="Segoe UI"/>
              </a:rPr>
              <a:t>specification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methods.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381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commands </a:t>
            </a:r>
            <a:r>
              <a:rPr lang="en-GB" sz="1200" spc="-15" noProof="0" dirty="0">
                <a:latin typeface="+mn-lt"/>
                <a:cs typeface="Segoe UI"/>
              </a:rPr>
              <a:t>are held in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batch </a:t>
            </a:r>
            <a:r>
              <a:rPr lang="en-GB" sz="1200" spc="-15" noProof="0" dirty="0">
                <a:latin typeface="+mn-lt"/>
                <a:cs typeface="Segoe UI"/>
              </a:rPr>
              <a:t>queue and are </a:t>
            </a:r>
            <a:r>
              <a:rPr lang="en-GB" sz="1200" spc="-25" noProof="0" dirty="0">
                <a:latin typeface="+mn-lt"/>
                <a:cs typeface="Segoe UI"/>
              </a:rPr>
              <a:t>executed </a:t>
            </a:r>
            <a:r>
              <a:rPr lang="en-GB" sz="1200" spc="-15" noProof="0" dirty="0">
                <a:latin typeface="+mn-lt"/>
                <a:cs typeface="Segoe UI"/>
              </a:rPr>
              <a:t>at the </a:t>
            </a:r>
            <a:r>
              <a:rPr lang="en-GB" sz="1200" spc="-20" noProof="0" dirty="0">
                <a:latin typeface="+mn-lt"/>
                <a:cs typeface="Segoe UI"/>
              </a:rPr>
              <a:t>appropriate juncture.</a:t>
            </a:r>
          </a:p>
          <a:p>
            <a:pPr marL="12700" marR="4381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Standard </a:t>
            </a:r>
            <a:r>
              <a:rPr lang="en-GB" sz="1200" spc="-15" noProof="0" dirty="0">
                <a:latin typeface="+mn-lt"/>
                <a:cs typeface="Segoe UI"/>
              </a:rPr>
              <a:t>output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mailed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73685">
              <a:lnSpc>
                <a:spcPct val="100000"/>
              </a:lnSpc>
              <a:spcBef>
                <a:spcPts val="600"/>
              </a:spcBef>
            </a:pP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simpler form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called </a:t>
            </a:r>
            <a:r>
              <a:rPr lang="en-GB" sz="1200" spc="-20" noProof="0" dirty="0">
                <a:latin typeface="+mn-lt"/>
                <a:cs typeface="Segoe UI"/>
              </a:rPr>
              <a:t>batch,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loading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permits.</a:t>
            </a:r>
            <a:endParaRPr lang="en-GB" sz="1200" spc="170" noProof="0" dirty="0">
              <a:latin typeface="+mn-lt"/>
              <a:cs typeface="Segoe UI"/>
            </a:endParaRPr>
          </a:p>
          <a:p>
            <a:pPr marL="12700" marR="273685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Usually,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almost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immediately.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historical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UNIX,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at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batch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were</a:t>
            </a:r>
            <a:r>
              <a:rPr lang="en-GB" sz="1200" spc="-25" noProof="0" dirty="0">
                <a:latin typeface="+mn-lt"/>
                <a:cs typeface="Segoe UI"/>
              </a:rPr>
              <a:t> executed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main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timekeeper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-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5" noProof="0" dirty="0">
                <a:latin typeface="+mn-lt"/>
                <a:cs typeface="Segoe UI"/>
              </a:rPr>
              <a:t>On </a:t>
            </a:r>
            <a:r>
              <a:rPr lang="en-GB" sz="1200" spc="-20" noProof="0" dirty="0">
                <a:latin typeface="+mn-lt"/>
                <a:cs typeface="Segoe UI"/>
              </a:rPr>
              <a:t>Linux,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separate daemon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now </a:t>
            </a:r>
            <a:r>
              <a:rPr lang="en-GB" sz="1200" spc="-25" noProof="0" dirty="0">
                <a:latin typeface="+mn-lt"/>
                <a:cs typeface="Segoe UI"/>
              </a:rPr>
              <a:t>available, dedicated </a:t>
            </a:r>
            <a:r>
              <a:rPr lang="en-GB" sz="1200" spc="-15" noProof="0" dirty="0">
                <a:latin typeface="+mn-lt"/>
                <a:cs typeface="Segoe UI"/>
              </a:rPr>
              <a:t>to the at and </a:t>
            </a:r>
            <a:r>
              <a:rPr lang="en-GB" sz="1200" spc="-25" noProof="0" dirty="0">
                <a:latin typeface="+mn-lt"/>
                <a:cs typeface="Segoe UI"/>
              </a:rPr>
              <a:t>batch </a:t>
            </a:r>
            <a:r>
              <a:rPr lang="en-GB" sz="1200" spc="-20" noProof="0" dirty="0">
                <a:latin typeface="+mn-lt"/>
                <a:cs typeface="Segoe UI"/>
              </a:rPr>
              <a:t>programs alone.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99997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traditional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deleting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-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5" noProof="0" dirty="0">
                <a:latin typeface="+mn-lt"/>
                <a:cs typeface="Segoe UI"/>
              </a:rPr>
              <a:t>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v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q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j</a:t>
            </a:r>
            <a:r>
              <a:rPr lang="en-GB" sz="1200" spc="-15" noProof="0" dirty="0">
                <a:latin typeface="+mn-lt"/>
                <a:cs typeface="Segoe UI"/>
              </a:rPr>
              <a:t>ob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legacy</a:t>
            </a:r>
            <a:r>
              <a:rPr lang="en-GB" sz="1200" spc="-20" noProof="0" dirty="0">
                <a:latin typeface="+mn-lt"/>
                <a:cs typeface="Segoe UI"/>
              </a:rPr>
              <a:t> version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command: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 err="1">
                <a:latin typeface="+mn-lt"/>
                <a:cs typeface="Segoe UI"/>
              </a:rPr>
              <a:t>atq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listing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77825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traditional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way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deleting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numbers,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-</a:t>
            </a:r>
            <a:r>
              <a:rPr lang="en-GB" sz="1200" noProof="0" dirty="0">
                <a:latin typeface="+mn-lt"/>
                <a:cs typeface="Segoe UI"/>
              </a:rPr>
              <a:t>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5" noProof="0" dirty="0">
                <a:latin typeface="+mn-lt"/>
                <a:cs typeface="Segoe UI"/>
              </a:rPr>
              <a:t>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5" noProof="0" dirty="0">
                <a:latin typeface="+mn-lt"/>
                <a:cs typeface="Segoe UI"/>
              </a:rPr>
              <a:t>o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30" noProof="0" dirty="0">
                <a:latin typeface="+mn-lt"/>
                <a:cs typeface="Segoe UI"/>
              </a:rPr>
              <a:t>m</a:t>
            </a:r>
            <a:r>
              <a:rPr lang="en-GB" sz="1200" spc="-15" noProof="0" dirty="0">
                <a:latin typeface="+mn-lt"/>
                <a:cs typeface="Segoe UI"/>
              </a:rPr>
              <a:t>o</a:t>
            </a:r>
            <a:r>
              <a:rPr lang="en-GB" sz="1200" spc="-25" noProof="0" dirty="0">
                <a:latin typeface="+mn-lt"/>
                <a:cs typeface="Segoe UI"/>
              </a:rPr>
              <a:t>v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t</a:t>
            </a:r>
            <a:r>
              <a:rPr lang="en-GB" sz="1200" spc="-20" noProof="0" dirty="0">
                <a:latin typeface="+mn-lt"/>
                <a:cs typeface="Segoe UI"/>
              </a:rPr>
              <a:t>h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-15" noProof="0" dirty="0">
                <a:latin typeface="+mn-lt"/>
                <a:cs typeface="Segoe UI"/>
              </a:rPr>
              <a:t>q</a:t>
            </a:r>
            <a:r>
              <a:rPr lang="en-GB" sz="1200" spc="-20" noProof="0" dirty="0">
                <a:latin typeface="+mn-lt"/>
                <a:cs typeface="Segoe UI"/>
              </a:rPr>
              <a:t>u</a:t>
            </a:r>
            <a:r>
              <a:rPr lang="en-GB" sz="1200" spc="-30" noProof="0" dirty="0">
                <a:latin typeface="+mn-lt"/>
                <a:cs typeface="Segoe UI"/>
              </a:rPr>
              <a:t>i</a:t>
            </a:r>
            <a:r>
              <a:rPr lang="en-GB" sz="1200" spc="-15" noProof="0" dirty="0">
                <a:latin typeface="+mn-lt"/>
                <a:cs typeface="Segoe UI"/>
              </a:rPr>
              <a:t>r</a:t>
            </a:r>
            <a:r>
              <a:rPr lang="en-GB" sz="1200" spc="-20" noProof="0" dirty="0">
                <a:latin typeface="+mn-lt"/>
                <a:cs typeface="Segoe UI"/>
              </a:rPr>
              <a:t>e</a:t>
            </a:r>
            <a:r>
              <a:rPr lang="en-GB" sz="1200" spc="5" noProof="0" dirty="0">
                <a:latin typeface="+mn-lt"/>
                <a:cs typeface="Segoe UI"/>
              </a:rPr>
              <a:t>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j</a:t>
            </a:r>
            <a:r>
              <a:rPr lang="en-GB" sz="1200" spc="-15" noProof="0" dirty="0">
                <a:latin typeface="+mn-lt"/>
                <a:cs typeface="Segoe UI"/>
              </a:rPr>
              <a:t>ob</a:t>
            </a:r>
            <a:r>
              <a:rPr lang="en-GB" sz="1200" spc="-25" noProof="0" dirty="0">
                <a:latin typeface="+mn-lt"/>
                <a:cs typeface="Segoe UI"/>
              </a:rPr>
              <a:t>s</a:t>
            </a:r>
            <a:r>
              <a:rPr lang="en-GB" sz="1200" noProof="0" dirty="0">
                <a:latin typeface="+mn-lt"/>
                <a:cs typeface="Segoe UI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 </a:t>
            </a:r>
            <a:r>
              <a:rPr lang="en-GB" sz="1200" spc="-15" noProof="0" dirty="0">
                <a:latin typeface="+mn-lt"/>
                <a:cs typeface="Segoe UI"/>
              </a:rPr>
              <a:t>supports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legacy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version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command: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atrm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removing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6413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Unless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stdout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outgoing</a:t>
            </a:r>
            <a:r>
              <a:rPr lang="en-GB" sz="1200" spc="-10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mailed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you.</a:t>
            </a:r>
          </a:p>
          <a:p>
            <a:pPr marL="12700" marR="6413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case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mailing </a:t>
            </a:r>
            <a:r>
              <a:rPr lang="en-GB" sz="1200" spc="-20" noProof="0" dirty="0">
                <a:latin typeface="+mn-lt"/>
                <a:cs typeface="Segoe UI"/>
              </a:rPr>
              <a:t>system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fully setup,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may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15" noProof="0" dirty="0">
                <a:latin typeface="+mn-lt"/>
                <a:cs typeface="Segoe UI"/>
              </a:rPr>
              <a:t>good idea to </a:t>
            </a:r>
            <a:r>
              <a:rPr lang="en-GB" sz="1200" spc="-20" noProof="0" dirty="0">
                <a:latin typeface="+mn-lt"/>
                <a:cs typeface="Segoe UI"/>
              </a:rPr>
              <a:t>remain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control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outputs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saving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choice.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888137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at/batch system uses control files to determine who can use the at and batch facilities.</a:t>
            </a:r>
          </a:p>
          <a:p>
            <a:r>
              <a:rPr lang="en-GB" noProof="0" dirty="0"/>
              <a:t>There is an allow and a deny file.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allow file exists, only users listed in this file have access to the relevant utility; the deny file is not used.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noProof="0" dirty="0"/>
              <a:t> If the allow file does not exist, the deny file is checked for users not allowed to use the utility.  An empty deny file permits all users access to the utility.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deny file does not exist, only root can use the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548901C6-1DA1-FB44-ABEE-06A0FEB7738E}" type="slidenum">
              <a:rPr lang="en-GB" noProof="0" smtClean="0"/>
              <a:pPr lvl="0"/>
              <a:t>13</a:t>
            </a:fld>
            <a:endParaRPr lang="en-GB" noProof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9CB99345-D113-1CC4-5C89-DDF95DF90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28631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767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952875"/>
          </a:xfrm>
        </p:spPr>
        <p:txBody>
          <a:bodyPr/>
          <a:lstStyle/>
          <a:p>
            <a:pPr marL="12700" marR="6350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facility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schedule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repeated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execution.</a:t>
            </a:r>
            <a:endParaRPr lang="en-GB" sz="1200" spc="-30" noProof="0" dirty="0">
              <a:latin typeface="+mn-lt"/>
              <a:cs typeface="Segoe UI"/>
            </a:endParaRPr>
          </a:p>
          <a:p>
            <a:pPr marL="12700" marR="138430" algn="just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controlled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daemon,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checks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configuration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minute.</a:t>
            </a:r>
            <a:r>
              <a:rPr lang="en-GB" spc="-65" dirty="0"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means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2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Linux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jobs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scheduled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1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resolution.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37528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facility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ability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executing </a:t>
            </a:r>
            <a:r>
              <a:rPr lang="en-GB" sz="1200" spc="-20" noProof="0" dirty="0">
                <a:latin typeface="+mn-lt"/>
                <a:cs typeface="Segoe UI"/>
              </a:rPr>
              <a:t>tasks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behalf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long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has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authorized.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40640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Notice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term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generic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30" noProof="0" dirty="0">
                <a:latin typeface="+mn-lt"/>
                <a:cs typeface="Segoe UI"/>
              </a:rPr>
              <a:t>facility.</a:t>
            </a:r>
          </a:p>
          <a:p>
            <a:pPr marL="12700" marR="406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0" noProof="0" dirty="0">
                <a:latin typeface="+mn-lt"/>
                <a:cs typeface="Segoe UI"/>
              </a:rPr>
              <a:t> enter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15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however,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get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on-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help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crond</a:t>
            </a:r>
            <a:r>
              <a:rPr lang="en-GB" sz="1200" spc="-15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 authorised </a:t>
            </a:r>
            <a:r>
              <a:rPr lang="en-GB" sz="1200" spc="-15" noProof="0" dirty="0">
                <a:latin typeface="+mn-lt"/>
                <a:cs typeface="Segoe UI"/>
              </a:rPr>
              <a:t>user </a:t>
            </a:r>
            <a:r>
              <a:rPr lang="en-GB" sz="1200" spc="-25" noProof="0" dirty="0">
                <a:latin typeface="+mn-lt"/>
                <a:cs typeface="Segoe UI"/>
              </a:rPr>
              <a:t>will </a:t>
            </a:r>
            <a:r>
              <a:rPr lang="en-GB" sz="1200" spc="-20" noProof="0" dirty="0">
                <a:latin typeface="+mn-lt"/>
                <a:cs typeface="Segoe UI"/>
              </a:rPr>
              <a:t>have their </a:t>
            </a:r>
            <a:r>
              <a:rPr lang="en-GB" sz="1200" spc="-15" noProof="0" dirty="0">
                <a:latin typeface="+mn-lt"/>
                <a:cs typeface="Segoe UI"/>
              </a:rPr>
              <a:t>own, </a:t>
            </a:r>
            <a:r>
              <a:rPr lang="en-GB" sz="1200" spc="-20" noProof="0" dirty="0">
                <a:latin typeface="+mn-lt"/>
                <a:cs typeface="Segoe UI"/>
              </a:rPr>
              <a:t>personal </a:t>
            </a:r>
            <a:r>
              <a:rPr lang="en-GB" sz="1200" spc="-15" noProof="0" dirty="0" err="1">
                <a:latin typeface="+mn-lt"/>
                <a:cs typeface="Segoe UI"/>
              </a:rPr>
              <a:t>cron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table, </a:t>
            </a:r>
            <a:r>
              <a:rPr lang="en-GB" sz="1200" spc="-20" noProof="0" dirty="0">
                <a:latin typeface="+mn-lt"/>
                <a:cs typeface="Segoe UI"/>
              </a:rPr>
              <a:t>referred </a:t>
            </a:r>
            <a:r>
              <a:rPr lang="en-GB" sz="1200" spc="-15" noProof="0" dirty="0">
                <a:latin typeface="+mn-lt"/>
                <a:cs typeface="Segoe UI"/>
              </a:rPr>
              <a:t>to as </a:t>
            </a:r>
            <a:r>
              <a:rPr lang="en-GB" sz="1200" spc="-20" noProof="0" dirty="0">
                <a:latin typeface="+mn-lt"/>
                <a:cs typeface="Segoe UI"/>
              </a:rPr>
              <a:t>crontab.</a:t>
            </a: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Users </a:t>
            </a:r>
            <a:r>
              <a:rPr lang="en-GB" sz="1200" spc="-20" noProof="0" dirty="0">
                <a:latin typeface="+mn-lt"/>
                <a:cs typeface="Segoe UI"/>
              </a:rPr>
              <a:t>edit their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-e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automatically</a:t>
            </a:r>
            <a:r>
              <a:rPr lang="en-GB" sz="1200" spc="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invokes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vi,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editor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hardwired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crontab’s code.</a:t>
            </a:r>
          </a:p>
          <a:p>
            <a:pPr marL="12700" marR="132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you don’t </a:t>
            </a:r>
            <a:r>
              <a:rPr lang="en-GB" sz="1200" spc="-20" noProof="0" dirty="0">
                <a:latin typeface="+mn-lt"/>
                <a:cs typeface="Segoe UI"/>
              </a:rPr>
              <a:t>like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default,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can override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10" noProof="0" dirty="0">
                <a:latin typeface="+mn-lt"/>
                <a:cs typeface="Segoe UI"/>
              </a:rPr>
              <a:t>use 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EDITOR </a:t>
            </a:r>
            <a:r>
              <a:rPr lang="en-GB" sz="1200" spc="-10" noProof="0" dirty="0">
                <a:latin typeface="+mn-lt"/>
                <a:cs typeface="Segoe UI"/>
              </a:rPr>
              <a:t>(or </a:t>
            </a:r>
            <a:r>
              <a:rPr lang="en-GB" sz="1200" spc="-25" noProof="0" dirty="0">
                <a:latin typeface="+mn-lt"/>
                <a:cs typeface="Segoe UI"/>
              </a:rPr>
              <a:t>VISUAL) 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  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GB" sz="1200" spc="-5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2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po</a:t>
            </a:r>
            <a:r>
              <a:rPr lang="en-GB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6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</a:t>
            </a:r>
            <a:r>
              <a:rPr lang="en-GB" sz="12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GB" sz="1200" spc="-2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spc="-3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</a:t>
            </a:r>
            <a:r>
              <a:rPr lang="en-GB" sz="1200" spc="-1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GB" sz="12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spc="-3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2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permanent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place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 assignment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20" noProof="0" dirty="0">
                <a:latin typeface="+mn-lt"/>
                <a:cs typeface="Segoe UI"/>
              </a:rPr>
              <a:t> start-up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system-wide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start-up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give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users.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187409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962400"/>
          </a:xfrm>
        </p:spPr>
        <p:txBody>
          <a:bodyPr/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Never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edit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directly.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use: </a:t>
            </a:r>
            <a:r>
              <a:rPr lang="en-GB" sz="1200" spc="5" noProof="0" dirty="0">
                <a:latin typeface="+mn-lt"/>
                <a:cs typeface="Segoe UI"/>
              </a:rPr>
              <a:t>$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35" noProof="0" dirty="0">
                <a:latin typeface="+mn-lt"/>
                <a:cs typeface="Segoe UI"/>
              </a:rPr>
              <a:t>c</a:t>
            </a:r>
            <a:r>
              <a:rPr lang="en-GB" sz="1200" spc="-15" noProof="0" dirty="0">
                <a:latin typeface="+mn-lt"/>
                <a:cs typeface="Segoe UI"/>
              </a:rPr>
              <a:t>ro</a:t>
            </a:r>
            <a:r>
              <a:rPr lang="en-GB" sz="1200" spc="-20" noProof="0" dirty="0">
                <a:latin typeface="+mn-lt"/>
                <a:cs typeface="Segoe UI"/>
              </a:rPr>
              <a:t>n</a:t>
            </a:r>
            <a:r>
              <a:rPr lang="en-GB" sz="1200" spc="-35" noProof="0" dirty="0">
                <a:latin typeface="+mn-lt"/>
                <a:cs typeface="Segoe UI"/>
              </a:rPr>
              <a:t>ta</a:t>
            </a:r>
            <a:r>
              <a:rPr lang="en-GB" sz="1200" spc="5" noProof="0" dirty="0">
                <a:latin typeface="+mn-lt"/>
                <a:cs typeface="Segoe UI"/>
              </a:rPr>
              <a:t>b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-</a:t>
            </a:r>
            <a:r>
              <a:rPr lang="en-GB" sz="1200" spc="5" noProof="0" dirty="0">
                <a:latin typeface="+mn-lt"/>
                <a:cs typeface="Segoe UI"/>
              </a:rPr>
              <a:t>e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3492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always </a:t>
            </a:r>
            <a:r>
              <a:rPr lang="en-GB" sz="1200" spc="-15" noProof="0" dirty="0">
                <a:latin typeface="+mn-lt"/>
                <a:cs typeface="Segoe UI"/>
              </a:rPr>
              <a:t>ensures </a:t>
            </a:r>
            <a:r>
              <a:rPr lang="en-GB" sz="1200" spc="-20" noProof="0" dirty="0">
                <a:latin typeface="+mn-lt"/>
                <a:cs typeface="Segoe UI"/>
              </a:rPr>
              <a:t>that </a:t>
            </a:r>
            <a:r>
              <a:rPr lang="en-GB" sz="1200" spc="-15" noProof="0" dirty="0">
                <a:latin typeface="+mn-lt"/>
                <a:cs typeface="Segoe UI"/>
              </a:rPr>
              <a:t>the current </a:t>
            </a:r>
            <a:r>
              <a:rPr lang="en-GB" sz="1200" spc="-20" noProof="0" dirty="0">
                <a:latin typeface="+mn-lt"/>
                <a:cs typeface="Segoe UI"/>
              </a:rPr>
              <a:t>crontab file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modified with </a:t>
            </a:r>
            <a:r>
              <a:rPr lang="en-GB" sz="1200" spc="-15" noProof="0" dirty="0">
                <a:latin typeface="+mn-lt"/>
                <a:cs typeface="Segoe UI"/>
              </a:rPr>
              <a:t>the new </a:t>
            </a:r>
            <a:r>
              <a:rPr lang="en-GB" sz="1200" spc="-20" noProof="0" dirty="0">
                <a:latin typeface="+mn-lt"/>
                <a:cs typeface="Segoe UI"/>
              </a:rPr>
              <a:t>information </a:t>
            </a:r>
            <a:r>
              <a:rPr lang="en-GB" sz="1200" spc="-25" noProof="0" dirty="0">
                <a:latin typeface="+mn-lt"/>
                <a:cs typeface="Segoe UI"/>
              </a:rPr>
              <a:t>correctly,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0" noProof="0" dirty="0">
                <a:latin typeface="+mn-lt"/>
                <a:cs typeface="Segoe UI"/>
              </a:rPr>
              <a:t>crontab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verify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integrity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writing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file.</a:t>
            </a:r>
            <a:endParaRPr lang="en-GB" sz="1200" spc="-35" noProof="0" dirty="0">
              <a:latin typeface="+mn-lt"/>
              <a:cs typeface="Segoe UI"/>
            </a:endParaRPr>
          </a:p>
          <a:p>
            <a:pPr marL="12700" marR="34925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syntax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mistakes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communicated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through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error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message.</a:t>
            </a:r>
            <a:endParaRPr lang="en-GB" sz="1200" noProof="0" dirty="0">
              <a:latin typeface="+mn-lt"/>
              <a:cs typeface="Segoe UI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Note: Only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super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change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crontabs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belonging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other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users.</a:t>
            </a:r>
          </a:p>
          <a:p>
            <a:pPr marL="12700" marR="1193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following example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25" noProof="0" dirty="0">
                <a:latin typeface="+mn-lt"/>
                <a:cs typeface="Segoe UI"/>
              </a:rPr>
              <a:t>/X/Y/Z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first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5" noProof="0" dirty="0">
                <a:latin typeface="+mn-lt"/>
                <a:cs typeface="Segoe UI"/>
              </a:rPr>
              <a:t>sixteenth </a:t>
            </a:r>
            <a:r>
              <a:rPr lang="en-GB" sz="1200" spc="-20" noProof="0" dirty="0">
                <a:latin typeface="+mn-lt"/>
                <a:cs typeface="Segoe UI"/>
              </a:rPr>
              <a:t>(1,16)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every month </a:t>
            </a:r>
            <a:r>
              <a:rPr lang="en-GB" sz="1200" spc="-10" noProof="0" dirty="0">
                <a:latin typeface="+mn-lt"/>
                <a:cs typeface="Segoe UI"/>
              </a:rPr>
              <a:t>(*)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15" noProof="0" dirty="0">
                <a:latin typeface="+mn-lt"/>
                <a:cs typeface="Segoe UI"/>
              </a:rPr>
              <a:t>Monday (1) ,</a:t>
            </a:r>
            <a:r>
              <a:rPr lang="en-GB" sz="1200" spc="-25" noProof="0" dirty="0">
                <a:latin typeface="+mn-lt"/>
                <a:cs typeface="Segoe UI"/>
              </a:rPr>
              <a:t>twelve </a:t>
            </a:r>
            <a:r>
              <a:rPr lang="en-GB" sz="1200" spc="-20" noProof="0" dirty="0">
                <a:latin typeface="+mn-lt"/>
                <a:cs typeface="Segoe UI"/>
              </a:rPr>
              <a:t> minutes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past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midnight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:  </a:t>
            </a:r>
            <a:r>
              <a:rPr lang="en-GB" sz="1200" spc="-10" noProof="0" dirty="0">
                <a:latin typeface="+mn-lt"/>
                <a:cs typeface="Segoe UI"/>
              </a:rPr>
              <a:t>12</a:t>
            </a:r>
            <a:r>
              <a:rPr lang="en-GB" sz="1200" spc="20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0</a:t>
            </a:r>
            <a:r>
              <a:rPr lang="en-GB" sz="1200" spc="20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1,16</a:t>
            </a:r>
            <a:r>
              <a:rPr lang="en-GB" sz="1200" spc="1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*</a:t>
            </a:r>
            <a:r>
              <a:rPr lang="en-GB" sz="1200" spc="1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1</a:t>
            </a:r>
            <a:r>
              <a:rPr lang="en-GB" sz="1200" spc="20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/X/Y/Z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numeric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range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allowed.</a:t>
            </a: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task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run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15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minutes,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first field could </a:t>
            </a:r>
            <a:r>
              <a:rPr lang="en-GB" sz="1200" spc="-15" noProof="0" dirty="0">
                <a:latin typeface="+mn-lt"/>
                <a:cs typeface="Segoe UI"/>
              </a:rPr>
              <a:t>be: </a:t>
            </a:r>
            <a:r>
              <a:rPr lang="en-GB" sz="1200" spc="-20" noProof="0" dirty="0">
                <a:latin typeface="+mn-lt"/>
                <a:cs typeface="Segoe UI"/>
              </a:rPr>
              <a:t>0,15,30,45.</a:t>
            </a:r>
          </a:p>
          <a:p>
            <a:pPr marL="12700" marR="1066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</a:t>
            </a:r>
            <a:r>
              <a:rPr lang="en-GB" sz="1200" spc="-10" noProof="0" dirty="0">
                <a:latin typeface="+mn-lt"/>
                <a:cs typeface="Segoe UI"/>
              </a:rPr>
              <a:t>o </a:t>
            </a:r>
            <a:r>
              <a:rPr lang="en-GB" sz="1200" spc="-20" noProof="0" dirty="0">
                <a:latin typeface="+mn-lt"/>
                <a:cs typeface="Segoe UI"/>
              </a:rPr>
              <a:t>specify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task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run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15" noProof="0" dirty="0">
                <a:latin typeface="+mn-lt"/>
                <a:cs typeface="Segoe UI"/>
              </a:rPr>
              <a:t>day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week, </a:t>
            </a:r>
            <a:r>
              <a:rPr lang="en-GB" sz="1200" spc="-15" noProof="0" dirty="0">
                <a:latin typeface="+mn-lt"/>
                <a:cs typeface="Segoe UI"/>
              </a:rPr>
              <a:t>you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do </a:t>
            </a:r>
            <a:r>
              <a:rPr lang="en-GB" sz="1200" spc="-15" noProof="0" dirty="0">
                <a:latin typeface="+mn-lt"/>
                <a:cs typeface="Segoe UI"/>
              </a:rPr>
              <a:t>it 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list: 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1,2,3,4,5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range: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1-5.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80" noProof="0" dirty="0">
                <a:latin typeface="+mn-lt"/>
                <a:cs typeface="Segoe UI"/>
              </a:rPr>
              <a:t>  </a:t>
            </a:r>
            <a:r>
              <a:rPr lang="en-GB" sz="1200" spc="-20" noProof="0" dirty="0">
                <a:latin typeface="+mn-lt"/>
                <a:cs typeface="Segoe UI"/>
              </a:rPr>
              <a:t>Linux,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numeric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fields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step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value.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example,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every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10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minutes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say: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0,10,20,30,40,50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simplify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above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specification,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step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notation:</a:t>
            </a:r>
            <a:r>
              <a:rPr lang="en-GB" sz="1200" spc="20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*/10</a:t>
            </a:r>
            <a:r>
              <a:rPr lang="en-GB" sz="1200" spc="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2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0-59/10.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736236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The </a:t>
            </a:r>
            <a:r>
              <a:rPr lang="en-GB" noProof="0" dirty="0" err="1"/>
              <a:t>cron</a:t>
            </a:r>
            <a:r>
              <a:rPr lang="en-GB" noProof="0" dirty="0"/>
              <a:t> system uses control files to determine who can use the </a:t>
            </a:r>
            <a:r>
              <a:rPr lang="en-GB" noProof="0" dirty="0" err="1"/>
              <a:t>cron</a:t>
            </a:r>
            <a:r>
              <a:rPr lang="en-GB" noProof="0" dirty="0"/>
              <a:t> facility.  The </a:t>
            </a:r>
            <a:r>
              <a:rPr lang="en-GB" noProof="0" dirty="0" err="1"/>
              <a:t>crond</a:t>
            </a:r>
            <a:r>
              <a:rPr lang="en-GB" noProof="0" dirty="0"/>
              <a:t> daemon has an allow and a deny file.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allow file exists, only users listed in this file have access to the relevant utility; the deny file is not used.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GB" noProof="0" dirty="0"/>
              <a:t> If the allow file does not exist, the deny file is checked for users not allowed to use the utility.  An empty deny file permits all users access to the utility.</a:t>
            </a:r>
          </a:p>
          <a:p>
            <a:pPr marL="228600" indent="-228600">
              <a:buFont typeface="+mj-lt"/>
              <a:buAutoNum type="arabicPeriod"/>
            </a:pPr>
            <a:r>
              <a:rPr lang="en-GB" noProof="0" dirty="0"/>
              <a:t>If the deny file does not exist, only root can use</a:t>
            </a:r>
            <a:r>
              <a:rPr lang="en-GB" dirty="0"/>
              <a:t> </a:t>
            </a:r>
            <a:r>
              <a:rPr lang="en-GB" noProof="0" dirty="0"/>
              <a:t>the </a:t>
            </a:r>
            <a:r>
              <a:rPr lang="en-GB" noProof="0" dirty="0" err="1"/>
              <a:t>cron</a:t>
            </a:r>
            <a:r>
              <a:rPr lang="en-GB" noProof="0" dirty="0"/>
              <a:t>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36270DB-883C-56DD-6A29-5E4410875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445828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The OS crontab is an extension to traditional UNIX crontab specification and give much higher flexibility.</a:t>
            </a:r>
          </a:p>
          <a:p>
            <a:r>
              <a:rPr lang="en-GB" dirty="0">
                <a:latin typeface="+mn-lt"/>
              </a:rPr>
              <a:t>Time specification fields are the same, however, the remaining fields are more complex. </a:t>
            </a:r>
          </a:p>
          <a:p>
            <a:r>
              <a:rPr lang="en-GB" dirty="0">
                <a:latin typeface="+mn-lt"/>
              </a:rPr>
              <a:t>One big advantage is that you have some control over the environment in which the scripts will be running, most importantly the PATH variable.</a:t>
            </a:r>
          </a:p>
          <a:p>
            <a:r>
              <a:rPr lang="en-GB" dirty="0">
                <a:latin typeface="+mn-lt"/>
              </a:rPr>
              <a:t>The /</a:t>
            </a:r>
            <a:r>
              <a:rPr lang="en-GB" dirty="0" err="1">
                <a:latin typeface="+mn-lt"/>
              </a:rPr>
              <a:t>usr</a:t>
            </a:r>
            <a:r>
              <a:rPr lang="en-GB" dirty="0">
                <a:latin typeface="+mn-lt"/>
              </a:rPr>
              <a:t>/bin/run-parts command is used to execute scripts placed in the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.{</a:t>
            </a:r>
            <a:r>
              <a:rPr lang="en-GB" dirty="0" err="1">
                <a:latin typeface="+mn-lt"/>
              </a:rPr>
              <a:t>hourly|daily|weekly|monthly</a:t>
            </a:r>
            <a:r>
              <a:rPr lang="en-GB" dirty="0">
                <a:latin typeface="+mn-lt"/>
              </a:rPr>
              <a:t>} directories. </a:t>
            </a:r>
          </a:p>
          <a:p>
            <a:r>
              <a:rPr lang="en-GB" dirty="0">
                <a:latin typeface="+mn-lt"/>
              </a:rPr>
              <a:t>All tasks will be executed as the specified user. In all lines on the slide that is user root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96060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Traditional crontabs are only executed by </a:t>
            </a:r>
            <a:r>
              <a:rPr lang="en-US" dirty="0" err="1">
                <a:latin typeface="+mn-lt"/>
              </a:rPr>
              <a:t>cron</a:t>
            </a:r>
            <a:r>
              <a:rPr lang="en-US" dirty="0">
                <a:latin typeface="+mn-lt"/>
              </a:rPr>
              <a:t> if the machine is up and running. Any job that was due to run whilst the machine was down would be missed altogether. Here is where </a:t>
            </a:r>
            <a:r>
              <a:rPr lang="en-US" dirty="0" err="1">
                <a:latin typeface="+mn-lt"/>
              </a:rPr>
              <a:t>anacron</a:t>
            </a:r>
            <a:r>
              <a:rPr lang="en-US" dirty="0">
                <a:latin typeface="+mn-lt"/>
              </a:rPr>
              <a:t> step in. With </a:t>
            </a:r>
            <a:r>
              <a:rPr lang="en-US" dirty="0" err="1">
                <a:latin typeface="+mn-lt"/>
              </a:rPr>
              <a:t>anacron</a:t>
            </a:r>
            <a:r>
              <a:rPr lang="en-US" dirty="0">
                <a:latin typeface="+mn-lt"/>
              </a:rPr>
              <a:t> you don't specify exactly when you want to run a task, only its frequency. The daemon will run the task after you start the machine (and after the specified delay). </a:t>
            </a:r>
          </a:p>
          <a:p>
            <a:r>
              <a:rPr lang="en-US" dirty="0">
                <a:latin typeface="+mn-lt"/>
              </a:rPr>
              <a:t>Hence, the </a:t>
            </a:r>
            <a:r>
              <a:rPr lang="en-US" dirty="0" err="1">
                <a:latin typeface="+mn-lt"/>
              </a:rPr>
              <a:t>anacron</a:t>
            </a:r>
            <a:r>
              <a:rPr lang="en-US" dirty="0">
                <a:latin typeface="+mn-lt"/>
              </a:rPr>
              <a:t> jobs can be submitted on machines that aren't running 24 hours a day, to control those jobs that are usually controlled by </a:t>
            </a:r>
            <a:r>
              <a:rPr lang="en-US" dirty="0" err="1">
                <a:latin typeface="+mn-lt"/>
              </a:rPr>
              <a:t>cron</a:t>
            </a:r>
            <a:r>
              <a:rPr lang="en-US" dirty="0">
                <a:latin typeface="+mn-lt"/>
              </a:rPr>
              <a:t>.</a:t>
            </a:r>
          </a:p>
          <a:p>
            <a:r>
              <a:rPr lang="en-US" dirty="0">
                <a:latin typeface="+mn-lt"/>
              </a:rPr>
              <a:t>Frequency specification can be: either a number (unit being a day), for example 1 means daily or 7 means weekly (every 7 days), or a string with @ in front: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@reboot 		run once, at startup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@yearly		run once a year,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1 1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@annually		(same as @yearly)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@monthly		run once a month,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1 *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@weekly		run once a week,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* * 0"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@daily		run once a day,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0 * * *"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@midnight		(same as @daily)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+mn-lt"/>
              </a:rPr>
              <a:t>@hourly		run once an hour, same as </a:t>
            </a:r>
            <a:r>
              <a:rPr lang="en-US" dirty="0" err="1">
                <a:latin typeface="+mn-lt"/>
              </a:rPr>
              <a:t>cron's</a:t>
            </a:r>
            <a:r>
              <a:rPr lang="en-US" dirty="0">
                <a:latin typeface="+mn-lt"/>
              </a:rPr>
              <a:t> "0 * * * 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37046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Each script here replaces what used to be a single command in the traditional (and still used in the user based) crontabs. That itself extends the functionality of the overall system to beyond just executing simple tasks.</a:t>
            </a:r>
          </a:p>
          <a:p>
            <a:r>
              <a:rPr lang="en-GB" dirty="0">
                <a:latin typeface="+mn-lt"/>
              </a:rPr>
              <a:t>Scripts are executed in alphabetical order, so one method of ensuring the sequence of jobs is to name them begin with a number.</a:t>
            </a:r>
          </a:p>
          <a:p>
            <a:r>
              <a:rPr lang="en-GB" dirty="0">
                <a:latin typeface="+mn-lt"/>
              </a:rPr>
              <a:t>The </a:t>
            </a:r>
            <a:r>
              <a:rPr lang="en-GB" dirty="0" err="1">
                <a:latin typeface="+mn-lt"/>
              </a:rPr>
              <a:t>cron.d</a:t>
            </a:r>
            <a:r>
              <a:rPr lang="en-GB" dirty="0">
                <a:latin typeface="+mn-lt"/>
              </a:rPr>
              <a:t> directory contains system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 jobs that are meant to be executed in a non-conformant frequency (not supported by the hourly, daily, weekly or monthly specifications).</a:t>
            </a:r>
          </a:p>
          <a:p>
            <a:r>
              <a:rPr lang="en-GB" dirty="0">
                <a:latin typeface="+mn-lt"/>
              </a:rPr>
              <a:t>These are not shell scripts, instead the content of these files follows standard </a:t>
            </a:r>
            <a:r>
              <a:rPr lang="en-GB" dirty="0" err="1">
                <a:latin typeface="+mn-lt"/>
              </a:rPr>
              <a:t>cron</a:t>
            </a:r>
            <a:r>
              <a:rPr lang="en-GB" dirty="0">
                <a:latin typeface="+mn-lt"/>
              </a:rPr>
              <a:t> configuration syntax.</a:t>
            </a:r>
          </a:p>
          <a:p>
            <a:r>
              <a:rPr lang="en-GB" dirty="0">
                <a:latin typeface="+mn-lt"/>
              </a:rPr>
              <a:t>If you need a task to be executed at intervals not already pre-configured, you would: 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+mn-lt"/>
              </a:rPr>
              <a:t>Include a run-parts command line in the main /etc/crontab file with your interval definition.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>
                <a:latin typeface="+mn-lt"/>
              </a:rPr>
              <a:t>Create the appropriate directory and populate it with the </a:t>
            </a:r>
            <a:r>
              <a:rPr lang="en-GB">
                <a:latin typeface="+mn-lt"/>
              </a:rPr>
              <a:t>required scripts.</a:t>
            </a:r>
            <a:endParaRPr lang="en-GB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80088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6827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files control which users have access to the at (and batch) commands.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You can restart it (either in the foreground or in the background) or you can kill it.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All users that are present in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the 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 (or if the file doesn’t exist, users that are not included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file).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noProof="0" dirty="0" err="1">
                <a:latin typeface="+mn-lt"/>
              </a:rPr>
              <a:t>atd</a:t>
            </a:r>
            <a:r>
              <a:rPr lang="en-US" noProof="0" dirty="0">
                <a:latin typeface="+mn-lt"/>
              </a:rPr>
              <a:t> daemon looks after the at and batch tasks. The </a:t>
            </a:r>
            <a:r>
              <a:rPr lang="en-US" noProof="0" dirty="0" err="1">
                <a:latin typeface="+mn-lt"/>
              </a:rPr>
              <a:t>crond</a:t>
            </a:r>
            <a:r>
              <a:rPr lang="en-US" noProof="0" dirty="0">
                <a:latin typeface="+mn-lt"/>
              </a:rPr>
              <a:t> daemon looks after the </a:t>
            </a:r>
            <a:r>
              <a:rPr lang="en-US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tasks.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 </a:t>
            </a:r>
            <a:r>
              <a:rPr lang="en-US" noProof="0" dirty="0">
                <a:latin typeface="+mn-lt"/>
              </a:rPr>
              <a:t>directory, the at and batch jobs are stored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 </a:t>
            </a:r>
            <a:r>
              <a:rPr lang="en-US" noProof="0" dirty="0">
                <a:latin typeface="+mn-lt"/>
              </a:rPr>
              <a:t>subdirectory, whereas user-based </a:t>
            </a:r>
            <a:r>
              <a:rPr lang="en-US" noProof="0" dirty="0" err="1">
                <a:latin typeface="+mn-lt"/>
              </a:rPr>
              <a:t>cron</a:t>
            </a:r>
            <a:r>
              <a:rPr lang="en-US" noProof="0" dirty="0">
                <a:latin typeface="+mn-lt"/>
              </a:rPr>
              <a:t> tasks are stored in 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noProof="0" dirty="0">
                <a:latin typeface="+mn-lt"/>
              </a:rPr>
              <a:t>&lt;username&gt; files.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Traditional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noProof="0" dirty="0">
                <a:latin typeface="+mn-lt"/>
              </a:rPr>
              <a:t> jobs are not executed if the system was down during planned execution time. Jobs controlled by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>
                <a:latin typeface="+mn-lt"/>
              </a:rPr>
              <a:t> will be run when the system comes back (after a delay specified in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anacrontab</a:t>
            </a:r>
            <a:r>
              <a:rPr lang="en-US" noProof="0" dirty="0">
                <a:latin typeface="+mn-lt"/>
              </a:rPr>
              <a:t> file).</a:t>
            </a: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32884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3511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8666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222435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55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21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708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CFEDB-1653-0EED-46D8-475B9846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9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730F2-6DEC-D896-1430-336050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47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A2D6B-ABC5-BCE1-3725-0A105BCE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68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mage+tex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02858F-B20D-C124-765A-91E5E5C49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5DA1C70-139A-A7C6-8271-6F38BBB4B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80A5B11-85BD-B494-600D-3402BBF9D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EA56FB2-667C-DAC6-0BC5-0F43E110DB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D56FE-21A4-046E-1FD0-FA742B410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66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B625F-2939-0076-EE39-F5E9774F0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19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EB9C0-B1BF-F2F0-CFBD-DBAA3B7E8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BCE8B-B415-2BED-F4E1-46E84CF60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D993C-5A39-AF81-154F-95170C32D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8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264FC-E45E-4A65-ECA6-F6E6C78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06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BBE13A-E1A6-9F15-F402-BD17E7192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552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6B467-B6E6-07FD-82C2-C8A720A2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026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924B-6CC7-5CA4-2459-E85A3EB99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802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8A3F5E-1236-23F6-5236-3FAD012CB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59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fred@cherry.piecorner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10: Job control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B24ECF5-37BB-BEFC-02EA-25FBF853C5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BD157-B537-C50C-1AB3-8A1A6E762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08085"/>
              </p:ext>
            </p:extLst>
          </p:nvPr>
        </p:nvGraphicFramePr>
        <p:xfrm>
          <a:off x="473406" y="3766289"/>
          <a:ext cx="5271612" cy="123981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271612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10: Job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11: File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132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12: Backup and compression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8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Background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At and batch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8393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Background tasks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EF90D40-851B-791F-8B24-9F826FAC24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326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172B6-7238-27E7-B412-709EC55FB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Foreground and stopped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Normally,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executed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 keyboard is connected to them.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waits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finish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before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issuing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prompt, acting upon any outstanding contents of the keyboard buffer.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foreground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suspended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displays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number,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e.g.	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</a:t>
            </a:r>
            <a:r>
              <a:rPr lang="en-US" spc="-2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The stopped job isn’t dead, it is paused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or </a:t>
            </a:r>
            <a:r>
              <a:rPr lang="en-US" sz="1800" b="1" spc="-12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commands could be applied to it.</a:t>
            </a:r>
            <a:endParaRPr lang="en-US" sz="1800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718481-ED3F-30E4-0BCD-F6BBA86D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210" y="3773673"/>
            <a:ext cx="6770077" cy="913070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vi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6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	Stopped	vi</a:t>
            </a:r>
            <a:r>
              <a:rPr lang="en-US" sz="1600" spc="-6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68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6846F4-D700-5121-B5E0-2C194A4F2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665747"/>
          </a:xfrm>
        </p:spPr>
        <p:txBody>
          <a:bodyPr>
            <a:normAutofit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jobs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run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concurrently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parent:</a:t>
            </a: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The keyboard is not connected to them. Shell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prompt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is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available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immediately.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lnSpc>
                <a:spcPct val="100000"/>
              </a:lnSpc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 stopped job can be turned into a background job with the </a:t>
            </a:r>
            <a:r>
              <a:rPr lang="en-US" sz="1800" b="1" spc="-12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command (providing it can proceed without a keyboard).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4" noProof="0" dirty="0">
              <a:solidFill>
                <a:srgbClr val="0000C7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Request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ending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line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3371136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displays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job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number,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e.g.,	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process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id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PID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).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4718481-ED3F-30E4-0BCD-F6BBA86D1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1699" y="2975622"/>
            <a:ext cx="6770077" cy="140551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sleep 10000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6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^Z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Stopped	sleep 10000</a:t>
            </a:r>
          </a:p>
          <a:p>
            <a:pPr>
              <a:lnSpc>
                <a:spcPct val="100000"/>
              </a:lnSpc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%1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sleep 10000 &amp;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9C038C0-C309-9B0A-ABC6-0410A1960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916" y="4914063"/>
            <a:ext cx="6770077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	&gt;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full.list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	 1286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5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B66C1C-2AAB-4ED0-90D2-B2FCAAA5FB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Listing 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1056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tasks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recorded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job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look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at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job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list.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Background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tasks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treated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F5A66A4-8F98-8662-3607-0AA88DC4A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401" y="2503106"/>
            <a:ext cx="6770077" cy="92589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[1]+	Stopped		vi</a:t>
            </a:r>
            <a:r>
              <a:rPr lang="en-US" sz="1600" spc="-6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/home/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laura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[2]-	Stopped		ls –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 &gt; 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full_list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9587332-4610-EC76-DB4A-41652580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401" y="4363415"/>
            <a:ext cx="6770078" cy="145680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PID TTY	    TIME CMD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1269 pts/2	00:00:00 bash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1278 pts/2	00:00:00 vi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1286 pts/2	00:00:00 ls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61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FB6982-B950-1F95-C9B7-9932E441AE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Manipulating background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Actions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suspended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jobs: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Any</a:t>
            </a:r>
            <a:r>
              <a:rPr lang="en-US" sz="1800" spc="-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running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job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suspended: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-STOP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%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jobno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Then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restarted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terminated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discussed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above.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3C216FD-732D-3B7D-DB96-2BA0BF3C7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79" y="5226237"/>
            <a:ext cx="6209982" cy="115416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%1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...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vi session resumed</a:t>
            </a:r>
          </a:p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 %2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[2]-	Terminated	ls –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lR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 &gt; 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full_list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F3E956E6-C2B3-0E21-0624-D09BEF0E0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645045"/>
              </p:ext>
            </p:extLst>
          </p:nvPr>
        </p:nvGraphicFramePr>
        <p:xfrm>
          <a:off x="443922" y="2204534"/>
          <a:ext cx="6770687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3680">
                  <a:extLst>
                    <a:ext uri="{9D8B030D-6E8A-4147-A177-3AD203B41FA5}">
                      <a16:colId xmlns:a16="http://schemas.microsoft.com/office/drawing/2014/main" val="1467239658"/>
                    </a:ext>
                  </a:extLst>
                </a:gridCol>
                <a:gridCol w="4207007">
                  <a:extLst>
                    <a:ext uri="{9D8B030D-6E8A-4147-A177-3AD203B41FA5}">
                      <a16:colId xmlns:a16="http://schemas.microsoft.com/office/drawing/2014/main" val="226102086"/>
                    </a:ext>
                  </a:extLst>
                </a:gridCol>
              </a:tblGrid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85696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12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bg</a:t>
                      </a:r>
                      <a:r>
                        <a:rPr kumimoji="0" lang="en-US" sz="1800" b="1" u="none" strike="noStrike" kern="1200" cap="none" spc="-12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 [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%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jobno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]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3"/>
                        </a:spcBef>
                      </a:pPr>
                      <a:r>
                        <a:rPr lang="en-US" sz="1800" spc="-4" noProof="0" dirty="0">
                          <a:solidFill>
                            <a:schemeClr val="tx1"/>
                          </a:solidFill>
                          <a:latin typeface="+mn-lt"/>
                        </a:rPr>
                        <a:t>Restart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in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  <a:latin typeface="+mn-lt"/>
                        </a:rPr>
                        <a:t>the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  <a:latin typeface="+mn-lt"/>
                        </a:rPr>
                        <a:t>background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62769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fg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 [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%</a:t>
                      </a:r>
                      <a:r>
                        <a:rPr kumimoji="0" lang="en-US" sz="1800" b="1" u="none" strike="noStrike" kern="1200" cap="none" spc="-8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jobno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]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4" noProof="0" dirty="0">
                          <a:solidFill>
                            <a:schemeClr val="tx1"/>
                          </a:solidFill>
                          <a:latin typeface="+mn-lt"/>
                        </a:rPr>
                        <a:t>Bring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12" noProof="0" dirty="0">
                          <a:solidFill>
                            <a:schemeClr val="tx1"/>
                          </a:solidFill>
                          <a:latin typeface="+mn-lt"/>
                        </a:rPr>
                        <a:t>back</a:t>
                      </a:r>
                      <a:r>
                        <a:rPr lang="en-US" sz="1800" spc="8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16" noProof="0" dirty="0">
                          <a:solidFill>
                            <a:schemeClr val="tx1"/>
                          </a:solidFill>
                          <a:latin typeface="+mn-lt"/>
                        </a:rPr>
                        <a:t>to</a:t>
                      </a:r>
                      <a:r>
                        <a:rPr lang="en-US" sz="1800" spc="20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foreground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07723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556181" lvl="0" indent="0" algn="just" defTabSz="914377" rtl="0" eaLnBrk="1" fontAlgn="auto" latinLnBrk="0" hangingPunct="1">
                        <a:lnSpc>
                          <a:spcPct val="102000"/>
                        </a:lnSpc>
                        <a:spcBef>
                          <a:spcPts val="33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16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k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il</a:t>
                      </a: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l</a:t>
                      </a:r>
                      <a:r>
                        <a:rPr kumimoji="0" lang="en-US" sz="1800" b="1" u="none" strike="noStrike" kern="1200" cap="none" spc="-37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 </a:t>
                      </a: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%</a:t>
                      </a:r>
                      <a:r>
                        <a:rPr kumimoji="0" lang="en-US" sz="1800" b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j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o</a:t>
                      </a:r>
                      <a:r>
                        <a:rPr kumimoji="0" lang="en-US" sz="1800" b="1" u="none" strike="noStrike" kern="1200" cap="none" spc="-16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b</a:t>
                      </a:r>
                      <a:r>
                        <a:rPr kumimoji="0" lang="en-US" sz="1800" b="1" u="none" strike="noStrike" kern="1200" cap="none" spc="-4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no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2" noProof="0" dirty="0">
                          <a:solidFill>
                            <a:schemeClr val="tx1"/>
                          </a:solidFill>
                          <a:latin typeface="+mn-lt"/>
                        </a:rPr>
                        <a:t>Terminate</a:t>
                      </a:r>
                      <a:r>
                        <a:rPr lang="en-US" sz="1800" spc="57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  <a:latin typeface="+mn-lt"/>
                        </a:rPr>
                        <a:t>with</a:t>
                      </a:r>
                      <a:r>
                        <a:rPr lang="en-US" sz="1800" spc="8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default</a:t>
                      </a:r>
                      <a:r>
                        <a:rPr lang="en-US" sz="1800" spc="28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signal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78087"/>
                  </a:ext>
                </a:extLst>
              </a:tr>
              <a:tr h="322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0" lvl="0" indent="0" algn="just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4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-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Kill 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-KILL</a:t>
                      </a:r>
                      <a:r>
                        <a:rPr kumimoji="0" lang="en-US" sz="1800" b="1" u="none" strike="noStrike" kern="1200" cap="none" spc="4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 </a:t>
                      </a:r>
                      <a:r>
                        <a:rPr kumimoji="0" lang="en-US" sz="1800" b="1" u="none" strike="noStrike" kern="1200" cap="none" spc="-8" normalizeH="0" baseline="0" noProof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%</a:t>
                      </a:r>
                      <a:r>
                        <a:rPr kumimoji="0" lang="en-US" sz="1800" b="1" u="none" strike="noStrike" kern="1200" cap="none" spc="-8" normalizeH="0" baseline="0" noProof="0" dirty="0" err="1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uLnTx/>
                          <a:uFillTx/>
                          <a:latin typeface="Hack" panose="020B0609030202020204"/>
                        </a:rPr>
                        <a:t>jobno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4050"/>
                        </a:solidFill>
                        <a:effectLst/>
                        <a:uLnTx/>
                        <a:uFillTx/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16" noProof="0" dirty="0">
                          <a:solidFill>
                            <a:schemeClr val="tx1"/>
                          </a:solidFill>
                          <a:latin typeface="+mn-lt"/>
                        </a:rPr>
                        <a:t>Terminate</a:t>
                      </a:r>
                      <a:r>
                        <a:rPr lang="en-US" sz="1800" spc="65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with</a:t>
                      </a:r>
                      <a:r>
                        <a:rPr lang="en-US" sz="1800" spc="16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8" noProof="0" dirty="0">
                          <a:solidFill>
                            <a:schemeClr val="tx1"/>
                          </a:solidFill>
                          <a:latin typeface="+mn-lt"/>
                        </a:rPr>
                        <a:t>signal</a:t>
                      </a:r>
                      <a:r>
                        <a:rPr lang="en-US" sz="1800" spc="24" noProof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1800" spc="-4" noProof="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14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63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40D870-41F9-DA17-EBF7-1A4E99658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Separating tasks from the terminal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8105014" cy="4348715"/>
          </a:xfrm>
        </p:spPr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logout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SIGHUP</a:t>
            </a:r>
            <a:r>
              <a:rPr lang="en-US" sz="1800" b="1" spc="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sent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by the parent (login shell)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 processes.</a:t>
            </a:r>
          </a:p>
          <a:p>
            <a:pPr marL="747157" lvl="1" indent="-280154">
              <a:lnSpc>
                <a:spcPct val="100000"/>
              </a:lnSpc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This will cause the process to die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467003" lvl="1" indent="0">
              <a:spcBef>
                <a:spcPts val="73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747157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To avoid this, use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nohup</a:t>
            </a:r>
            <a:r>
              <a:rPr lang="en-US" sz="1800" b="1" spc="2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disregard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cs typeface="Segoe UI"/>
              </a:rPr>
              <a:t>SIGHUP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Typed in just before the command on the same line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Instead of dying on logout it will disconnect them from the current terminal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 the PPID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Allowing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sub-shells</a:t>
            </a:r>
            <a:r>
              <a:rPr lang="en-US" sz="1800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continue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executing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after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user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logs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out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92035-23EE-1DA7-41D6-3F7D47E5B406}"/>
              </a:ext>
            </a:extLst>
          </p:cNvPr>
          <p:cNvGrpSpPr/>
          <p:nvPr/>
        </p:nvGrpSpPr>
        <p:grpSpPr>
          <a:xfrm>
            <a:off x="7940993" y="2467961"/>
            <a:ext cx="3466782" cy="3352800"/>
            <a:chOff x="6096000" y="3128791"/>
            <a:chExt cx="3002823" cy="31883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14B59B3-30DE-349D-E86C-5A3A6F0905ED}"/>
                </a:ext>
              </a:extLst>
            </p:cNvPr>
            <p:cNvGrpSpPr/>
            <p:nvPr/>
          </p:nvGrpSpPr>
          <p:grpSpPr>
            <a:xfrm>
              <a:off x="6096000" y="3490711"/>
              <a:ext cx="951590" cy="811678"/>
              <a:chOff x="9306753" y="679288"/>
              <a:chExt cx="1286748" cy="982985"/>
            </a:xfrm>
          </p:grpSpPr>
          <p:sp>
            <p:nvSpPr>
              <p:cNvPr id="49" name="object 9">
                <a:extLst>
                  <a:ext uri="{FF2B5EF4-FFF2-40B4-BE49-F238E27FC236}">
                    <a16:creationId xmlns:a16="http://schemas.microsoft.com/office/drawing/2014/main" id="{E10287E6-5D65-515C-3FAA-82C5B9DC5C16}"/>
                  </a:ext>
                </a:extLst>
              </p:cNvPr>
              <p:cNvSpPr txBox="1"/>
              <p:nvPr/>
            </p:nvSpPr>
            <p:spPr>
              <a:xfrm>
                <a:off x="9606709" y="879594"/>
                <a:ext cx="760164" cy="621417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B</a:t>
                </a:r>
                <a:r>
                  <a:rPr lang="en-US" sz="1400" b="1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a</a:t>
                </a:r>
                <a:r>
                  <a:rPr lang="en-US" sz="1400" b="1" spc="4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s</a:t>
                </a:r>
                <a:r>
                  <a:rPr lang="en-US" sz="1400" b="1" spc="-4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h</a:t>
                </a:r>
                <a:endParaRPr lang="en-US" sz="1400" b="1" noProof="0" dirty="0">
                  <a:latin typeface="Segoe UI"/>
                  <a:cs typeface="Segoe UI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400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50" name="object 12">
                <a:extLst>
                  <a:ext uri="{FF2B5EF4-FFF2-40B4-BE49-F238E27FC236}">
                    <a16:creationId xmlns:a16="http://schemas.microsoft.com/office/drawing/2014/main" id="{9262CD46-AFEF-ACB0-9DD8-D39D2A508B55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51" name="object 14">
                <a:extLst>
                  <a:ext uri="{FF2B5EF4-FFF2-40B4-BE49-F238E27FC236}">
                    <a16:creationId xmlns:a16="http://schemas.microsoft.com/office/drawing/2014/main" id="{A787AD9B-4964-1DFB-334C-5701F643EA5A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73EBF5FE-9179-47BE-4C8F-CD8149CCCA26}"/>
                </a:ext>
              </a:extLst>
            </p:cNvPr>
            <p:cNvSpPr txBox="1"/>
            <p:nvPr/>
          </p:nvSpPr>
          <p:spPr>
            <a:xfrm>
              <a:off x="6296592" y="3223277"/>
              <a:ext cx="705505" cy="260858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spc="-8" noProof="0" dirty="0">
                  <a:latin typeface="Segoe UI"/>
                  <a:cs typeface="Segoe UI"/>
                </a:rPr>
                <a:t>parent</a:t>
              </a:r>
              <a:endParaRPr lang="en-US" sz="1400" noProof="0" dirty="0">
                <a:latin typeface="Segoe UI"/>
                <a:cs typeface="Segoe UI"/>
              </a:endParaRPr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B520EF00-61CB-4239-3C98-0D8983F96ADF}"/>
                </a:ext>
              </a:extLst>
            </p:cNvPr>
            <p:cNvSpPr txBox="1"/>
            <p:nvPr/>
          </p:nvSpPr>
          <p:spPr>
            <a:xfrm>
              <a:off x="8353984" y="3128791"/>
              <a:ext cx="539895" cy="260858"/>
            </a:xfrm>
            <a:prstGeom prst="rect">
              <a:avLst/>
            </a:prstGeom>
          </p:spPr>
          <p:txBody>
            <a:bodyPr vert="horz" wrap="square" lIns="0" tIns="10319" rIns="0" bIns="0" rtlCol="0">
              <a:spAutoFit/>
            </a:bodyPr>
            <a:lstStyle/>
            <a:p>
              <a:pPr marL="10319">
                <a:spcBef>
                  <a:spcPts val="81"/>
                </a:spcBef>
              </a:pPr>
              <a:r>
                <a:rPr lang="en-US" sz="1400" noProof="0" dirty="0">
                  <a:latin typeface="Segoe UI"/>
                  <a:cs typeface="Segoe UI"/>
                </a:rPr>
                <a:t>child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BB8ADD-61B1-D658-D644-201D3447C3B8}"/>
                </a:ext>
              </a:extLst>
            </p:cNvPr>
            <p:cNvGrpSpPr/>
            <p:nvPr/>
          </p:nvGrpSpPr>
          <p:grpSpPr>
            <a:xfrm>
              <a:off x="8147233" y="5462775"/>
              <a:ext cx="951590" cy="854323"/>
              <a:chOff x="9306753" y="679288"/>
              <a:chExt cx="1286748" cy="982985"/>
            </a:xfrm>
          </p:grpSpPr>
          <p:sp>
            <p:nvSpPr>
              <p:cNvPr id="46" name="object 9">
                <a:extLst>
                  <a:ext uri="{FF2B5EF4-FFF2-40B4-BE49-F238E27FC236}">
                    <a16:creationId xmlns:a16="http://schemas.microsoft.com/office/drawing/2014/main" id="{C3D28CD8-97E2-E8A5-5D85-3E05374297AC}"/>
                  </a:ext>
                </a:extLst>
              </p:cNvPr>
              <p:cNvSpPr txBox="1"/>
              <p:nvPr/>
            </p:nvSpPr>
            <p:spPr>
              <a:xfrm>
                <a:off x="9468699" y="879593"/>
                <a:ext cx="1016662" cy="681874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rgbClr val="00B050"/>
                    </a:solidFill>
                    <a:latin typeface="Segoe UI"/>
                    <a:cs typeface="Segoe UI"/>
                  </a:rPr>
                  <a:t>ls</a:t>
                </a: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rgbClr val="C70000"/>
                    </a:solidFill>
                    <a:latin typeface="Segoe UI"/>
                    <a:cs typeface="Segoe UI"/>
                  </a:rPr>
                  <a:t>env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47" name="object 12">
                <a:extLst>
                  <a:ext uri="{FF2B5EF4-FFF2-40B4-BE49-F238E27FC236}">
                    <a16:creationId xmlns:a16="http://schemas.microsoft.com/office/drawing/2014/main" id="{21DE59E3-D070-DF49-71D5-4C1860B89926}"/>
                  </a:ext>
                </a:extLst>
              </p:cNvPr>
              <p:cNvSpPr/>
              <p:nvPr/>
            </p:nvSpPr>
            <p:spPr>
              <a:xfrm>
                <a:off x="9306753" y="679288"/>
                <a:ext cx="1286748" cy="982985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rgbClr val="00B050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48" name="object 14">
                <a:extLst>
                  <a:ext uri="{FF2B5EF4-FFF2-40B4-BE49-F238E27FC236}">
                    <a16:creationId xmlns:a16="http://schemas.microsoft.com/office/drawing/2014/main" id="{461F82CA-548C-6245-41B6-C02443DD0CC0}"/>
                  </a:ext>
                </a:extLst>
              </p:cNvPr>
              <p:cNvSpPr/>
              <p:nvPr/>
            </p:nvSpPr>
            <p:spPr>
              <a:xfrm>
                <a:off x="9468697" y="1177132"/>
                <a:ext cx="98079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401B58A-8654-A2B2-E66D-6BE13516F723}"/>
                </a:ext>
              </a:extLst>
            </p:cNvPr>
            <p:cNvGrpSpPr/>
            <p:nvPr/>
          </p:nvGrpSpPr>
          <p:grpSpPr>
            <a:xfrm>
              <a:off x="8138297" y="3490710"/>
              <a:ext cx="951590" cy="811678"/>
              <a:chOff x="8138297" y="3490710"/>
              <a:chExt cx="951590" cy="811678"/>
            </a:xfrm>
          </p:grpSpPr>
          <p:sp>
            <p:nvSpPr>
              <p:cNvPr id="43" name="object 9">
                <a:extLst>
                  <a:ext uri="{FF2B5EF4-FFF2-40B4-BE49-F238E27FC236}">
                    <a16:creationId xmlns:a16="http://schemas.microsoft.com/office/drawing/2014/main" id="{0F29FF3A-6F9A-8114-419B-2E45D60656CF}"/>
                  </a:ext>
                </a:extLst>
              </p:cNvPr>
              <p:cNvSpPr txBox="1"/>
              <p:nvPr/>
            </p:nvSpPr>
            <p:spPr>
              <a:xfrm>
                <a:off x="8360127" y="3656108"/>
                <a:ext cx="562165" cy="51312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400" b="1" spc="-37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B</a:t>
                </a:r>
                <a:r>
                  <a:rPr lang="en-US" sz="1400" b="1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a</a:t>
                </a:r>
                <a:r>
                  <a:rPr lang="en-US" sz="1400" b="1" spc="4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s</a:t>
                </a:r>
                <a:r>
                  <a:rPr lang="en-US" sz="1400" b="1" spc="-4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h</a:t>
                </a:r>
                <a:endParaRPr lang="en-US" sz="1400" b="1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endParaRPr>
              </a:p>
              <a:p>
                <a:pPr marL="10319" algn="ctr">
                  <a:spcBef>
                    <a:spcPts val="341"/>
                  </a:spcBef>
                </a:pPr>
                <a:r>
                  <a:rPr lang="en-US" sz="1400" spc="-8" noProof="0" dirty="0">
                    <a:solidFill>
                      <a:schemeClr val="bg1">
                        <a:lumMod val="85000"/>
                      </a:schemeClr>
                    </a:solidFill>
                    <a:latin typeface="Segoe UI"/>
                    <a:cs typeface="Segoe UI"/>
                  </a:rPr>
                  <a:t>env</a:t>
                </a:r>
                <a:endParaRPr lang="en-US" sz="1400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4" name="object 12">
                <a:extLst>
                  <a:ext uri="{FF2B5EF4-FFF2-40B4-BE49-F238E27FC236}">
                    <a16:creationId xmlns:a16="http://schemas.microsoft.com/office/drawing/2014/main" id="{4D05D929-6F1B-BADA-3998-C31CED19EA3F}"/>
                  </a:ext>
                </a:extLst>
              </p:cNvPr>
              <p:cNvSpPr/>
              <p:nvPr/>
            </p:nvSpPr>
            <p:spPr>
              <a:xfrm>
                <a:off x="8138297" y="3490710"/>
                <a:ext cx="951590" cy="811678"/>
              </a:xfrm>
              <a:custGeom>
                <a:avLst/>
                <a:gdLst/>
                <a:ahLst/>
                <a:cxnLst/>
                <a:rect l="l" t="t" r="r" b="b"/>
                <a:pathLst>
                  <a:path w="1583690" h="883919">
                    <a:moveTo>
                      <a:pt x="0" y="441960"/>
                    </a:moveTo>
                    <a:lnTo>
                      <a:pt x="9410" y="373607"/>
                    </a:lnTo>
                    <a:lnTo>
                      <a:pt x="36703" y="308557"/>
                    </a:lnTo>
                    <a:lnTo>
                      <a:pt x="80472" y="247594"/>
                    </a:lnTo>
                    <a:lnTo>
                      <a:pt x="108095" y="218891"/>
                    </a:lnTo>
                    <a:lnTo>
                      <a:pt x="139309" y="191505"/>
                    </a:lnTo>
                    <a:lnTo>
                      <a:pt x="173939" y="165533"/>
                    </a:lnTo>
                    <a:lnTo>
                      <a:pt x="211807" y="141075"/>
                    </a:lnTo>
                    <a:lnTo>
                      <a:pt x="252739" y="118228"/>
                    </a:lnTo>
                    <a:lnTo>
                      <a:pt x="296559" y="97091"/>
                    </a:lnTo>
                    <a:lnTo>
                      <a:pt x="343090" y="77762"/>
                    </a:lnTo>
                    <a:lnTo>
                      <a:pt x="392157" y="60339"/>
                    </a:lnTo>
                    <a:lnTo>
                      <a:pt x="443583" y="44920"/>
                    </a:lnTo>
                    <a:lnTo>
                      <a:pt x="497193" y="31603"/>
                    </a:lnTo>
                    <a:lnTo>
                      <a:pt x="552811" y="20488"/>
                    </a:lnTo>
                    <a:lnTo>
                      <a:pt x="610262" y="11672"/>
                    </a:lnTo>
                    <a:lnTo>
                      <a:pt x="669368" y="5253"/>
                    </a:lnTo>
                    <a:lnTo>
                      <a:pt x="729954" y="1329"/>
                    </a:lnTo>
                    <a:lnTo>
                      <a:pt x="791845" y="0"/>
                    </a:lnTo>
                    <a:lnTo>
                      <a:pt x="853719" y="1329"/>
                    </a:lnTo>
                    <a:lnTo>
                      <a:pt x="914292" y="5253"/>
                    </a:lnTo>
                    <a:lnTo>
                      <a:pt x="973387" y="11672"/>
                    </a:lnTo>
                    <a:lnTo>
                      <a:pt x="1030830" y="20488"/>
                    </a:lnTo>
                    <a:lnTo>
                      <a:pt x="1086443" y="31603"/>
                    </a:lnTo>
                    <a:lnTo>
                      <a:pt x="1140050" y="44920"/>
                    </a:lnTo>
                    <a:lnTo>
                      <a:pt x="1191476" y="60339"/>
                    </a:lnTo>
                    <a:lnTo>
                      <a:pt x="1240543" y="77762"/>
                    </a:lnTo>
                    <a:lnTo>
                      <a:pt x="1287077" y="97091"/>
                    </a:lnTo>
                    <a:lnTo>
                      <a:pt x="1330900" y="118228"/>
                    </a:lnTo>
                    <a:lnTo>
                      <a:pt x="1371836" y="141075"/>
                    </a:lnTo>
                    <a:lnTo>
                      <a:pt x="1409710" y="165533"/>
                    </a:lnTo>
                    <a:lnTo>
                      <a:pt x="1444345" y="191505"/>
                    </a:lnTo>
                    <a:lnTo>
                      <a:pt x="1475565" y="218891"/>
                    </a:lnTo>
                    <a:lnTo>
                      <a:pt x="1503194" y="247594"/>
                    </a:lnTo>
                    <a:lnTo>
                      <a:pt x="1527056" y="277515"/>
                    </a:lnTo>
                    <a:lnTo>
                      <a:pt x="1562773" y="340620"/>
                    </a:lnTo>
                    <a:lnTo>
                      <a:pt x="1581307" y="407420"/>
                    </a:lnTo>
                    <a:lnTo>
                      <a:pt x="1583690" y="441960"/>
                    </a:lnTo>
                    <a:lnTo>
                      <a:pt x="1581307" y="476499"/>
                    </a:lnTo>
                    <a:lnTo>
                      <a:pt x="1574276" y="510312"/>
                    </a:lnTo>
                    <a:lnTo>
                      <a:pt x="1546974" y="575362"/>
                    </a:lnTo>
                    <a:lnTo>
                      <a:pt x="1503194" y="636325"/>
                    </a:lnTo>
                    <a:lnTo>
                      <a:pt x="1475565" y="665028"/>
                    </a:lnTo>
                    <a:lnTo>
                      <a:pt x="1444345" y="692414"/>
                    </a:lnTo>
                    <a:lnTo>
                      <a:pt x="1409710" y="718386"/>
                    </a:lnTo>
                    <a:lnTo>
                      <a:pt x="1371836" y="742844"/>
                    </a:lnTo>
                    <a:lnTo>
                      <a:pt x="1330900" y="765691"/>
                    </a:lnTo>
                    <a:lnTo>
                      <a:pt x="1287077" y="786828"/>
                    </a:lnTo>
                    <a:lnTo>
                      <a:pt x="1240543" y="806157"/>
                    </a:lnTo>
                    <a:lnTo>
                      <a:pt x="1191476" y="823580"/>
                    </a:lnTo>
                    <a:lnTo>
                      <a:pt x="1140050" y="838999"/>
                    </a:lnTo>
                    <a:lnTo>
                      <a:pt x="1086443" y="852316"/>
                    </a:lnTo>
                    <a:lnTo>
                      <a:pt x="1030830" y="863431"/>
                    </a:lnTo>
                    <a:lnTo>
                      <a:pt x="973387" y="872247"/>
                    </a:lnTo>
                    <a:lnTo>
                      <a:pt x="914292" y="878666"/>
                    </a:lnTo>
                    <a:lnTo>
                      <a:pt x="853719" y="882590"/>
                    </a:lnTo>
                    <a:lnTo>
                      <a:pt x="791845" y="883920"/>
                    </a:lnTo>
                    <a:lnTo>
                      <a:pt x="729954" y="882590"/>
                    </a:lnTo>
                    <a:lnTo>
                      <a:pt x="669368" y="878666"/>
                    </a:lnTo>
                    <a:lnTo>
                      <a:pt x="610262" y="872247"/>
                    </a:lnTo>
                    <a:lnTo>
                      <a:pt x="552811" y="863431"/>
                    </a:lnTo>
                    <a:lnTo>
                      <a:pt x="497193" y="852316"/>
                    </a:lnTo>
                    <a:lnTo>
                      <a:pt x="443583" y="838999"/>
                    </a:lnTo>
                    <a:lnTo>
                      <a:pt x="392157" y="823580"/>
                    </a:lnTo>
                    <a:lnTo>
                      <a:pt x="343090" y="806157"/>
                    </a:lnTo>
                    <a:lnTo>
                      <a:pt x="296559" y="786828"/>
                    </a:lnTo>
                    <a:lnTo>
                      <a:pt x="252739" y="765691"/>
                    </a:lnTo>
                    <a:lnTo>
                      <a:pt x="211807" y="742844"/>
                    </a:lnTo>
                    <a:lnTo>
                      <a:pt x="173939" y="718386"/>
                    </a:lnTo>
                    <a:lnTo>
                      <a:pt x="139309" y="692414"/>
                    </a:lnTo>
                    <a:lnTo>
                      <a:pt x="108095" y="665028"/>
                    </a:lnTo>
                    <a:lnTo>
                      <a:pt x="80472" y="636325"/>
                    </a:lnTo>
                    <a:lnTo>
                      <a:pt x="56616" y="606404"/>
                    </a:lnTo>
                    <a:lnTo>
                      <a:pt x="20909" y="543299"/>
                    </a:lnTo>
                    <a:lnTo>
                      <a:pt x="2381" y="476499"/>
                    </a:lnTo>
                    <a:lnTo>
                      <a:pt x="0" y="441960"/>
                    </a:lnTo>
                    <a:close/>
                  </a:path>
                </a:pathLst>
              </a:custGeom>
              <a:ln w="12600">
                <a:solidFill>
                  <a:schemeClr val="bg1">
                    <a:lumMod val="8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63836119-B503-0EC3-8F5B-3654EDF26C97}"/>
                  </a:ext>
                </a:extLst>
              </p:cNvPr>
              <p:cNvSpPr/>
              <p:nvPr/>
            </p:nvSpPr>
            <p:spPr>
              <a:xfrm>
                <a:off x="8300814" y="3910455"/>
                <a:ext cx="7253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134">
                    <a:moveTo>
                      <a:pt x="0" y="0"/>
                    </a:moveTo>
                    <a:lnTo>
                      <a:pt x="1207007" y="0"/>
                    </a:lnTo>
                  </a:path>
                </a:pathLst>
              </a:custGeom>
              <a:ln w="12600">
                <a:solidFill>
                  <a:srgbClr val="000066"/>
                </a:solidFill>
              </a:ln>
            </p:spPr>
            <p:txBody>
              <a:bodyPr wrap="square" lIns="0" tIns="0" rIns="0" bIns="0" rtlCol="0"/>
              <a:lstStyle/>
              <a:p>
                <a:endParaRPr lang="en-US" sz="1463" noProof="0" dirty="0"/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2C8612-F181-B366-7C0A-E637A3AD1F45}"/>
                </a:ext>
              </a:extLst>
            </p:cNvPr>
            <p:cNvCxnSpPr>
              <a:cxnSpLocks/>
            </p:cNvCxnSpPr>
            <p:nvPr/>
          </p:nvCxnSpPr>
          <p:spPr>
            <a:xfrm>
              <a:off x="7160298" y="3876671"/>
              <a:ext cx="810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2697858-E349-E598-B3F0-EA3B604DDD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7552" y="4391782"/>
              <a:ext cx="6543" cy="996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bject 9">
              <a:extLst>
                <a:ext uri="{FF2B5EF4-FFF2-40B4-BE49-F238E27FC236}">
                  <a16:creationId xmlns:a16="http://schemas.microsoft.com/office/drawing/2014/main" id="{34E0B54B-E5E8-879B-3A63-51A37870D7CF}"/>
                </a:ext>
              </a:extLst>
            </p:cNvPr>
            <p:cNvSpPr txBox="1"/>
            <p:nvPr/>
          </p:nvSpPr>
          <p:spPr>
            <a:xfrm>
              <a:off x="7101819" y="3509465"/>
              <a:ext cx="951589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fork (clone</a:t>
              </a:r>
              <a:r>
                <a:rPr lang="en-US" sz="1625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)</a:t>
              </a:r>
              <a:endParaRPr lang="en-US" sz="1625" noProof="0" dirty="0">
                <a:solidFill>
                  <a:schemeClr val="bg1">
                    <a:lumMod val="8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9" name="object 9">
              <a:extLst>
                <a:ext uri="{FF2B5EF4-FFF2-40B4-BE49-F238E27FC236}">
                  <a16:creationId xmlns:a16="http://schemas.microsoft.com/office/drawing/2014/main" id="{9FDCD839-8BB0-4A9A-484C-DCFDB39BCC3D}"/>
                </a:ext>
              </a:extLst>
            </p:cNvPr>
            <p:cNvSpPr txBox="1"/>
            <p:nvPr/>
          </p:nvSpPr>
          <p:spPr>
            <a:xfrm rot="5400000">
              <a:off x="8412733" y="4744187"/>
              <a:ext cx="964015" cy="259206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exec </a:t>
              </a:r>
              <a:r>
                <a:rPr lang="en-US" sz="1400" b="1" i="1" spc="-37" noProof="0" dirty="0">
                  <a:solidFill>
                    <a:schemeClr val="bg1">
                      <a:lumMod val="85000"/>
                    </a:schemeClr>
                  </a:solidFill>
                  <a:latin typeface="Segoe UI"/>
                  <a:cs typeface="Segoe UI"/>
                </a:rPr>
                <a:t>ls</a:t>
              </a:r>
              <a:endParaRPr lang="en-US" sz="1400" i="1" noProof="0" dirty="0">
                <a:solidFill>
                  <a:schemeClr val="bg1">
                    <a:lumMod val="85000"/>
                  </a:schemeClr>
                </a:solidFill>
                <a:latin typeface="Segoe UI"/>
                <a:cs typeface="Segoe UI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07DE90-562D-7E6B-2550-94764D297BED}"/>
                </a:ext>
              </a:extLst>
            </p:cNvPr>
            <p:cNvCxnSpPr>
              <a:cxnSpLocks/>
            </p:cNvCxnSpPr>
            <p:nvPr/>
          </p:nvCxnSpPr>
          <p:spPr>
            <a:xfrm>
              <a:off x="6755456" y="4401227"/>
              <a:ext cx="1219706" cy="1245610"/>
            </a:xfrm>
            <a:prstGeom prst="straightConnector1">
              <a:avLst/>
            </a:prstGeom>
            <a:ln w="2222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861C75C7-0DF2-A217-B61B-DE5B01EBD221}"/>
                </a:ext>
              </a:extLst>
            </p:cNvPr>
            <p:cNvSpPr txBox="1"/>
            <p:nvPr/>
          </p:nvSpPr>
          <p:spPr>
            <a:xfrm rot="2742163">
              <a:off x="6662475" y="4840344"/>
              <a:ext cx="964015" cy="286633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400" b="1" spc="-37" noProof="0" dirty="0">
                  <a:solidFill>
                    <a:schemeClr val="accent1"/>
                  </a:solidFill>
                  <a:latin typeface="Segoe UI"/>
                  <a:cs typeface="Segoe UI"/>
                </a:rPr>
                <a:t>SIGHUP</a:t>
              </a:r>
              <a:endParaRPr lang="en-US" sz="1400" noProof="0" dirty="0">
                <a:solidFill>
                  <a:schemeClr val="accent1"/>
                </a:solidFill>
                <a:latin typeface="Segoe UI"/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775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At and batch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0D65863-7E69-7807-BC29-B98330F77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915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09EAC3-0CE7-E56D-B7FB-BCA5D8ACA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Creating at / batch Jobs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spc="-4" noProof="0" dirty="0"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batch</a:t>
            </a:r>
            <a:r>
              <a:rPr lang="en-US" sz="16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z="16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interactively</a:t>
            </a:r>
            <a:r>
              <a:rPr lang="en-US" sz="16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later</a:t>
            </a:r>
            <a:r>
              <a:rPr lang="en-US" sz="16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execution: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at - for a specific time.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batch – no time specified, runs when the system is idle, manipulate jobs with the at commands.</a:t>
            </a:r>
          </a:p>
          <a:p>
            <a:pPr marL="469953" lvl="1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i="1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spc="-12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9803">
              <a:spcBef>
                <a:spcPts val="73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6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6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b="1" spc="-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job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runs:</a:t>
            </a:r>
            <a:endParaRPr lang="en-US" sz="16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600" b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600" b="1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12" noProof="0" dirty="0">
                <a:solidFill>
                  <a:srgbClr val="2D2C2C"/>
                </a:solidFill>
                <a:cs typeface="Segoe UI"/>
              </a:rPr>
              <a:t>stderr</a:t>
            </a:r>
            <a:r>
              <a:rPr lang="en-US" sz="1600" b="1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6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automatically</a:t>
            </a:r>
            <a:r>
              <a:rPr lang="en-US" sz="16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mailed</a:t>
            </a:r>
            <a:r>
              <a:rPr lang="en-US" sz="16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user;</a:t>
            </a:r>
            <a:r>
              <a:rPr lang="en-US" sz="16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12" noProof="0" dirty="0">
                <a:solidFill>
                  <a:srgbClr val="2D2C2C"/>
                </a:solidFill>
                <a:cs typeface="Segoe UI"/>
              </a:rPr>
              <a:t>stdin</a:t>
            </a:r>
            <a:r>
              <a:rPr lang="en-US" sz="1600" b="1" i="1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6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redirected</a:t>
            </a:r>
            <a:r>
              <a:rPr lang="en-US" sz="16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6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6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b="1" spc="-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600" spc="-4" noProof="0" dirty="0">
                <a:solidFill>
                  <a:srgbClr val="2D2C2C"/>
                </a:solidFill>
                <a:cs typeface="Segoe UI"/>
              </a:rPr>
              <a:t>jobs </a:t>
            </a:r>
            <a:r>
              <a:rPr lang="en-US" sz="16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6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stored</a:t>
            </a:r>
            <a:r>
              <a:rPr lang="en-US" sz="16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spc="-8" noProof="0" dirty="0">
                <a:solidFill>
                  <a:srgbClr val="2D2C2C"/>
                </a:solidFill>
                <a:cs typeface="Segoe UI"/>
              </a:rPr>
              <a:t>under</a:t>
            </a:r>
            <a:r>
              <a:rPr lang="en-US" sz="16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6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  <a:r>
              <a:rPr lang="en-US" sz="1600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90588E-7AF0-627A-BA8B-0CB2C21F1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5536414"/>
            <a:ext cx="6770078" cy="66684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-f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job.list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10:00 14.03.2018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Wed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Mar 14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10:00:00</a:t>
            </a:r>
            <a:r>
              <a:rPr lang="en-US" sz="16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2018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3BEB5B6-FC05-F4B7-0169-1A4EC8EB5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888" y="2686503"/>
            <a:ext cx="8163727" cy="110543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>
              <a:spcBef>
                <a:spcPts val="73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 8:00 tomorrow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at&gt;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echo "Meeting at 9:30 today"</a:t>
            </a:r>
          </a:p>
          <a:p>
            <a:pPr>
              <a:spcBef>
                <a:spcPts val="73"/>
              </a:spcBef>
            </a:pPr>
            <a:r>
              <a:rPr lang="en-US" sz="1600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at&gt;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^D</a:t>
            </a:r>
          </a:p>
          <a:p>
            <a:pPr>
              <a:spcBef>
                <a:spcPts val="73"/>
              </a:spcBef>
            </a:pP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warning: commands will be executed using /bin/</a:t>
            </a:r>
            <a:r>
              <a:rPr lang="en-US" sz="1200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job 1 at Wed Mar 14 08:00:00 2018</a:t>
            </a:r>
          </a:p>
        </p:txBody>
      </p:sp>
    </p:spTree>
    <p:extLst>
      <p:ext uri="{BB962C8B-B14F-4D97-AF65-F5344CB8AC3E}">
        <p14:creationId xmlns:p14="http://schemas.microsoft.com/office/powerpoint/2010/main" val="174959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6C445F-B297-B308-B19D-03660A773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Listing at / batch jobs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  <a:tab pos="271486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 all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obs,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i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ng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 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Also,</a:t>
            </a:r>
            <a:r>
              <a:rPr lang="en-US" sz="1800" spc="-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atq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specific job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environment,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–c </a:t>
            </a:r>
            <a:r>
              <a:rPr lang="en-US" sz="1800" b="1" i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jobnumber</a:t>
            </a:r>
            <a:r>
              <a:rPr lang="en-US" spc="-8" noProof="0" dirty="0">
                <a:solidFill>
                  <a:schemeClr val="tx1"/>
                </a:solidFill>
                <a:cs typeface="Segoe UI"/>
              </a:rPr>
              <a:t>.</a:t>
            </a:r>
          </a:p>
          <a:p>
            <a:pPr marL="469953" lvl="1" indent="-280154">
              <a:lnSpc>
                <a:spcPct val="100000"/>
              </a:lnSpc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cs typeface="Segoe UI"/>
              </a:rPr>
              <a:t>Jobs inherit the </a:t>
            </a:r>
            <a:r>
              <a:rPr lang="en-US" sz="1800" noProof="0" dirty="0">
                <a:cs typeface="Segoe UI"/>
              </a:rPr>
              <a:t>current</a:t>
            </a:r>
            <a:r>
              <a:rPr lang="en-US" sz="1800" spc="-73" noProof="0" dirty="0">
                <a:cs typeface="Segoe UI"/>
              </a:rPr>
              <a:t> </a:t>
            </a:r>
            <a:r>
              <a:rPr lang="en-US" sz="1800" spc="-8" noProof="0" dirty="0">
                <a:cs typeface="Segoe UI"/>
              </a:rPr>
              <a:t>environment when created.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3BC5F87-9047-07A5-A0B6-6F4A4A15C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697" y="1919873"/>
            <a:ext cx="6770077" cy="96436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–l</a:t>
            </a:r>
          </a:p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	Wed Nov 03	10:00:00 2021 a 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15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	Wed Nov 03	08:00:00 2021 a 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89A3895-F4F1-7E11-4CCB-249843E4C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696" y="4319566"/>
            <a:ext cx="6770077" cy="195438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"/>
              </a:spcBef>
            </a:pP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#!/bin/sh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81"/>
              </a:spcBef>
              <a:tabLst>
                <a:tab pos="1122164" algn="l"/>
              </a:tabLst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atrun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uid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=1100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gid=1100</a:t>
            </a:r>
          </a:p>
          <a:p>
            <a:pPr marL="10319">
              <a:spcBef>
                <a:spcPts val="81"/>
              </a:spcBef>
              <a:tabLst>
                <a:tab pos="1122164" algn="l"/>
              </a:tabLst>
            </a:pP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mail	</a:t>
            </a:r>
            <a:r>
              <a:rPr lang="en-US" sz="1400" spc="-8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r>
              <a:rPr lang="en-US" sz="14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</a:p>
          <a:p>
            <a:pPr marL="10319"/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umask</a:t>
            </a:r>
            <a:r>
              <a:rPr lang="en-US" sz="14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HOSTNAME=cherry.piecorner.com;</a:t>
            </a:r>
            <a:r>
              <a:rPr lang="en-US" sz="14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HOSTNAME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SHELL=/bin/bash;</a:t>
            </a:r>
            <a:r>
              <a:rPr lang="en-US" sz="1400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HISTSIZE=1000;</a:t>
            </a:r>
            <a:r>
              <a:rPr lang="en-US" sz="14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HISTSIZE [...]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84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82CFE2-1A80-23CB-EBCE-510AAED42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Removing at / batch jobs and seeing the output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  <a:tab pos="3022361" algn="l"/>
                <a:tab pos="3346371" algn="l"/>
              </a:tabLst>
            </a:pPr>
            <a:r>
              <a:rPr lang="en-US" sz="1800" spc="-41" noProof="0" dirty="0">
                <a:solidFill>
                  <a:srgbClr val="2D2C2C"/>
                </a:solidFill>
                <a:cs typeface="Segoe UI"/>
              </a:rPr>
              <a:t>R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m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ve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obs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</a:t>
            </a:r>
            <a:r>
              <a:rPr lang="en-US" sz="1800" b="1" i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US" sz="1800" b="1" i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i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US" sz="1800" b="1" i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US" sz="1800" b="1" i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US" sz="1800" b="1" i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er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Alternatively,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atrm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800" b="1" spc="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read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messages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69953" lvl="1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noProof="0" dirty="0">
                <a:cs typeface="Segoe UI"/>
              </a:rPr>
              <a:t>Output from </a:t>
            </a:r>
            <a:r>
              <a:rPr lang="en-US" sz="1800" noProof="0" dirty="0" err="1">
                <a:cs typeface="Segoe UI"/>
              </a:rPr>
              <a:t>stdout</a:t>
            </a:r>
            <a:r>
              <a:rPr lang="en-US" sz="1800" noProof="0" dirty="0">
                <a:cs typeface="Segoe UI"/>
              </a:rPr>
              <a:t> and stderr of the jobs commands.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0CAF789-397E-63F2-55FC-96072D2A3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915159"/>
            <a:ext cx="624046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-d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6D0770C-1759-D5BD-7C96-B89644BD4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697" y="3839576"/>
            <a:ext cx="6770077" cy="221855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version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12.5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11/5/21.	Type</a:t>
            </a:r>
            <a:r>
              <a:rPr lang="en-US" sz="12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?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help.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"/var/spool/mail/</a:t>
            </a:r>
            <a:r>
              <a:rPr lang="en-US" sz="12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fred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":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messages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200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new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&gt;N	1</a:t>
            </a:r>
            <a:r>
              <a:rPr lang="en-US" sz="1200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Fri…"Output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N	2</a:t>
            </a:r>
            <a:r>
              <a:rPr lang="en-US" sz="1200" spc="-7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Fri…"Output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US" sz="12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</a:t>
            </a:r>
            <a:r>
              <a:rPr lang="en-US" sz="1200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</a:p>
          <a:p>
            <a:pPr marL="10319">
              <a:spcBef>
                <a:spcPts val="73"/>
              </a:spcBef>
            </a:pPr>
            <a:r>
              <a:rPr lang="en-US" sz="1600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p2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Message</a:t>
            </a:r>
            <a:r>
              <a:rPr lang="en-US" sz="12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2: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fred@cherry.piecorner.com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Fri...</a:t>
            </a:r>
            <a:r>
              <a:rPr lang="en-US" sz="12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17:25:01</a:t>
            </a:r>
            <a:r>
              <a:rPr lang="en-US" sz="1200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2021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2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[...]</a:t>
            </a:r>
            <a:endParaRPr lang="en-US" sz="12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</a:t>
            </a:r>
            <a:r>
              <a:rPr lang="en-US" sz="1600" spc="-5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6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AD4D5F-E7EE-7EE6-4EA1-9C159596E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at / batch system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423003" lvl="1" indent="-23320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cs typeface="Segoe UI"/>
              </a:rPr>
              <a:t>(Inclusive)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at.deny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(Exclusive) users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denied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, but the file is ignored if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</a:p>
          <a:p>
            <a:endParaRPr lang="en-US" sz="1800" noProof="0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20CF339-0875-083B-2DF0-3BB39A75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3665776"/>
            <a:ext cx="6770687" cy="64889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 marR="0" lvl="0" indent="0" algn="l" defTabSz="914377" rtl="0" eaLnBrk="1" fontAlgn="auto" latinLnBrk="0" hangingPunct="1">
              <a:lnSpc>
                <a:spcPct val="100000"/>
              </a:lnSpc>
              <a:spcBef>
                <a:spcPts val="14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4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kumimoji="0" lang="en-US" sz="1800" b="0" i="0" u="none" strike="noStrike" kern="1200" cap="none" spc="-2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kumimoji="0" lang="en-US" sz="1800" b="1" i="0" u="none" strike="noStrike" kern="1200" cap="none" spc="-1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kumimoji="0" lang="en-US" sz="1800" b="1" i="0" u="none" strike="noStrike" kern="1200" cap="none" spc="-1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kumimoji="0" lang="en-US" sz="1800" b="1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kumimoji="0" lang="en-US" sz="1800" b="1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/var/spool/at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 marR="0" lvl="0" indent="0" algn="l" defTabSz="914377" rtl="0" eaLnBrk="1" fontAlgn="auto" latinLnBrk="0" hangingPunct="1">
              <a:lnSpc>
                <a:spcPct val="100000"/>
              </a:lnSpc>
              <a:spcBef>
                <a:spcPts val="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-4" noProof="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 err="1">
                <a:solidFill>
                  <a:srgbClr val="FFFF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  1  root   </a:t>
            </a:r>
            <a:r>
              <a:rPr kumimoji="0" lang="en-US" sz="1400" b="0" i="0" u="none" strike="noStrike" kern="1200" cap="none" spc="-4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kumimoji="0" lang="en-US" sz="1400" b="0" i="0" u="none" strike="noStrike" kern="1200" cap="none" spc="-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...	spool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6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cron</a:t>
            </a:r>
            <a:endParaRPr lang="en-US" noProof="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4DC11D4-80D8-190F-7337-8117402B6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326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E91687-474D-E29B-AF55-1BE8FC50E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Scheduling tasks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facility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periodic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intervals.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their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own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schedule,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stored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examined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every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minute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cs typeface="Segoe UI"/>
              </a:rPr>
              <a:t>crond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daemon.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manipulate</a:t>
            </a:r>
            <a:r>
              <a:rPr lang="en-US" sz="1800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schedule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table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with: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cs typeface="Segoe UI"/>
              </a:rPr>
              <a:t>[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user]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Edit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your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table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with: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-28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-e</a:t>
            </a:r>
            <a:r>
              <a:rPr lang="en-US" sz="1800" b="1" spc="-20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[user]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EDITOR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select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editing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extensions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facility.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System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itself,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just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users,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own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sz="1800" b="1" spc="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Time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specification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names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numbers.</a:t>
            </a:r>
            <a:endParaRPr lang="en-US" sz="1800" noProof="0" dirty="0">
              <a:cs typeface="Segoe UI"/>
            </a:endParaRPr>
          </a:p>
          <a:p>
            <a:pPr marL="243007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3397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4D0F9-9E19-4744-8CB6-9C62E48A6F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table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Space/tab-separated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columns:</a:t>
            </a: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Minute of hour (0-59)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Hour of day (0-23)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Day of Month (0-31)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Month of Year (0-12)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Day of Week (0-6) sun=0</a:t>
            </a:r>
            <a:endParaRPr lang="en-US" sz="1800" noProof="0" dirty="0"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 individual columns can have multiple values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(no spaces). </a:t>
            </a: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comma-separated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list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range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values with optional step (</a:t>
            </a:r>
            <a:r>
              <a:rPr lang="en-US" sz="1800" b="1" spc="-12" noProof="0" dirty="0">
                <a:solidFill>
                  <a:srgbClr val="7030A0"/>
                </a:solidFill>
                <a:cs typeface="Segoe UI"/>
              </a:rPr>
              <a:t>1-12/2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every other month)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b="1" spc="-12" noProof="0" dirty="0">
                <a:solidFill>
                  <a:srgbClr val="7030A0"/>
                </a:solidFill>
                <a:cs typeface="Segoe UI"/>
              </a:rPr>
              <a:t>*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- all values in range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C90D67-E9A2-18F9-176D-A6D9DD5D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5021661"/>
            <a:ext cx="6770687" cy="86433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 -l</a:t>
            </a:r>
          </a:p>
          <a:p>
            <a:pPr marL="10319">
              <a:spcBef>
                <a:spcPts val="73"/>
              </a:spcBef>
              <a:tabLst>
                <a:tab pos="628928" algn="l"/>
                <a:tab pos="1124744" algn="l"/>
                <a:tab pos="1620044" algn="l"/>
                <a:tab pos="1991519" algn="l"/>
              </a:tabLst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17	5	*	*	0		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/cleanup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4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tabLst>
                <a:tab pos="628928" algn="l"/>
                <a:tab pos="1124744" algn="l"/>
                <a:tab pos="1620044" algn="l"/>
                <a:tab pos="1991519" algn="l"/>
              </a:tabLst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	2	*	*	0,4		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/lib/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logchecker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74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D0389B-C1FC-E5E0-7C4F-1CEB85156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system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</a:t>
            </a:r>
            <a:r>
              <a:rPr lang="en-US" sz="1800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US" sz="1800" b="1" spc="-16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sz="1800" b="1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ow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cs typeface="Segoe UI"/>
              </a:rPr>
              <a:t>(Inclusive)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allowed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cs typeface="Segoe UI"/>
              </a:rPr>
              <a:t>cron</a:t>
            </a:r>
            <a:endParaRPr lang="en-US" sz="1800" noProof="0" dirty="0">
              <a:cs typeface="Segoe UI"/>
            </a:endParaRP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cron.deny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(Exclusive) users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denied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 err="1">
                <a:solidFill>
                  <a:srgbClr val="0000C7"/>
                </a:solidFill>
                <a:cs typeface="Segoe UI"/>
              </a:rPr>
              <a:t>cron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, but this file is  ignored if the file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cron.allow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423003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kept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endParaRPr lang="en-US" sz="1800" b="1" spc="-8" noProof="0" dirty="0">
              <a:solidFill>
                <a:srgbClr val="0000C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20CF339-0875-083B-2DF0-3BB39A753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8" y="3705779"/>
            <a:ext cx="6770687" cy="87716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146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sudo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-------  1 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...	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adm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rw</a:t>
            </a:r>
            <a:r>
              <a:rPr lang="en-US" sz="14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-------  1  root  sys  ...	root</a:t>
            </a:r>
            <a:endParaRPr lang="en-US" sz="14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63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4B4EA1-27F0-0B74-B5C2-C6112D019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Cron for OS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noProof="0" dirty="0">
                <a:solidFill>
                  <a:schemeClr val="tx1"/>
                </a:solidFill>
              </a:rPr>
              <a:t>The OS </a:t>
            </a:r>
            <a:r>
              <a:rPr lang="en-US" sz="1800" noProof="0" dirty="0">
                <a:solidFill>
                  <a:srgbClr val="0000C8"/>
                </a:solidFill>
              </a:rPr>
              <a:t>crontab</a:t>
            </a:r>
            <a:r>
              <a:rPr lang="en-US" sz="1800" noProof="0" dirty="0">
                <a:solidFill>
                  <a:schemeClr val="tx1"/>
                </a:solidFill>
              </a:rPr>
              <a:t> file 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/crontab</a:t>
            </a:r>
            <a:r>
              <a:rPr lang="en-US" sz="1800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noProof="0" dirty="0">
                <a:solidFill>
                  <a:schemeClr val="tx1"/>
                </a:solidFill>
              </a:rPr>
              <a:t>is slightly different to user crontabs.</a:t>
            </a:r>
          </a:p>
          <a:p>
            <a:pPr lvl="1"/>
            <a:r>
              <a:rPr lang="en-US" sz="1800" noProof="0" dirty="0"/>
              <a:t>The run-parts is used to execute scripts from the given directory...</a:t>
            </a:r>
          </a:p>
          <a:p>
            <a:pPr lvl="1"/>
            <a:r>
              <a:rPr lang="en-US" sz="1800" noProof="0" dirty="0"/>
              <a:t>... according to the specified time.</a:t>
            </a:r>
          </a:p>
          <a:p>
            <a:endParaRPr lang="en-US" sz="1800" noProof="0" dirty="0"/>
          </a:p>
          <a:p>
            <a:endParaRPr lang="en-US" sz="1800" noProof="0" dirty="0"/>
          </a:p>
          <a:p>
            <a:endParaRPr lang="en-US" sz="1800" noProof="0" dirty="0"/>
          </a:p>
          <a:p>
            <a:endParaRPr lang="en-US" sz="1800" noProof="0" dirty="0"/>
          </a:p>
          <a:p>
            <a:pPr lvl="1"/>
            <a:endParaRPr lang="en-US" sz="1800" noProof="0" dirty="0"/>
          </a:p>
          <a:p>
            <a:pPr lvl="1"/>
            <a:endParaRPr lang="en-US" sz="1800" noProof="0" dirty="0"/>
          </a:p>
          <a:p>
            <a:pPr lvl="1"/>
            <a:endParaRPr lang="en-US" sz="1800" noProof="0" dirty="0"/>
          </a:p>
          <a:p>
            <a:r>
              <a:rPr lang="en-US" sz="1800" noProof="0" dirty="0">
                <a:solidFill>
                  <a:schemeClr val="tx1"/>
                </a:solidFill>
              </a:rPr>
              <a:t>System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sz="1800" noProof="0" dirty="0"/>
              <a:t> </a:t>
            </a:r>
            <a:r>
              <a:rPr lang="en-US" sz="1800" noProof="0" dirty="0">
                <a:solidFill>
                  <a:schemeClr val="tx1"/>
                </a:solidFill>
              </a:rPr>
              <a:t>tasks have environment – can be adjusted.</a:t>
            </a:r>
          </a:p>
          <a:p>
            <a:pPr lvl="1"/>
            <a:r>
              <a:rPr lang="en-US" sz="1800" noProof="0" dirty="0"/>
              <a:t>User to run the tasks can also be specified.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7EFA22-9991-7C1F-DC5A-389A147AE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082" y="2645378"/>
            <a:ext cx="6770077" cy="2260875"/>
          </a:xfrm>
          <a:prstGeom prst="rect">
            <a:avLst/>
          </a:prstGeom>
          <a:solidFill>
            <a:srgbClr val="03EAB3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SHELL=/bin/bash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:/bin:/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MAILTO=root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HOME=/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run-parts</a:t>
            </a: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01 * *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cron.hourly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02 4 *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22 4 * * 0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lnSpc>
                <a:spcPct val="110000"/>
              </a:lnSpc>
              <a:buClr>
                <a:srgbClr val="000000"/>
              </a:buClr>
              <a:buSzPct val="100000"/>
              <a:buFont typeface="Courier New" pitchFamily="49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42 4 1 * * root run-parts 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400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endParaRPr lang="en-US" sz="1400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97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9D0C8F-9DC3-6879-BBE0-3A0127FD0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 err="1"/>
              <a:t>anacron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Doesn't miss a job if machine goes down!</a:t>
            </a:r>
          </a:p>
          <a:p>
            <a:pPr lvl="1"/>
            <a:r>
              <a:rPr lang="en-US" noProof="0" dirty="0"/>
              <a:t>Jobs are run when the box starts up again.</a:t>
            </a:r>
          </a:p>
          <a:p>
            <a:pPr lvl="1"/>
            <a:r>
              <a:rPr lang="en-US" noProof="0" dirty="0"/>
              <a:t>Jobs will run according to 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anacrontab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/>
              <a:t>file.</a:t>
            </a:r>
          </a:p>
          <a:p>
            <a:endParaRPr lang="en-US" noProof="0" dirty="0"/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endParaRPr lang="en-US" noProof="0" dirty="0">
              <a:solidFill>
                <a:schemeClr val="tx1"/>
              </a:solidFill>
            </a:endParaRPr>
          </a:p>
          <a:p>
            <a:pPr lvl="1">
              <a:buNone/>
            </a:pPr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>
                <a:solidFill>
                  <a:schemeClr val="tx1"/>
                </a:solidFill>
              </a:rPr>
              <a:t>Timestamp files are created under </a:t>
            </a:r>
            <a:r>
              <a:rPr lang="en-US" b="1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/var/spool/</a:t>
            </a:r>
            <a:r>
              <a:rPr lang="en-US" b="1" noProof="0" dirty="0" err="1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noProof="0" dirty="0"/>
              <a:t>To record last time </a:t>
            </a:r>
            <a:r>
              <a:rPr lang="en-US" b="1" noProof="0" dirty="0" err="1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anacron</a:t>
            </a:r>
            <a:r>
              <a:rPr lang="en-US" noProof="0" dirty="0"/>
              <a:t> job run.</a:t>
            </a:r>
          </a:p>
          <a:p>
            <a:pPr marL="243007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6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600" noProof="0" dirty="0">
              <a:cs typeface="Segoe UI"/>
            </a:endParaRP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7EFA22-9991-7C1F-DC5A-389A147AE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984" y="2911911"/>
            <a:ext cx="7349515" cy="1928733"/>
          </a:xfrm>
          <a:prstGeom prst="rect">
            <a:avLst/>
          </a:prstGeom>
          <a:solidFill>
            <a:srgbClr val="03EAB3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SHELL=/bin/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/local/bin:/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:/bin:/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sbin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/bin</a:t>
            </a: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HOME=/root</a:t>
            </a:r>
          </a:p>
          <a:p>
            <a:pPr defTabSz="449263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LOGNAME=root</a:t>
            </a: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 These replace 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cron's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entries</a:t>
            </a: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	5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cron.daily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	10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cron.weekly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defTabSz="449263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SzPct val="100000"/>
              <a:tabLst>
                <a:tab pos="0" algn="l"/>
                <a:tab pos="914400" algn="l"/>
                <a:tab pos="1379538" algn="l"/>
                <a:tab pos="18288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@monthly	15	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run-parts --report 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cron.monthly</a:t>
            </a:r>
            <a:endParaRPr lang="en-US" sz="12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402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806C43-41BF-EB3B-8717-17607C2DC1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Directories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Files in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</a:t>
            </a:r>
            <a:r>
              <a:rPr lang="en-US" b="1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.*</a:t>
            </a:r>
            <a:r>
              <a:rPr lang="en-US" b="1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solidFill>
                  <a:schemeClr val="tx1"/>
                </a:solidFill>
              </a:rPr>
              <a:t>are ordinary scripts.</a:t>
            </a:r>
          </a:p>
          <a:p>
            <a:pPr lvl="1"/>
            <a:r>
              <a:rPr lang="en-US" noProof="0" dirty="0"/>
              <a:t>Allowed users can add scripts to any list.</a:t>
            </a:r>
          </a:p>
          <a:p>
            <a:pPr lvl="1"/>
            <a:r>
              <a:rPr lang="en-US" noProof="0" dirty="0"/>
              <a:t>Scripts are run in alphabetical order.</a:t>
            </a:r>
            <a:endParaRPr lang="en-US" b="0" noProof="0" dirty="0">
              <a:solidFill>
                <a:srgbClr val="0000C8"/>
              </a:solidFill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20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47B1C4-A005-9486-EC8E-EB89BDDE8B07}"/>
              </a:ext>
            </a:extLst>
          </p:cNvPr>
          <p:cNvGrpSpPr/>
          <p:nvPr/>
        </p:nvGrpSpPr>
        <p:grpSpPr>
          <a:xfrm>
            <a:off x="4030055" y="2464240"/>
            <a:ext cx="7377720" cy="3421760"/>
            <a:chOff x="1470804" y="1920135"/>
            <a:chExt cx="9241428" cy="3421760"/>
          </a:xfrm>
        </p:grpSpPr>
        <p:sp>
          <p:nvSpPr>
            <p:cNvPr id="54" name="Line 63">
              <a:extLst>
                <a:ext uri="{FF2B5EF4-FFF2-40B4-BE49-F238E27FC236}">
                  <a16:creationId xmlns:a16="http://schemas.microsoft.com/office/drawing/2014/main" id="{BF8B0338-3FE3-909D-E2B9-DE91D9CAA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016" y="3070180"/>
              <a:ext cx="0" cy="1246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55" name="Line 26">
              <a:extLst>
                <a:ext uri="{FF2B5EF4-FFF2-40B4-BE49-F238E27FC236}">
                  <a16:creationId xmlns:a16="http://schemas.microsoft.com/office/drawing/2014/main" id="{3695C5B1-BFBE-6EBC-C167-A586735BB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7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6" name="Line 37">
              <a:extLst>
                <a:ext uri="{FF2B5EF4-FFF2-40B4-BE49-F238E27FC236}">
                  <a16:creationId xmlns:a16="http://schemas.microsoft.com/office/drawing/2014/main" id="{8CB8B9E2-F5CB-ABD7-FE04-C807757ED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999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7" name="Line 6">
              <a:extLst>
                <a:ext uri="{FF2B5EF4-FFF2-40B4-BE49-F238E27FC236}">
                  <a16:creationId xmlns:a16="http://schemas.microsoft.com/office/drawing/2014/main" id="{69A30EFC-AB27-AAB7-9D39-8FFD957D9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2687" y="2389143"/>
              <a:ext cx="8659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5C7C9D36-514B-9B6C-EF86-26475E692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4501" y="2173243"/>
              <a:ext cx="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FB4B1D70-E293-9107-AAC9-EC5702781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183" y="1920135"/>
              <a:ext cx="769444" cy="30777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60" name="Rectangle 10">
              <a:extLst>
                <a:ext uri="{FF2B5EF4-FFF2-40B4-BE49-F238E27FC236}">
                  <a16:creationId xmlns:a16="http://schemas.microsoft.com/office/drawing/2014/main" id="{E45A7308-FB50-2CDA-0218-80A5A1A6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558" y="2648469"/>
              <a:ext cx="1371488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</a:t>
              </a:r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.</a:t>
              </a:r>
            </a:p>
            <a:p>
              <a:pPr algn="ctr"/>
              <a:r>
                <a:rPr lang="en-US" sz="14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daily</a:t>
              </a:r>
            </a:p>
          </p:txBody>
        </p:sp>
        <p:sp>
          <p:nvSpPr>
            <p:cNvPr id="62" name="Rectangle 15">
              <a:extLst>
                <a:ext uri="{FF2B5EF4-FFF2-40B4-BE49-F238E27FC236}">
                  <a16:creationId xmlns:a16="http://schemas.microsoft.com/office/drawing/2014/main" id="{45DBF328-226B-E433-94C1-A02C7BF1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9061" y="2631216"/>
              <a:ext cx="1448703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hourly</a:t>
              </a:r>
            </a:p>
          </p:txBody>
        </p:sp>
        <p:sp>
          <p:nvSpPr>
            <p:cNvPr id="63" name="Rectangle 16">
              <a:extLst>
                <a:ext uri="{FF2B5EF4-FFF2-40B4-BE49-F238E27FC236}">
                  <a16:creationId xmlns:a16="http://schemas.microsoft.com/office/drawing/2014/main" id="{3B397178-8A4E-4E21-4963-ECE90BFE9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8978" y="2620452"/>
              <a:ext cx="1189103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monthly</a:t>
              </a:r>
            </a:p>
          </p:txBody>
        </p:sp>
        <p:sp>
          <p:nvSpPr>
            <p:cNvPr id="64" name="Oval 17">
              <a:extLst>
                <a:ext uri="{FF2B5EF4-FFF2-40B4-BE49-F238E27FC236}">
                  <a16:creationId xmlns:a16="http://schemas.microsoft.com/office/drawing/2014/main" id="{8EB7CF7C-AC6E-AAB0-47B2-6D1E031C3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2069" y="2589170"/>
              <a:ext cx="1300163" cy="59213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crontab</a:t>
              </a:r>
            </a:p>
          </p:txBody>
        </p:sp>
        <p:sp>
          <p:nvSpPr>
            <p:cNvPr id="65" name="Line 21">
              <a:extLst>
                <a:ext uri="{FF2B5EF4-FFF2-40B4-BE49-F238E27FC236}">
                  <a16:creationId xmlns:a16="http://schemas.microsoft.com/office/drawing/2014/main" id="{544F4F5C-D76E-1CA8-DC41-8BE345AE0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1789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6" name="Line 23">
              <a:extLst>
                <a:ext uri="{FF2B5EF4-FFF2-40B4-BE49-F238E27FC236}">
                  <a16:creationId xmlns:a16="http://schemas.microsoft.com/office/drawing/2014/main" id="{B88AA62B-94FD-A2DA-B319-D6B585190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5784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id="{EAEAF055-D73D-B11F-BD75-E1CA4A9D1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5635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8" name="Line 25">
              <a:extLst>
                <a:ext uri="{FF2B5EF4-FFF2-40B4-BE49-F238E27FC236}">
                  <a16:creationId xmlns:a16="http://schemas.microsoft.com/office/drawing/2014/main" id="{BC98E66F-5F95-6051-05D8-C30256EB4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4597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69" name="Oval 29">
              <a:extLst>
                <a:ext uri="{FF2B5EF4-FFF2-40B4-BE49-F238E27FC236}">
                  <a16:creationId xmlns:a16="http://schemas.microsoft.com/office/drawing/2014/main" id="{A385E994-2605-6ABB-6724-3D2A6B1E8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568" y="4117930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certwatch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0" name="Oval 30">
              <a:extLst>
                <a:ext uri="{FF2B5EF4-FFF2-40B4-BE49-F238E27FC236}">
                  <a16:creationId xmlns:a16="http://schemas.microsoft.com/office/drawing/2014/main" id="{AD2C8D23-CE79-E2E1-1CFF-D39CA50BF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204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</a:p>
          </p:txBody>
        </p:sp>
        <p:sp>
          <p:nvSpPr>
            <p:cNvPr id="71" name="Oval 31">
              <a:extLst>
                <a:ext uri="{FF2B5EF4-FFF2-40B4-BE49-F238E27FC236}">
                  <a16:creationId xmlns:a16="http://schemas.microsoft.com/office/drawing/2014/main" id="{2BA83B2C-DECB-59A6-7CAC-82C21D43F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568" y="4808493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cups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2" name="Line 32">
              <a:extLst>
                <a:ext uri="{FF2B5EF4-FFF2-40B4-BE49-F238E27FC236}">
                  <a16:creationId xmlns:a16="http://schemas.microsoft.com/office/drawing/2014/main" id="{85BF3572-05D5-D638-1659-BA6817C6B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9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3" name="Line 33">
              <a:extLst>
                <a:ext uri="{FF2B5EF4-FFF2-40B4-BE49-F238E27FC236}">
                  <a16:creationId xmlns:a16="http://schemas.microsoft.com/office/drawing/2014/main" id="{501C5B76-A96C-E37B-7755-276FFDFD8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8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4" name="Line 34">
              <a:extLst>
                <a:ext uri="{FF2B5EF4-FFF2-40B4-BE49-F238E27FC236}">
                  <a16:creationId xmlns:a16="http://schemas.microsoft.com/office/drawing/2014/main" id="{89A074CD-3717-873E-DC5D-8F8DBC896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5149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5" name="Oval 38">
              <a:extLst>
                <a:ext uri="{FF2B5EF4-FFF2-40B4-BE49-F238E27FC236}">
                  <a16:creationId xmlns:a16="http://schemas.microsoft.com/office/drawing/2014/main" id="{0B811C48-ADC3-4F98-DEC0-810159D16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419" y="4117930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nntpsend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6" name="Oval 39">
              <a:extLst>
                <a:ext uri="{FF2B5EF4-FFF2-40B4-BE49-F238E27FC236}">
                  <a16:creationId xmlns:a16="http://schemas.microsoft.com/office/drawing/2014/main" id="{BC8051C5-7240-0FC3-E559-16FE21825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1055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inn-</a:t>
              </a: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7" name="Oval 40">
              <a:extLst>
                <a:ext uri="{FF2B5EF4-FFF2-40B4-BE49-F238E27FC236}">
                  <a16:creationId xmlns:a16="http://schemas.microsoft.com/office/drawing/2014/main" id="{3E7C2CF7-0C7C-F34B-3DF1-37A3D07EA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419" y="4808493"/>
              <a:ext cx="1227931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rnews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78" name="Line 41">
              <a:extLst>
                <a:ext uri="{FF2B5EF4-FFF2-40B4-BE49-F238E27FC236}">
                  <a16:creationId xmlns:a16="http://schemas.microsoft.com/office/drawing/2014/main" id="{778829B9-E12C-C9D5-FD23-1C2A3661B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000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79" name="Line 42">
              <a:extLst>
                <a:ext uri="{FF2B5EF4-FFF2-40B4-BE49-F238E27FC236}">
                  <a16:creationId xmlns:a16="http://schemas.microsoft.com/office/drawing/2014/main" id="{8974A5D2-F439-2A9F-A717-955D71229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999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0" name="Line 43">
              <a:extLst>
                <a:ext uri="{FF2B5EF4-FFF2-40B4-BE49-F238E27FC236}">
                  <a16:creationId xmlns:a16="http://schemas.microsoft.com/office/drawing/2014/main" id="{FA1D03F4-9908-3EB2-629C-C28A2B7AB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000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1" name="Line 45">
              <a:extLst>
                <a:ext uri="{FF2B5EF4-FFF2-40B4-BE49-F238E27FC236}">
                  <a16:creationId xmlns:a16="http://schemas.microsoft.com/office/drawing/2014/main" id="{EF6D4DA8-F2E0-6D6D-FC01-567E23B2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0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2" name="Oval 46">
              <a:extLst>
                <a:ext uri="{FF2B5EF4-FFF2-40B4-BE49-F238E27FC236}">
                  <a16:creationId xmlns:a16="http://schemas.microsoft.com/office/drawing/2014/main" id="{0C0604F5-DFA9-BE5B-972D-90207066E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379" y="4117930"/>
              <a:ext cx="1369478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mybackup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3" name="Oval 47">
              <a:extLst>
                <a:ext uri="{FF2B5EF4-FFF2-40B4-BE49-F238E27FC236}">
                  <a16:creationId xmlns:a16="http://schemas.microsoft.com/office/drawing/2014/main" id="{F9072134-E4D5-B5EF-7C5C-E3BAFFA47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016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4" name="Oval 48">
              <a:extLst>
                <a:ext uri="{FF2B5EF4-FFF2-40B4-BE49-F238E27FC236}">
                  <a16:creationId xmlns:a16="http://schemas.microsoft.com/office/drawing/2014/main" id="{66010318-D889-34A5-BD1A-D79FCE2B8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379" y="4808493"/>
              <a:ext cx="1369478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mytidyup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85" name="Line 49">
              <a:extLst>
                <a:ext uri="{FF2B5EF4-FFF2-40B4-BE49-F238E27FC236}">
                  <a16:creationId xmlns:a16="http://schemas.microsoft.com/office/drawing/2014/main" id="{9AA7DA1D-8CE4-C095-9DE8-897DE262F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1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6" name="Line 50">
              <a:extLst>
                <a:ext uri="{FF2B5EF4-FFF2-40B4-BE49-F238E27FC236}">
                  <a16:creationId xmlns:a16="http://schemas.microsoft.com/office/drawing/2014/main" id="{3754CDF9-D856-14CF-B6B1-638B4766D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0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7" name="Line 51">
              <a:extLst>
                <a:ext uri="{FF2B5EF4-FFF2-40B4-BE49-F238E27FC236}">
                  <a16:creationId xmlns:a16="http://schemas.microsoft.com/office/drawing/2014/main" id="{58ABE0D6-E236-0EE0-2BE5-D90A360A0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3961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88" name="Line 53">
              <a:extLst>
                <a:ext uri="{FF2B5EF4-FFF2-40B4-BE49-F238E27FC236}">
                  <a16:creationId xmlns:a16="http://schemas.microsoft.com/office/drawing/2014/main" id="{FACF8667-278E-5A93-D6DD-538C80F8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3" y="3070182"/>
              <a:ext cx="0" cy="22717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89" name="Oval 54">
              <a:extLst>
                <a:ext uri="{FF2B5EF4-FFF2-40B4-BE49-F238E27FC236}">
                  <a16:creationId xmlns:a16="http://schemas.microsoft.com/office/drawing/2014/main" id="{64CC7C80-AE10-9F6D-48EB-F039123E8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4787855"/>
              <a:ext cx="1435655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makewhatis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0" name="Oval 55">
              <a:extLst>
                <a:ext uri="{FF2B5EF4-FFF2-40B4-BE49-F238E27FC236}">
                  <a16:creationId xmlns:a16="http://schemas.microsoft.com/office/drawing/2014/main" id="{C1444BD1-BBD4-46B4-0D23-EE9880818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0anacron</a:t>
              </a:r>
              <a:endParaRPr lang="en-US" sz="18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1" name="Oval 56">
              <a:extLst>
                <a:ext uri="{FF2B5EF4-FFF2-40B4-BE49-F238E27FC236}">
                  <a16:creationId xmlns:a16="http://schemas.microsoft.com/office/drawing/2014/main" id="{7906320E-20F8-415F-DD49-B30C16963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3760" y="4117930"/>
              <a:ext cx="1418402" cy="53340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incrbackup</a:t>
              </a:r>
              <a:endParaRPr lang="en-US" sz="14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2" name="Line 57">
              <a:extLst>
                <a:ext uri="{FF2B5EF4-FFF2-40B4-BE49-F238E27FC236}">
                  <a16:creationId xmlns:a16="http://schemas.microsoft.com/office/drawing/2014/main" id="{5F89D9CC-C9B3-7575-5DC2-31EE8C572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3" name="Line 58">
              <a:extLst>
                <a:ext uri="{FF2B5EF4-FFF2-40B4-BE49-F238E27FC236}">
                  <a16:creationId xmlns:a16="http://schemas.microsoft.com/office/drawing/2014/main" id="{708791F9-6BE4-E83B-9A27-E032334FE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4405268"/>
              <a:ext cx="196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4" name="Line 59">
              <a:extLst>
                <a:ext uri="{FF2B5EF4-FFF2-40B4-BE49-F238E27FC236}">
                  <a16:creationId xmlns:a16="http://schemas.microsoft.com/office/drawing/2014/main" id="{783DAF98-5C11-C6F9-4B53-B4F46DF00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7704" y="5054555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5" name="Rectangle 60">
              <a:extLst>
                <a:ext uri="{FF2B5EF4-FFF2-40B4-BE49-F238E27FC236}">
                  <a16:creationId xmlns:a16="http://schemas.microsoft.com/office/drawing/2014/main" id="{1E304A50-8555-3487-F75E-A4904746A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563" y="2756191"/>
              <a:ext cx="1139507" cy="30777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cron.d</a:t>
              </a:r>
              <a:endParaRPr lang="en-US" sz="14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6" name="Line 61">
              <a:extLst>
                <a:ext uri="{FF2B5EF4-FFF2-40B4-BE49-F238E27FC236}">
                  <a16:creationId xmlns:a16="http://schemas.microsoft.com/office/drawing/2014/main" id="{E25F9C61-36B1-F960-6A7A-58F61302D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1938" y="2389143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97" name="Oval 65">
              <a:extLst>
                <a:ext uri="{FF2B5EF4-FFF2-40B4-BE49-F238E27FC236}">
                  <a16:creationId xmlns:a16="http://schemas.microsoft.com/office/drawing/2014/main" id="{79BEFE12-3342-B420-0C44-8AF16E582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353" y="3454357"/>
              <a:ext cx="1207294" cy="4476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triangl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400" noProof="0" dirty="0" err="1">
                  <a:solidFill>
                    <a:srgbClr val="0000C8"/>
                  </a:solidFill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sa.update</a:t>
              </a:r>
              <a:endParaRPr lang="en-US" sz="1400" noProof="0" dirty="0">
                <a:solidFill>
                  <a:srgbClr val="0000C8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98" name="Line 67">
              <a:extLst>
                <a:ext uri="{FF2B5EF4-FFF2-40B4-BE49-F238E27FC236}">
                  <a16:creationId xmlns:a16="http://schemas.microsoft.com/office/drawing/2014/main" id="{D58C5661-CC45-A6D7-D968-6C2204276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5298" y="3686130"/>
              <a:ext cx="17541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/>
            <a:p>
              <a:endParaRPr lang="en-US" noProof="0" dirty="0"/>
            </a:p>
          </p:txBody>
        </p:sp>
        <p:sp>
          <p:nvSpPr>
            <p:cNvPr id="99" name="Line 71">
              <a:extLst>
                <a:ext uri="{FF2B5EF4-FFF2-40B4-BE49-F238E27FC236}">
                  <a16:creationId xmlns:a16="http://schemas.microsoft.com/office/drawing/2014/main" id="{A08004F6-F7A8-09F8-5301-0CA4E7149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0556" y="2389145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100" name="Cloud Callout 51">
              <a:extLst>
                <a:ext uri="{FF2B5EF4-FFF2-40B4-BE49-F238E27FC236}">
                  <a16:creationId xmlns:a16="http://schemas.microsoft.com/office/drawing/2014/main" id="{7053BCD5-476D-9EB0-482E-DB3B3EDEA1E5}"/>
                </a:ext>
              </a:extLst>
            </p:cNvPr>
            <p:cNvSpPr/>
            <p:nvPr/>
          </p:nvSpPr>
          <p:spPr>
            <a:xfrm>
              <a:off x="1470804" y="4347716"/>
              <a:ext cx="1500997" cy="569343"/>
            </a:xfrm>
            <a:prstGeom prst="cloudCallout">
              <a:avLst>
                <a:gd name="adj1" fmla="val -27896"/>
                <a:gd name="adj2" fmla="val -99896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miter lim="800000"/>
              <a:headEnd/>
              <a:tailEnd type="none"/>
            </a:ln>
            <a:effectLst/>
          </p:spPr>
          <p:txBody>
            <a:bodyPr wrap="none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600" noProof="0" dirty="0">
                  <a:ea typeface="Verdana" pitchFamily="34" charset="0"/>
                  <a:cs typeface="Verdana" pitchFamily="34" charset="0"/>
                </a:rPr>
                <a:t>assorted</a:t>
              </a:r>
            </a:p>
          </p:txBody>
        </p:sp>
        <p:sp>
          <p:nvSpPr>
            <p:cNvPr id="61" name="Rectangle 14">
              <a:extLst>
                <a:ext uri="{FF2B5EF4-FFF2-40B4-BE49-F238E27FC236}">
                  <a16:creationId xmlns:a16="http://schemas.microsoft.com/office/drawing/2014/main" id="{C6C9B0FF-29D9-F3B4-C50A-79A35CE40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5633" y="2620452"/>
              <a:ext cx="1018428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noProof="0" dirty="0" err="1"/>
                <a:t>cron</a:t>
              </a:r>
              <a:r>
                <a:rPr lang="en-US" sz="1400" noProof="0" dirty="0"/>
                <a:t>.</a:t>
              </a:r>
            </a:p>
            <a:p>
              <a:pPr algn="ctr"/>
              <a:r>
                <a:rPr lang="en-US" sz="1400" noProof="0" dirty="0"/>
                <a:t>weekly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70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3CA3BA-D737-2AE6-FB0A-8FC4F9E156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56A5615-34FC-854E-08B5-6AD18C2A04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92252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ACFB6C-7984-FF44-6BD7-ACC6C48E1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the access control files for the at and batch tools? 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can you do with a task stopped in the background?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Who is allowed to use the at command?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two daemons looking after scheduled tasks?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directory branch would you search to locate the at, batch and user-based </a:t>
            </a:r>
            <a:r>
              <a:rPr lang="en-US" sz="1800" noProof="0" dirty="0" err="1"/>
              <a:t>cron</a:t>
            </a:r>
            <a:r>
              <a:rPr lang="en-US" sz="1800" noProof="0" dirty="0"/>
              <a:t> spool files?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main difference between the </a:t>
            </a:r>
            <a:r>
              <a:rPr lang="en-US" sz="1800" noProof="0" dirty="0" err="1"/>
              <a:t>cron</a:t>
            </a:r>
            <a:r>
              <a:rPr lang="en-US" sz="1800" noProof="0" dirty="0"/>
              <a:t> and the </a:t>
            </a:r>
            <a:r>
              <a:rPr lang="en-US" sz="1800" noProof="0" dirty="0" err="1"/>
              <a:t>anacron</a:t>
            </a:r>
            <a:r>
              <a:rPr lang="en-US" sz="1800" noProof="0" dirty="0"/>
              <a:t> task scheduling methods?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197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E2EF33-23A1-2676-9EBC-C05ABDEEA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10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525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0A59D-D701-0A61-F252-8FA342EA5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Background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tasks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release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session.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you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get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prompt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without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waiting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exit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commands:</a:t>
            </a:r>
            <a:r>
              <a:rPr lang="en-US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jobs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fg</a:t>
            </a:r>
            <a:r>
              <a:rPr lang="en-US" spc="-8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12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bg</a:t>
            </a:r>
            <a:r>
              <a:rPr lang="en-US" spc="-12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pc="20" noProof="0" dirty="0">
                <a:solidFill>
                  <a:srgbClr val="2D2C2C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kill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nohup</a:t>
            </a:r>
            <a:r>
              <a:rPr lang="en-US" b="1" spc="20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log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out,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leaving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task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attached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your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current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parent</a:t>
            </a:r>
            <a:endParaRPr lang="en-US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12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tool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defer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task.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12" noProof="0" dirty="0">
                <a:solidFill>
                  <a:srgbClr val="2D2C2C"/>
                </a:solidFill>
                <a:cs typeface="Segoe UI"/>
              </a:rPr>
              <a:t>Associated</a:t>
            </a:r>
            <a:r>
              <a:rPr lang="en-US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commands:</a:t>
            </a:r>
            <a:r>
              <a:rPr lang="en-US" spc="6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-l,</a:t>
            </a:r>
            <a:r>
              <a:rPr lang="en-US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at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–r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 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'allow'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'deny'</a:t>
            </a:r>
            <a:r>
              <a:rPr lang="en-US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endParaRPr lang="en-US" noProof="0" dirty="0"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crontab</a:t>
            </a:r>
            <a:r>
              <a:rPr lang="en-US" b="1" spc="33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submit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jobs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repeated</a:t>
            </a:r>
            <a:r>
              <a:rPr lang="en-US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execution.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Configuration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under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endParaRPr lang="en-US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Access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by 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'allow'</a:t>
            </a:r>
            <a:r>
              <a:rPr lang="en-US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'deny'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files</a:t>
            </a:r>
            <a:endParaRPr lang="en-US" noProof="0" dirty="0">
              <a:cs typeface="Segoe UI"/>
            </a:endParaRPr>
          </a:p>
          <a:p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78334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Yello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19299</TotalTime>
  <Words>4114</Words>
  <Application>Microsoft Office PowerPoint</Application>
  <PresentationFormat>Widescreen</PresentationFormat>
  <Paragraphs>452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Aptos</vt:lpstr>
      <vt:lpstr>Arial</vt:lpstr>
      <vt:lpstr>Courier New</vt:lpstr>
      <vt:lpstr>Figtree</vt:lpstr>
      <vt:lpstr>Hack</vt:lpstr>
      <vt:lpstr>Montserrat</vt:lpstr>
      <vt:lpstr>Segoe UI</vt:lpstr>
      <vt:lpstr>Verdana</vt:lpstr>
      <vt:lpstr>Cover Slides - Business/Marketing</vt:lpstr>
      <vt:lpstr>Divider Slides</vt:lpstr>
      <vt:lpstr>Yellow Module</vt:lpstr>
      <vt:lpstr>Purple Module</vt:lpstr>
      <vt:lpstr>Orange Module</vt:lpstr>
      <vt:lpstr>Green Module</vt:lpstr>
      <vt:lpstr>B/W Module</vt:lpstr>
      <vt:lpstr>Module 10: Job control</vt:lpstr>
      <vt:lpstr>Contents</vt:lpstr>
      <vt:lpstr>Background tasks</vt:lpstr>
      <vt:lpstr>Foreground and stopped tasks</vt:lpstr>
      <vt:lpstr>Background tasks</vt:lpstr>
      <vt:lpstr>Listing background tasks</vt:lpstr>
      <vt:lpstr>Manipulating background tasks</vt:lpstr>
      <vt:lpstr>Separating tasks from the terminal</vt:lpstr>
      <vt:lpstr>At and batch</vt:lpstr>
      <vt:lpstr>Creating at / batch Jobs</vt:lpstr>
      <vt:lpstr>Listing at / batch jobs</vt:lpstr>
      <vt:lpstr>Removing at / batch jobs and seeing the output</vt:lpstr>
      <vt:lpstr>at / batch system files</vt:lpstr>
      <vt:lpstr>cron</vt:lpstr>
      <vt:lpstr>Scheduling tasks</vt:lpstr>
      <vt:lpstr>Cron table</vt:lpstr>
      <vt:lpstr>Cron system files</vt:lpstr>
      <vt:lpstr>Cron for OS</vt:lpstr>
      <vt:lpstr>anacron</vt:lpstr>
      <vt:lpstr>Directories</vt:lpstr>
      <vt:lpstr>Review and lab</vt:lpstr>
      <vt:lpstr>Review questions</vt:lpstr>
      <vt:lpstr>Practical exercise 10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Feist, Ella</cp:lastModifiedBy>
  <cp:revision>40</cp:revision>
  <dcterms:created xsi:type="dcterms:W3CDTF">2024-06-24T11:44:08Z</dcterms:created>
  <dcterms:modified xsi:type="dcterms:W3CDTF">2025-05-30T13:02:10Z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