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85" r:id="rId7"/>
    <p:sldMasterId id="2147483897" r:id="rId8"/>
    <p:sldMasterId id="2147483908" r:id="rId9"/>
    <p:sldMasterId id="2147483930" r:id="rId10"/>
  </p:sldMasterIdLst>
  <p:notesMasterIdLst>
    <p:notesMasterId r:id="rId33"/>
  </p:notesMasterIdLst>
  <p:sldIdLst>
    <p:sldId id="1348" r:id="rId11"/>
    <p:sldId id="1349" r:id="rId12"/>
    <p:sldId id="1350" r:id="rId13"/>
    <p:sldId id="1351" r:id="rId14"/>
    <p:sldId id="1352" r:id="rId15"/>
    <p:sldId id="1353" r:id="rId16"/>
    <p:sldId id="1354" r:id="rId17"/>
    <p:sldId id="1355" r:id="rId18"/>
    <p:sldId id="1357" r:id="rId19"/>
    <p:sldId id="1356" r:id="rId20"/>
    <p:sldId id="1358" r:id="rId21"/>
    <p:sldId id="1368" r:id="rId22"/>
    <p:sldId id="1359" r:id="rId23"/>
    <p:sldId id="1360" r:id="rId24"/>
    <p:sldId id="1361" r:id="rId25"/>
    <p:sldId id="1362" r:id="rId26"/>
    <p:sldId id="1363" r:id="rId27"/>
    <p:sldId id="1369" r:id="rId28"/>
    <p:sldId id="1364" r:id="rId29"/>
    <p:sldId id="1365" r:id="rId30"/>
    <p:sldId id="1366" r:id="rId31"/>
    <p:sldId id="13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48"/>
            <p14:sldId id="1349"/>
            <p14:sldId id="1350"/>
            <p14:sldId id="1351"/>
            <p14:sldId id="1352"/>
            <p14:sldId id="1353"/>
            <p14:sldId id="1354"/>
            <p14:sldId id="1355"/>
            <p14:sldId id="1357"/>
            <p14:sldId id="1356"/>
            <p14:sldId id="1358"/>
            <p14:sldId id="1368"/>
            <p14:sldId id="1359"/>
            <p14:sldId id="1360"/>
            <p14:sldId id="1361"/>
            <p14:sldId id="1362"/>
            <p14:sldId id="1363"/>
            <p14:sldId id="1369"/>
            <p14:sldId id="1364"/>
            <p14:sldId id="1365"/>
            <p14:sldId id="1366"/>
            <p14:sldId id="1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540A3-C4D2-4260-B34D-C94A839A9FC3}" v="1" dt="2025-05-30T13:21:34.07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0565"/>
    <p:restoredTop sz="96283" autoAdjust="0"/>
  </p:normalViewPr>
  <p:slideViewPr>
    <p:cSldViewPr snapToGrid="0">
      <p:cViewPr varScale="1">
        <p:scale>
          <a:sx n="104" d="100"/>
          <a:sy n="104" d="100"/>
        </p:scale>
        <p:origin x="1128" y="31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10" d="100"/>
          <a:sy n="110" d="100"/>
        </p:scale>
        <p:origin x="3348" y="-6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985540A3-C4D2-4260-B34D-C94A839A9FC3}"/>
    <pc:docChg chg="modSld">
      <pc:chgData name="Feist, Ella" userId="992bbaf2-811d-42cb-a4d6-e7fc45e325e8" providerId="ADAL" clId="{985540A3-C4D2-4260-B34D-C94A839A9FC3}" dt="2025-05-30T13:21:47.173" v="31" actId="207"/>
      <pc:docMkLst>
        <pc:docMk/>
      </pc:docMkLst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874807017" sldId="134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874807017" sldId="1348"/>
            <ac:spMk id="2" creationId="{532264FE-6672-2687-981C-32F2BB9E07A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874807017" sldId="1348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2874807017" sldId="1348"/>
            <ac:graphicFrameMk id="3" creationId="{00D4D7A8-CBA5-5C0D-C1F9-A1D43D15BF58}"/>
          </ac:graphicFrameMkLst>
        </pc:graphicFrame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746956625" sldId="134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46956625" sldId="1349"/>
            <ac:spMk id="4" creationId="{00000000-0000-0000-0000-00000000000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46956625" sldId="134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3585684940" sldId="1350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585684940" sldId="1350"/>
            <ac:spMk id="2" creationId="{1FA88374-C864-0D75-3E49-309396D6D1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585684940" sldId="135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38.844" v="6" actId="20577"/>
        <pc:sldMkLst>
          <pc:docMk/>
          <pc:sldMk cId="1150994584" sldId="1351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2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3" creationId="{94403518-D536-9920-C84C-2AAC81259B1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7" creationId="{631D0C9F-975A-9AD3-2CB5-43207A0FD663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49.508" v="8" actId="20577"/>
        <pc:sldMkLst>
          <pc:docMk/>
          <pc:sldMk cId="2233155761" sldId="1352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2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3" creationId="{0B462B0B-9CB4-B479-4D63-80ED49E8C6E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4" creationId="{09684DF6-A797-2D94-3540-71DE07DBBE0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9" creationId="{C254ABDF-F115-A7CC-E5EF-32DAB4D2153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10" creationId="{D2A9B2A9-A4C3-C411-4881-92DD8A68F426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1244583006" sldId="1353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244583006" sldId="1353"/>
            <ac:spMk id="2" creationId="{74C949AA-0D8B-4BE5-FD7C-21D73C04CC1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244583006" sldId="1353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57.097" v="11" actId="20577"/>
        <pc:sldMkLst>
          <pc:docMk/>
          <pc:sldMk cId="266840811" sldId="1354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3" creationId="{4BF43FF9-6FE6-746A-A814-43EE03E3D1D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4" creationId="{503D0682-B34D-93E6-3EFD-BAD9FA1EF4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266840811" sldId="1354"/>
            <ac:graphicFrameMk id="8" creationId="{8C69168D-A855-A383-5B5C-4816F5069352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05.446" v="15" actId="20577"/>
        <pc:sldMkLst>
          <pc:docMk/>
          <pc:sldMk cId="3792086289" sldId="1355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792086289" sldId="1355"/>
            <ac:spMk id="2" creationId="{503D0682-B34D-93E6-3EFD-BAD9FA1EF4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792086289" sldId="1355"/>
            <ac:spMk id="5" creationId="{4D8BBB89-021F-E901-E8F8-0245C687FB14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3792086289" sldId="1355"/>
            <ac:graphicFrameMk id="7" creationId="{B49E8BD5-36E1-CAC0-31C5-396C0F2D7EAE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18.375" v="22" actId="20577"/>
        <pc:sldMkLst>
          <pc:docMk/>
          <pc:sldMk cId="4103979315" sldId="1356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3" creationId="{1CB06704-51BB-4AEC-FE08-722708891C3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7" creationId="{F5572073-17B8-92C4-124F-89D46CFA599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103979315" sldId="1356"/>
            <ac:graphicFrameMk id="4" creationId="{9BA6938C-1FD4-7A3F-B446-CF13ABF798EE}"/>
          </ac:graphicFrameMkLst>
        </pc:graphicFrame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103979315" sldId="1356"/>
            <ac:graphicFrameMk id="6" creationId="{58198A10-DFD5-B655-59E6-0341661822A2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12.447" v="18" actId="20577"/>
        <pc:sldMkLst>
          <pc:docMk/>
          <pc:sldMk cId="3451709732" sldId="1357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3" creationId="{2F8C6E7F-B15B-A003-02A5-B5E6609C3EB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4" creationId="{CD095681-DDEA-8AA4-C73E-539C9591271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7" creationId="{F5C6EAA0-96DD-BA6D-4674-BDA019E1BCB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9" creationId="{E1F2A9FB-7575-4187-F76F-DCC57C517C5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10" creationId="{236E8674-D5A9-A6C1-95DD-2DBA9B64B79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11" creationId="{F7A4C6AF-CE62-9645-0A9A-E174D956E2D0}"/>
          </ac:spMkLst>
        </pc:spChg>
      </pc:sldChg>
      <pc:sldChg chg="modSp mod modNotes">
        <pc:chgData name="Feist, Ella" userId="992bbaf2-811d-42cb-a4d6-e7fc45e325e8" providerId="ADAL" clId="{985540A3-C4D2-4260-B34D-C94A839A9FC3}" dt="2025-05-30T13:21:34.073" v="28"/>
        <pc:sldMkLst>
          <pc:docMk/>
          <pc:sldMk cId="1747896560" sldId="135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4" creationId="{A20FFC4B-3FEA-3C42-77D3-1CA1D5C88B7A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6" creationId="{FBAF2F29-D93F-9F55-B8C2-61C9804BB1E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7" creationId="{6C1B2A99-4F7C-8FF4-66B2-C11F828CFE8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8" creationId="{E1A84B08-D46E-7316-8728-DA1D67C11D6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0" creationId="{DE8BBA5B-DED5-E888-6C43-5E6455F42F8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1" creationId="{CB3DCCC8-11DF-4E58-0191-02EEB4F5F3D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2" creationId="{50118EB7-BDF1-41E6-8B26-5DB85A2ECB1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3" creationId="{A8FB7C20-2B13-7594-CB47-885388464383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4" creationId="{8D3177EA-B07B-4E9E-9F6B-A421E248EE9B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656606700" sldId="135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5" creationId="{C5713EBC-794F-D13B-2571-57F7B4E7C224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1413290539" sldId="1360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413290539" sldId="1360"/>
            <ac:spMk id="2" creationId="{421A2C58-0860-BAEF-4561-17E6E2C54C1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413290539" sldId="136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1:41.574" v="29" actId="207"/>
        <pc:sldMkLst>
          <pc:docMk/>
          <pc:sldMk cId="718006022" sldId="1361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3" creationId="{F871EE56-DAE1-578E-0155-1387F2112AE5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4" creationId="{A6A80F4B-FF0C-66F5-54D5-B06D0735549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12" creationId="{B98789E9-6821-A381-C07A-9327C35A0B8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13" creationId="{7A535746-C6B2-1F69-0E20-580F85290140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4243840425" sldId="1362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3" creationId="{89FF1104-E35C-23DC-0149-0919F1BBF89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4" creationId="{BEB50B82-1507-CBB0-C88D-C53C2A8BDAF9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243840425" sldId="1362"/>
            <ac:graphicFrameMk id="6" creationId="{FF312757-6D09-A86C-231A-27AA90A26303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47.173" v="31" actId="207"/>
        <pc:sldMkLst>
          <pc:docMk/>
          <pc:sldMk cId="2629841134" sldId="1363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3" creationId="{B0068DE4-798B-3530-FCC2-DC405E5A8EE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4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7" creationId="{1B785F68-BBA5-3290-EFC7-C802246A8944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10" creationId="{797BC860-4017-7EF3-39D2-44459E0D08B3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090829791" sldId="1364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7" creationId="{0D805FE6-F763-6DAD-13B8-6EA96FDBD97F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3920355103" sldId="1365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5" creationId="{EE9950E1-6EEB-FA59-EB9E-8001CE9E80A1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733323062" sldId="1366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2" creationId="{F111C5DB-635E-4576-A4C3-837B7E452E1E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3" creationId="{C37D9901-C939-FC85-F8FD-317465ED414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592079054" sldId="1367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2" creationId="{DDD5B18A-7297-7837-AAB6-355D294D0FE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3" creationId="{0DEE24C4-B73B-1E95-51E6-6BF907C88D4F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4" creationId="{408D6FFB-916D-A923-425A-3365445748E9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522938963" sldId="136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522938963" sldId="1368"/>
            <ac:spMk id="4" creationId="{25DDC0CF-BF6C-6ACE-AA92-8D2B0D31101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522938963" sldId="1368"/>
            <ac:spMk id="5" creationId="{B99A8263-FDB2-FC97-C4B9-88D515D30869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948544820" sldId="136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948544820" sldId="1369"/>
            <ac:spMk id="4" creationId="{50D81BBA-A830-1198-33B2-CC9F5FE879A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948544820" sldId="1369"/>
            <ac:spMk id="5" creationId="{20893D6B-4943-2ED8-C2E5-5FEB2DA46926}"/>
          </ac:spMkLst>
        </pc:spChg>
      </pc:sldChg>
    </pc:docChg>
  </pc:docChgLst>
  <pc:docChgLst>
    <pc:chgData name="Feist, Ella" userId="992bbaf2-811d-42cb-a4d6-e7fc45e325e8" providerId="ADAL" clId="{B9C8ADA8-C28D-4FF6-9828-B934D68AABA9}"/>
    <pc:docChg chg="custSel modSld delMainMaster">
      <pc:chgData name="Feist, Ella" userId="992bbaf2-811d-42cb-a4d6-e7fc45e325e8" providerId="ADAL" clId="{B9C8ADA8-C28D-4FF6-9828-B934D68AABA9}" dt="2025-05-28T10:35:33.074" v="148" actId="20577"/>
      <pc:docMkLst>
        <pc:docMk/>
      </pc:docMkLst>
      <pc:sldChg chg="modSp mod">
        <pc:chgData name="Feist, Ella" userId="992bbaf2-811d-42cb-a4d6-e7fc45e325e8" providerId="ADAL" clId="{B9C8ADA8-C28D-4FF6-9828-B934D68AABA9}" dt="2025-05-28T10:26:33.813" v="12" actId="20577"/>
        <pc:sldMkLst>
          <pc:docMk/>
          <pc:sldMk cId="2874807017" sldId="1348"/>
        </pc:sldMkLst>
        <pc:spChg chg="mod">
          <ac:chgData name="Feist, Ella" userId="992bbaf2-811d-42cb-a4d6-e7fc45e325e8" providerId="ADAL" clId="{B9C8ADA8-C28D-4FF6-9828-B934D68AABA9}" dt="2025-05-28T10:26:03.694" v="0" actId="20577"/>
          <ac:spMkLst>
            <pc:docMk/>
            <pc:sldMk cId="2874807017" sldId="1348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B9C8ADA8-C28D-4FF6-9828-B934D68AABA9}" dt="2025-05-28T10:26:33.813" v="12" actId="20577"/>
          <ac:graphicFrameMkLst>
            <pc:docMk/>
            <pc:sldMk cId="2874807017" sldId="1348"/>
            <ac:graphicFrameMk id="3" creationId="{00D4D7A8-CBA5-5C0D-C1F9-A1D43D15BF58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26:37.520" v="13" actId="12"/>
        <pc:sldMkLst>
          <pc:docMk/>
          <pc:sldMk cId="746956625" sldId="1349"/>
        </pc:sldMkLst>
        <pc:spChg chg="mod">
          <ac:chgData name="Feist, Ella" userId="992bbaf2-811d-42cb-a4d6-e7fc45e325e8" providerId="ADAL" clId="{B9C8ADA8-C28D-4FF6-9828-B934D68AABA9}" dt="2025-05-28T10:26:37.520" v="13" actId="12"/>
          <ac:spMkLst>
            <pc:docMk/>
            <pc:sldMk cId="746956625" sldId="134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B9C8ADA8-C28D-4FF6-9828-B934D68AABA9}" dt="2025-05-28T10:27:25.293" v="23" actId="20577"/>
        <pc:sldMkLst>
          <pc:docMk/>
          <pc:sldMk cId="1150994584" sldId="1351"/>
        </pc:sldMkLst>
        <pc:spChg chg="mod">
          <ac:chgData name="Feist, Ella" userId="992bbaf2-811d-42cb-a4d6-e7fc45e325e8" providerId="ADAL" clId="{B9C8ADA8-C28D-4FF6-9828-B934D68AABA9}" dt="2025-05-28T10:27:25.293" v="23" actId="20577"/>
          <ac:spMkLst>
            <pc:docMk/>
            <pc:sldMk cId="1150994584" sldId="135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27:58.783" v="36" actId="20577"/>
        <pc:sldMkLst>
          <pc:docMk/>
          <pc:sldMk cId="2233155761" sldId="1352"/>
        </pc:sldMkLst>
        <pc:spChg chg="mod">
          <ac:chgData name="Feist, Ella" userId="992bbaf2-811d-42cb-a4d6-e7fc45e325e8" providerId="ADAL" clId="{B9C8ADA8-C28D-4FF6-9828-B934D68AABA9}" dt="2025-05-28T10:27:58.783" v="36" actId="20577"/>
          <ac:spMkLst>
            <pc:docMk/>
            <pc:sldMk cId="2233155761" sldId="135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30:06.711" v="41" actId="20577"/>
        <pc:sldMkLst>
          <pc:docMk/>
          <pc:sldMk cId="266840811" sldId="1354"/>
        </pc:sldMkLst>
        <pc:spChg chg="mod">
          <ac:chgData name="Feist, Ella" userId="992bbaf2-811d-42cb-a4d6-e7fc45e325e8" providerId="ADAL" clId="{B9C8ADA8-C28D-4FF6-9828-B934D68AABA9}" dt="2025-05-28T10:30:06.711" v="41" actId="20577"/>
          <ac:spMkLst>
            <pc:docMk/>
            <pc:sldMk cId="266840811" sldId="1354"/>
            <ac:spMk id="5" creationId="{91A8ED3D-B755-43C9-BCB1-DCF495C0C9DB}"/>
          </ac:spMkLst>
        </pc:spChg>
      </pc:sldChg>
      <pc:sldChg chg="delSp modSp mod">
        <pc:chgData name="Feist, Ella" userId="992bbaf2-811d-42cb-a4d6-e7fc45e325e8" providerId="ADAL" clId="{B9C8ADA8-C28D-4FF6-9828-B934D68AABA9}" dt="2025-05-28T10:31:06.774" v="58" actId="20577"/>
        <pc:sldMkLst>
          <pc:docMk/>
          <pc:sldMk cId="3792086289" sldId="1355"/>
        </pc:sldMkLst>
        <pc:graphicFrameChg chg="mod modGraphic">
          <ac:chgData name="Feist, Ella" userId="992bbaf2-811d-42cb-a4d6-e7fc45e325e8" providerId="ADAL" clId="{B9C8ADA8-C28D-4FF6-9828-B934D68AABA9}" dt="2025-05-28T10:31:06.774" v="58" actId="20577"/>
          <ac:graphicFrameMkLst>
            <pc:docMk/>
            <pc:sldMk cId="3792086289" sldId="1355"/>
            <ac:graphicFrameMk id="7" creationId="{B49E8BD5-36E1-CAC0-31C5-396C0F2D7EAE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2:59.469" v="90" actId="207"/>
        <pc:sldMkLst>
          <pc:docMk/>
          <pc:sldMk cId="4103979315" sldId="1356"/>
        </pc:sldMkLst>
        <pc:spChg chg="mod">
          <ac:chgData name="Feist, Ella" userId="992bbaf2-811d-42cb-a4d6-e7fc45e325e8" providerId="ADAL" clId="{B9C8ADA8-C28D-4FF6-9828-B934D68AABA9}" dt="2025-05-28T10:31:38.071" v="69" actId="20577"/>
          <ac:spMkLst>
            <pc:docMk/>
            <pc:sldMk cId="4103979315" sldId="1356"/>
            <ac:spMk id="3" creationId="{1CB06704-51BB-4AEC-FE08-722708891C36}"/>
          </ac:spMkLst>
        </pc:spChg>
        <pc:spChg chg="mod">
          <ac:chgData name="Feist, Ella" userId="992bbaf2-811d-42cb-a4d6-e7fc45e325e8" providerId="ADAL" clId="{B9C8ADA8-C28D-4FF6-9828-B934D68AABA9}" dt="2025-05-28T10:31:52.948" v="73" actId="20577"/>
          <ac:spMkLst>
            <pc:docMk/>
            <pc:sldMk cId="4103979315" sldId="1356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B9C8ADA8-C28D-4FF6-9828-B934D68AABA9}" dt="2025-05-28T10:32:51.928" v="88" actId="14100"/>
          <ac:graphicFrameMkLst>
            <pc:docMk/>
            <pc:sldMk cId="4103979315" sldId="1356"/>
            <ac:graphicFrameMk id="4" creationId="{9BA6938C-1FD4-7A3F-B446-CF13ABF798EE}"/>
          </ac:graphicFrameMkLst>
        </pc:graphicFrameChg>
        <pc:graphicFrameChg chg="mod modGraphic">
          <ac:chgData name="Feist, Ella" userId="992bbaf2-811d-42cb-a4d6-e7fc45e325e8" providerId="ADAL" clId="{B9C8ADA8-C28D-4FF6-9828-B934D68AABA9}" dt="2025-05-28T10:32:59.469" v="90" actId="207"/>
          <ac:graphicFrameMkLst>
            <pc:docMk/>
            <pc:sldMk cId="4103979315" sldId="1356"/>
            <ac:graphicFrameMk id="6" creationId="{58198A10-DFD5-B655-59E6-0341661822A2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1:34.910" v="68" actId="20577"/>
        <pc:sldMkLst>
          <pc:docMk/>
          <pc:sldMk cId="3451709732" sldId="1357"/>
        </pc:sldMkLst>
        <pc:spChg chg="mod">
          <ac:chgData name="Feist, Ella" userId="992bbaf2-811d-42cb-a4d6-e7fc45e325e8" providerId="ADAL" clId="{B9C8ADA8-C28D-4FF6-9828-B934D68AABA9}" dt="2025-05-28T10:31:34.910" v="68" actId="20577"/>
          <ac:spMkLst>
            <pc:docMk/>
            <pc:sldMk cId="3451709732" sldId="1357"/>
            <ac:spMk id="5" creationId="{91A8ED3D-B755-43C9-BCB1-DCF495C0C9DB}"/>
          </ac:spMkLst>
        </pc:spChg>
      </pc:sldChg>
      <pc:sldChg chg="addSp delSp modSp mod chgLayout">
        <pc:chgData name="Feist, Ella" userId="992bbaf2-811d-42cb-a4d6-e7fc45e325e8" providerId="ADAL" clId="{B9C8ADA8-C28D-4FF6-9828-B934D68AABA9}" dt="2025-05-28T10:33:21.118" v="101" actId="20577"/>
        <pc:sldMkLst>
          <pc:docMk/>
          <pc:sldMk cId="2656606700" sldId="1359"/>
        </pc:sldMkLst>
        <pc:spChg chg="mod ord">
          <ac:chgData name="Feist, Ella" userId="992bbaf2-811d-42cb-a4d6-e7fc45e325e8" providerId="ADAL" clId="{B9C8ADA8-C28D-4FF6-9828-B934D68AABA9}" dt="2025-05-28T10:33:10.411" v="93" actId="6264"/>
          <ac:spMkLst>
            <pc:docMk/>
            <pc:sldMk cId="2656606700" sldId="1359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3:21.118" v="101" actId="20577"/>
          <ac:spMkLst>
            <pc:docMk/>
            <pc:sldMk cId="2656606700" sldId="1359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3:15.024" v="98" actId="20577"/>
          <ac:spMkLst>
            <pc:docMk/>
            <pc:sldMk cId="2656606700" sldId="1359"/>
            <ac:spMk id="5" creationId="{C5713EBC-794F-D13B-2571-57F7B4E7C224}"/>
          </ac:spMkLst>
        </pc:spChg>
      </pc:sldChg>
      <pc:sldChg chg="modSp mod">
        <pc:chgData name="Feist, Ella" userId="992bbaf2-811d-42cb-a4d6-e7fc45e325e8" providerId="ADAL" clId="{B9C8ADA8-C28D-4FF6-9828-B934D68AABA9}" dt="2025-05-28T10:33:47.743" v="105" actId="20577"/>
        <pc:sldMkLst>
          <pc:docMk/>
          <pc:sldMk cId="718006022" sldId="1361"/>
        </pc:sldMkLst>
        <pc:spChg chg="mod">
          <ac:chgData name="Feist, Ella" userId="992bbaf2-811d-42cb-a4d6-e7fc45e325e8" providerId="ADAL" clId="{B9C8ADA8-C28D-4FF6-9828-B934D68AABA9}" dt="2025-05-28T10:33:47.743" v="105" actId="20577"/>
          <ac:spMkLst>
            <pc:docMk/>
            <pc:sldMk cId="718006022" sldId="136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34:15.120" v="113"/>
        <pc:sldMkLst>
          <pc:docMk/>
          <pc:sldMk cId="4243840425" sldId="1362"/>
        </pc:sldMkLst>
        <pc:spChg chg="mod">
          <ac:chgData name="Feist, Ella" userId="992bbaf2-811d-42cb-a4d6-e7fc45e325e8" providerId="ADAL" clId="{B9C8ADA8-C28D-4FF6-9828-B934D68AABA9}" dt="2025-05-28T10:33:54.978" v="108" actId="20577"/>
          <ac:spMkLst>
            <pc:docMk/>
            <pc:sldMk cId="4243840425" sldId="1362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B9C8ADA8-C28D-4FF6-9828-B934D68AABA9}" dt="2025-05-28T10:34:15.120" v="113"/>
          <ac:graphicFrameMkLst>
            <pc:docMk/>
            <pc:sldMk cId="4243840425" sldId="1362"/>
            <ac:graphicFrameMk id="6" creationId="{FF312757-6D09-A86C-231A-27AA90A26303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4:49.307" v="125" actId="20577"/>
        <pc:sldMkLst>
          <pc:docMk/>
          <pc:sldMk cId="2629841134" sldId="1363"/>
        </pc:sldMkLst>
        <pc:spChg chg="mod">
          <ac:chgData name="Feist, Ella" userId="992bbaf2-811d-42cb-a4d6-e7fc45e325e8" providerId="ADAL" clId="{B9C8ADA8-C28D-4FF6-9828-B934D68AABA9}" dt="2025-05-28T10:34:49.307" v="125" actId="20577"/>
          <ac:spMkLst>
            <pc:docMk/>
            <pc:sldMk cId="2629841134" sldId="1363"/>
            <ac:spMk id="5" creationId="{91A8ED3D-B755-43C9-BCB1-DCF495C0C9DB}"/>
          </ac:spMkLst>
        </pc:spChg>
      </pc:sldChg>
      <pc:sldChg chg="delSp modSp mod modClrScheme chgLayout">
        <pc:chgData name="Feist, Ella" userId="992bbaf2-811d-42cb-a4d6-e7fc45e325e8" providerId="ADAL" clId="{B9C8ADA8-C28D-4FF6-9828-B934D68AABA9}" dt="2025-05-28T10:35:02.914" v="136" actId="20577"/>
        <pc:sldMkLst>
          <pc:docMk/>
          <pc:sldMk cId="2090829791" sldId="1364"/>
        </pc:sldMkLst>
        <pc:spChg chg="mod ord">
          <ac:chgData name="Feist, Ella" userId="992bbaf2-811d-42cb-a4d6-e7fc45e325e8" providerId="ADAL" clId="{B9C8ADA8-C28D-4FF6-9828-B934D68AABA9}" dt="2025-05-28T10:35:01.182" v="135" actId="700"/>
          <ac:spMkLst>
            <pc:docMk/>
            <pc:sldMk cId="2090829791" sldId="1364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5:01.182" v="135" actId="700"/>
          <ac:spMkLst>
            <pc:docMk/>
            <pc:sldMk cId="2090829791" sldId="1364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5:02.914" v="136" actId="20577"/>
          <ac:spMkLst>
            <pc:docMk/>
            <pc:sldMk cId="2090829791" sldId="1364"/>
            <ac:spMk id="7" creationId="{0D805FE6-F763-6DAD-13B8-6EA96FDBD97F}"/>
          </ac:spMkLst>
        </pc:spChg>
      </pc:sldChg>
      <pc:sldChg chg="addSp delSp modSp mod chgLayout">
        <pc:chgData name="Feist, Ella" userId="992bbaf2-811d-42cb-a4d6-e7fc45e325e8" providerId="ADAL" clId="{B9C8ADA8-C28D-4FF6-9828-B934D68AABA9}" dt="2025-05-28T10:35:21.183" v="144" actId="20577"/>
        <pc:sldMkLst>
          <pc:docMk/>
          <pc:sldMk cId="3920355103" sldId="1365"/>
        </pc:sldMkLst>
        <pc:spChg chg="mod ord">
          <ac:chgData name="Feist, Ella" userId="992bbaf2-811d-42cb-a4d6-e7fc45e325e8" providerId="ADAL" clId="{B9C8ADA8-C28D-4FF6-9828-B934D68AABA9}" dt="2025-05-28T10:35:15.802" v="141" actId="6264"/>
          <ac:spMkLst>
            <pc:docMk/>
            <pc:sldMk cId="3920355103" sldId="1365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5:21.183" v="144" actId="20577"/>
          <ac:spMkLst>
            <pc:docMk/>
            <pc:sldMk cId="3920355103" sldId="1365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5:15.802" v="141" actId="6264"/>
          <ac:spMkLst>
            <pc:docMk/>
            <pc:sldMk cId="3920355103" sldId="1365"/>
            <ac:spMk id="5" creationId="{EE9950E1-6EEB-FA59-EB9E-8001CE9E80A1}"/>
          </ac:spMkLst>
        </pc:spChg>
      </pc:sldChg>
      <pc:sldChg chg="modSp mod modClrScheme chgLayout">
        <pc:chgData name="Feist, Ella" userId="992bbaf2-811d-42cb-a4d6-e7fc45e325e8" providerId="ADAL" clId="{B9C8ADA8-C28D-4FF6-9828-B934D68AABA9}" dt="2025-05-28T10:35:33.074" v="148" actId="20577"/>
        <pc:sldMkLst>
          <pc:docMk/>
          <pc:sldMk cId="733323062" sldId="1366"/>
        </pc:sldMkLst>
        <pc:spChg chg="mod ord">
          <ac:chgData name="Feist, Ella" userId="992bbaf2-811d-42cb-a4d6-e7fc45e325e8" providerId="ADAL" clId="{B9C8ADA8-C28D-4FF6-9828-B934D68AABA9}" dt="2025-05-28T10:35:25.232" v="145" actId="700"/>
          <ac:spMkLst>
            <pc:docMk/>
            <pc:sldMk cId="733323062" sldId="1366"/>
            <ac:spMk id="2" creationId="{F111C5DB-635E-4576-A4C3-837B7E452E1E}"/>
          </ac:spMkLst>
        </pc:spChg>
        <pc:spChg chg="mod ord">
          <ac:chgData name="Feist, Ella" userId="992bbaf2-811d-42cb-a4d6-e7fc45e325e8" providerId="ADAL" clId="{B9C8ADA8-C28D-4FF6-9828-B934D68AABA9}" dt="2025-05-28T10:35:25.232" v="145" actId="700"/>
          <ac:spMkLst>
            <pc:docMk/>
            <pc:sldMk cId="733323062" sldId="1366"/>
            <ac:spMk id="3" creationId="{C37D9901-C939-FC85-F8FD-317465ED4140}"/>
          </ac:spMkLst>
        </pc:spChg>
        <pc:spChg chg="mod ord">
          <ac:chgData name="Feist, Ella" userId="992bbaf2-811d-42cb-a4d6-e7fc45e325e8" providerId="ADAL" clId="{B9C8ADA8-C28D-4FF6-9828-B934D68AABA9}" dt="2025-05-28T10:35:33.074" v="148" actId="20577"/>
          <ac:spMkLst>
            <pc:docMk/>
            <pc:sldMk cId="733323062" sldId="136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B9C8ADA8-C28D-4FF6-9828-B934D68AABA9}" dt="2025-05-28T10:34:53.769" v="132" actId="6549"/>
        <pc:sldMkLst>
          <pc:docMk/>
          <pc:sldMk cId="2948544820" sldId="1369"/>
        </pc:sldMkLst>
        <pc:spChg chg="mod">
          <ac:chgData name="Feist, Ella" userId="992bbaf2-811d-42cb-a4d6-e7fc45e325e8" providerId="ADAL" clId="{B9C8ADA8-C28D-4FF6-9828-B934D68AABA9}" dt="2025-05-28T10:34:53.769" v="132" actId="6549"/>
          <ac:spMkLst>
            <pc:docMk/>
            <pc:sldMk cId="2948544820" sldId="1369"/>
            <ac:spMk id="4" creationId="{50D81BBA-A830-1198-33B2-CC9F5FE879A0}"/>
          </ac:spMkLst>
        </pc:spChg>
      </pc:sld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9027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0886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37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8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type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tool,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itself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noProof="0" dirty="0">
                <a:cs typeface="Segoe UI"/>
              </a:rPr>
              <a:t>a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built-in,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is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used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to</a:t>
            </a:r>
            <a:r>
              <a:rPr lang="en-GB" sz="1200" spc="-20" noProof="0" dirty="0">
                <a:cs typeface="Segoe UI"/>
              </a:rPr>
              <a:t> identify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origin</a:t>
            </a:r>
            <a:r>
              <a:rPr lang="en-GB" sz="1200" spc="-8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noProof="0" dirty="0">
                <a:cs typeface="Segoe UI"/>
              </a:rPr>
              <a:t>a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cs typeface="Segoe UI"/>
              </a:rPr>
              <a:t>It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follows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same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sequence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 </a:t>
            </a:r>
            <a:r>
              <a:rPr lang="en-GB" sz="1200" spc="-20" noProof="0" dirty="0">
                <a:cs typeface="Segoe UI"/>
              </a:rPr>
              <a:t>checks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that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shell</a:t>
            </a:r>
            <a:r>
              <a:rPr lang="en-GB" sz="1200" spc="-6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does,</a:t>
            </a:r>
            <a:r>
              <a:rPr lang="en-GB" sz="1200" spc="-6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after </a:t>
            </a:r>
            <a:r>
              <a:rPr lang="en-GB" sz="1200" spc="-20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line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scan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has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been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completed.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cs typeface="Segoe UI"/>
            </a:endParaRPr>
          </a:p>
          <a:p>
            <a:pPr marL="12700" marR="14160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cs typeface="Segoe UI"/>
              </a:rPr>
              <a:t>Most</a:t>
            </a:r>
            <a:r>
              <a:rPr lang="en-GB" sz="1200" spc="-9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time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we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run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it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without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any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options,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and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type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will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be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relatively</a:t>
            </a:r>
            <a:r>
              <a:rPr lang="en-GB" sz="1200" spc="-1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verbose</a:t>
            </a:r>
            <a:r>
              <a:rPr lang="en-GB" spc="-2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and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identify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first </a:t>
            </a:r>
            <a:r>
              <a:rPr lang="en-GB" sz="1200" spc="-1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match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for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name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in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lists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available</a:t>
            </a:r>
            <a:r>
              <a:rPr lang="en-GB" sz="1200" spc="-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commands.</a:t>
            </a:r>
            <a:endParaRPr lang="en-GB" sz="1200" spc="-65" noProof="0" dirty="0">
              <a:cs typeface="Segoe UI"/>
            </a:endParaRPr>
          </a:p>
          <a:p>
            <a:pPr marL="12700" marR="571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cs typeface="Segoe UI"/>
              </a:rPr>
              <a:t>There </a:t>
            </a:r>
            <a:r>
              <a:rPr lang="en-GB" sz="1200" spc="-20" noProof="0" dirty="0">
                <a:cs typeface="Segoe UI"/>
              </a:rPr>
              <a:t>are, however, </a:t>
            </a:r>
            <a:r>
              <a:rPr lang="en-GB" sz="1200" spc="-15" noProof="0" dirty="0">
                <a:cs typeface="Segoe UI"/>
              </a:rPr>
              <a:t>some </a:t>
            </a:r>
            <a:r>
              <a:rPr lang="en-GB" sz="1200" spc="-20" noProof="0" dirty="0">
                <a:cs typeface="Segoe UI"/>
              </a:rPr>
              <a:t>useful options that type can apply.</a:t>
            </a:r>
          </a:p>
          <a:p>
            <a:pPr marL="12700" marR="5715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cs typeface="Segoe UI"/>
              </a:rPr>
              <a:t>For </a:t>
            </a:r>
            <a:r>
              <a:rPr lang="en-GB" sz="1200" spc="-25" noProof="0" dirty="0">
                <a:cs typeface="Segoe UI"/>
              </a:rPr>
              <a:t>example, </a:t>
            </a:r>
            <a:r>
              <a:rPr lang="en-GB" sz="1200" spc="-15" noProof="0" dirty="0">
                <a:cs typeface="Segoe UI"/>
              </a:rPr>
              <a:t>to see </a:t>
            </a:r>
            <a:r>
              <a:rPr lang="en-GB" sz="1200" spc="-20" noProof="0" dirty="0">
                <a:cs typeface="Segoe UI"/>
              </a:rPr>
              <a:t>every </a:t>
            </a:r>
            <a:r>
              <a:rPr lang="en-GB" sz="1200" spc="-25" noProof="0" dirty="0">
                <a:cs typeface="Segoe UI"/>
              </a:rPr>
              <a:t>instance </a:t>
            </a:r>
            <a:r>
              <a:rPr lang="en-GB" sz="1200" spc="-10" noProof="0" dirty="0">
                <a:cs typeface="Segoe UI"/>
              </a:rPr>
              <a:t>of </a:t>
            </a:r>
            <a:r>
              <a:rPr lang="en-GB" sz="1200" noProof="0" dirty="0">
                <a:cs typeface="Segoe UI"/>
              </a:rPr>
              <a:t>a </a:t>
            </a:r>
            <a:r>
              <a:rPr lang="en-GB" sz="1200" spc="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 (across </a:t>
            </a:r>
            <a:r>
              <a:rPr lang="en-GB" sz="1200" spc="-15" noProof="0" dirty="0">
                <a:cs typeface="Segoe UI"/>
              </a:rPr>
              <a:t>the </a:t>
            </a:r>
            <a:r>
              <a:rPr lang="en-GB" sz="1200" spc="-20" noProof="0" dirty="0">
                <a:cs typeface="Segoe UI"/>
              </a:rPr>
              <a:t>various command lists), </a:t>
            </a:r>
            <a:r>
              <a:rPr lang="en-GB" sz="1200" spc="-15" noProof="0" dirty="0">
                <a:cs typeface="Segoe UI"/>
              </a:rPr>
              <a:t>the </a:t>
            </a:r>
            <a:r>
              <a:rPr lang="en-GB" sz="1200" spc="-10" noProof="0" dirty="0">
                <a:cs typeface="Segoe UI"/>
              </a:rPr>
              <a:t>–a </a:t>
            </a:r>
            <a:r>
              <a:rPr lang="en-GB" sz="1200" spc="-20" noProof="0" dirty="0">
                <a:cs typeface="Segoe UI"/>
              </a:rPr>
              <a:t>option can </a:t>
            </a:r>
            <a:r>
              <a:rPr lang="en-GB" sz="1200" spc="-10" noProof="0" dirty="0">
                <a:cs typeface="Segoe UI"/>
              </a:rPr>
              <a:t>be </a:t>
            </a:r>
            <a:r>
              <a:rPr lang="en-GB" sz="1200" spc="-15" noProof="0" dirty="0">
                <a:cs typeface="Segoe UI"/>
              </a:rPr>
              <a:t>used.</a:t>
            </a:r>
          </a:p>
          <a:p>
            <a:pPr marL="12700" marR="6350">
              <a:lnSpc>
                <a:spcPct val="150000"/>
              </a:lnSpc>
            </a:pPr>
            <a:endParaRPr lang="en-GB" sz="1200" spc="-15" noProof="0" dirty="0">
              <a:cs typeface="Segoe UI"/>
            </a:endParaRPr>
          </a:p>
          <a:p>
            <a:pPr marL="12700" marR="6350">
              <a:lnSpc>
                <a:spcPct val="150000"/>
              </a:lnSpc>
            </a:pPr>
            <a:r>
              <a:rPr lang="en-GB" sz="1200" spc="-15" noProof="0" dirty="0">
                <a:cs typeface="Segoe UI"/>
              </a:rPr>
              <a:t>Other</a:t>
            </a:r>
            <a:r>
              <a:rPr lang="en-GB" sz="1200" spc="-7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useful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options</a:t>
            </a:r>
            <a:r>
              <a:rPr lang="en-GB" sz="1200" spc="-7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include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–p,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which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only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shows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path</a:t>
            </a:r>
            <a:r>
              <a:rPr lang="en-GB" sz="1200" spc="-2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for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external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commands</a:t>
            </a:r>
            <a:r>
              <a:rPr lang="en-GB" sz="1200" spc="-2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(silent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for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other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types). </a:t>
            </a:r>
            <a:r>
              <a:rPr lang="en-GB" sz="1200" spc="-254" noProof="0" dirty="0">
                <a:cs typeface="Segoe UI"/>
              </a:rPr>
              <a:t> </a:t>
            </a:r>
            <a:r>
              <a:rPr lang="en-GB" sz="1200" spc="-35" noProof="0" dirty="0">
                <a:cs typeface="Segoe UI"/>
              </a:rPr>
              <a:t>a</a:t>
            </a:r>
            <a:r>
              <a:rPr lang="en-GB" sz="1200" spc="-20" noProof="0" dirty="0">
                <a:cs typeface="Segoe UI"/>
              </a:rPr>
              <a:t>n</a:t>
            </a:r>
            <a:r>
              <a:rPr lang="en-GB" sz="1200" noProof="0" dirty="0">
                <a:cs typeface="Segoe UI"/>
              </a:rPr>
              <a:t>d</a:t>
            </a:r>
            <a:r>
              <a:rPr lang="en-GB" sz="1200" spc="-7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–</a:t>
            </a:r>
            <a:r>
              <a:rPr lang="en-GB" sz="1200" spc="-30" noProof="0" dirty="0">
                <a:cs typeface="Segoe UI"/>
              </a:rPr>
              <a:t>t</a:t>
            </a:r>
            <a:r>
              <a:rPr lang="en-GB" sz="1200" noProof="0" dirty="0">
                <a:cs typeface="Segoe UI"/>
              </a:rPr>
              <a:t>,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30" noProof="0" dirty="0">
                <a:cs typeface="Segoe UI"/>
              </a:rPr>
              <a:t>w</a:t>
            </a:r>
            <a:r>
              <a:rPr lang="en-GB" sz="1200" spc="-20" noProof="0" dirty="0">
                <a:cs typeface="Segoe UI"/>
              </a:rPr>
              <a:t>h</a:t>
            </a:r>
            <a:r>
              <a:rPr lang="en-GB" sz="1200" spc="-30" noProof="0" dirty="0">
                <a:cs typeface="Segoe UI"/>
              </a:rPr>
              <a:t>i</a:t>
            </a:r>
            <a:r>
              <a:rPr lang="en-GB" sz="1200" spc="-35" noProof="0" dirty="0">
                <a:cs typeface="Segoe UI"/>
              </a:rPr>
              <a:t>c</a:t>
            </a:r>
            <a:r>
              <a:rPr lang="en-GB" sz="1200" noProof="0" dirty="0">
                <a:cs typeface="Segoe UI"/>
              </a:rPr>
              <a:t>h</a:t>
            </a:r>
            <a:r>
              <a:rPr lang="en-GB" sz="1200" spc="-30" noProof="0" dirty="0">
                <a:cs typeface="Segoe UI"/>
              </a:rPr>
              <a:t> i</a:t>
            </a:r>
            <a:r>
              <a:rPr lang="en-GB" sz="1200" spc="-20" noProof="0" dirty="0">
                <a:cs typeface="Segoe UI"/>
              </a:rPr>
              <a:t>nd</a:t>
            </a:r>
            <a:r>
              <a:rPr lang="en-GB" sz="1200" spc="-30" noProof="0" dirty="0">
                <a:cs typeface="Segoe UI"/>
              </a:rPr>
              <a:t>i</a:t>
            </a:r>
            <a:r>
              <a:rPr lang="en-GB" sz="1200" spc="-35" noProof="0" dirty="0">
                <a:cs typeface="Segoe UI"/>
              </a:rPr>
              <a:t>ca</a:t>
            </a:r>
            <a:r>
              <a:rPr lang="en-GB" sz="1200" spc="-30" noProof="0" dirty="0">
                <a:cs typeface="Segoe UI"/>
              </a:rPr>
              <a:t>t</a:t>
            </a:r>
            <a:r>
              <a:rPr lang="en-GB" sz="1200" noProof="0" dirty="0">
                <a:cs typeface="Segoe UI"/>
              </a:rPr>
              <a:t>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30" noProof="0" dirty="0">
                <a:cs typeface="Segoe UI"/>
              </a:rPr>
              <a:t>t</a:t>
            </a:r>
            <a:r>
              <a:rPr lang="en-GB" sz="1200" spc="-20" noProof="0" dirty="0">
                <a:cs typeface="Segoe UI"/>
              </a:rPr>
              <a:t>h</a:t>
            </a:r>
            <a:r>
              <a:rPr lang="en-GB" sz="1200" noProof="0" dirty="0">
                <a:cs typeface="Segoe UI"/>
              </a:rPr>
              <a:t>e</a:t>
            </a:r>
            <a:r>
              <a:rPr lang="en-GB" sz="1200" spc="-35" noProof="0" dirty="0">
                <a:cs typeface="Segoe UI"/>
              </a:rPr>
              <a:t> c</a:t>
            </a:r>
            <a:r>
              <a:rPr lang="en-GB" sz="1200" spc="-20" noProof="0" dirty="0">
                <a:cs typeface="Segoe UI"/>
              </a:rPr>
              <a:t>o</a:t>
            </a:r>
            <a:r>
              <a:rPr lang="en-GB" sz="1200" spc="-25" noProof="0" dirty="0">
                <a:cs typeface="Segoe UI"/>
              </a:rPr>
              <a:t>mm</a:t>
            </a:r>
            <a:r>
              <a:rPr lang="en-GB" sz="1200" spc="-35" noProof="0" dirty="0">
                <a:cs typeface="Segoe UI"/>
              </a:rPr>
              <a:t>a</a:t>
            </a:r>
            <a:r>
              <a:rPr lang="en-GB" sz="1200" spc="-20" noProof="0" dirty="0">
                <a:cs typeface="Segoe UI"/>
              </a:rPr>
              <a:t>n</a:t>
            </a:r>
            <a:r>
              <a:rPr lang="en-GB" sz="1200" noProof="0" dirty="0">
                <a:cs typeface="Segoe UI"/>
              </a:rPr>
              <a:t>d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30" noProof="0" dirty="0">
                <a:cs typeface="Segoe UI"/>
              </a:rPr>
              <a:t>t</a:t>
            </a:r>
            <a:r>
              <a:rPr lang="en-GB" sz="1200" spc="-35" noProof="0" dirty="0">
                <a:cs typeface="Segoe UI"/>
              </a:rPr>
              <a:t>y</a:t>
            </a:r>
            <a:r>
              <a:rPr lang="en-GB" sz="1200" spc="-20" noProof="0" dirty="0">
                <a:cs typeface="Segoe UI"/>
              </a:rPr>
              <a:t>p</a:t>
            </a:r>
            <a:r>
              <a:rPr lang="en-GB" sz="1200" noProof="0" dirty="0">
                <a:cs typeface="Segoe UI"/>
              </a:rPr>
              <a:t>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30" noProof="0" dirty="0">
                <a:cs typeface="Segoe UI"/>
              </a:rPr>
              <a:t>wit</a:t>
            </a:r>
            <a:r>
              <a:rPr lang="en-GB" sz="1200" noProof="0" dirty="0">
                <a:cs typeface="Segoe UI"/>
              </a:rPr>
              <a:t>h</a:t>
            </a:r>
            <a:r>
              <a:rPr lang="en-GB" sz="1200" spc="-30" noProof="0" dirty="0">
                <a:cs typeface="Segoe UI"/>
              </a:rPr>
              <a:t> t</a:t>
            </a:r>
            <a:r>
              <a:rPr lang="en-GB" sz="1200" spc="-20" noProof="0" dirty="0">
                <a:cs typeface="Segoe UI"/>
              </a:rPr>
              <a:t>h</a:t>
            </a:r>
            <a:r>
              <a:rPr lang="en-GB" sz="1200" noProof="0" dirty="0">
                <a:cs typeface="Segoe UI"/>
              </a:rPr>
              <a:t>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</a:t>
            </a:r>
            <a:r>
              <a:rPr lang="en-GB" sz="1200" spc="-30" noProof="0" dirty="0">
                <a:cs typeface="Segoe UI"/>
              </a:rPr>
              <a:t>i</a:t>
            </a:r>
            <a:r>
              <a:rPr lang="en-GB" sz="1200" spc="-20" noProof="0" dirty="0">
                <a:cs typeface="Segoe UI"/>
              </a:rPr>
              <a:t>ng</a:t>
            </a:r>
            <a:r>
              <a:rPr lang="en-GB" sz="1200" spc="-30" noProof="0" dirty="0">
                <a:cs typeface="Segoe UI"/>
              </a:rPr>
              <a:t>l</a:t>
            </a:r>
            <a:r>
              <a:rPr lang="en-GB" sz="1200" noProof="0" dirty="0">
                <a:cs typeface="Segoe UI"/>
              </a:rPr>
              <a:t>e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30" noProof="0" dirty="0">
                <a:cs typeface="Segoe UI"/>
              </a:rPr>
              <a:t>w</a:t>
            </a:r>
            <a:r>
              <a:rPr lang="en-GB" sz="1200" spc="-20" noProof="0" dirty="0">
                <a:cs typeface="Segoe UI"/>
              </a:rPr>
              <a:t>o</a:t>
            </a:r>
            <a:r>
              <a:rPr lang="en-GB" sz="1200" spc="-15" noProof="0" dirty="0">
                <a:cs typeface="Segoe UI"/>
              </a:rPr>
              <a:t>r</a:t>
            </a:r>
            <a:r>
              <a:rPr lang="en-GB" sz="1200" spc="-20" noProof="0" dirty="0">
                <a:cs typeface="Segoe UI"/>
              </a:rPr>
              <a:t>d</a:t>
            </a:r>
            <a:r>
              <a:rPr lang="en-GB" sz="1200" noProof="0" dirty="0">
                <a:cs typeface="Segoe UI"/>
              </a:rPr>
              <a:t>:</a:t>
            </a: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21595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5" noProof="0" dirty="0">
                <a:latin typeface="+mn-lt"/>
                <a:cs typeface="Segoe UI"/>
              </a:rPr>
              <a:t>Initial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shell’s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code.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3619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PATH is used to </a:t>
            </a:r>
            <a:r>
              <a:rPr lang="en-GB" sz="1200" spc="-20" noProof="0" dirty="0">
                <a:latin typeface="+mn-lt"/>
                <a:cs typeface="Segoe UI"/>
              </a:rPr>
              <a:t>help,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restrict. Indeed, </a:t>
            </a:r>
            <a:r>
              <a:rPr lang="en-GB" sz="1200" spc="-15" noProof="0" dirty="0">
                <a:latin typeface="+mn-lt"/>
                <a:cs typeface="Segoe UI"/>
              </a:rPr>
              <a:t>PATH doesn’t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noProof="0" dirty="0">
                <a:latin typeface="+mn-lt"/>
                <a:cs typeface="Segoe UI"/>
              </a:rPr>
              <a:t>– </a:t>
            </a:r>
            <a:r>
              <a:rPr lang="en-GB" sz="1200" spc="-15" noProof="0" dirty="0">
                <a:latin typeface="+mn-lt"/>
                <a:cs typeface="Segoe UI"/>
              </a:rPr>
              <a:t>the only problem users 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20" noProof="0" dirty="0">
                <a:latin typeface="+mn-lt"/>
                <a:cs typeface="Segoe UI"/>
              </a:rPr>
              <a:t>would </a:t>
            </a:r>
            <a:r>
              <a:rPr lang="en-GB" sz="1200" spc="-25" noProof="0" dirty="0">
                <a:latin typeface="+mn-lt"/>
                <a:cs typeface="Segoe UI"/>
              </a:rPr>
              <a:t>face </a:t>
            </a:r>
            <a:r>
              <a:rPr lang="en-GB" sz="1200" spc="-20" noProof="0" dirty="0">
                <a:latin typeface="+mn-lt"/>
                <a:cs typeface="Segoe UI"/>
              </a:rPr>
              <a:t>without </a:t>
            </a:r>
            <a:r>
              <a:rPr lang="en-GB" sz="1200" spc="-15" noProof="0" dirty="0">
                <a:latin typeface="+mn-lt"/>
                <a:cs typeface="Segoe UI"/>
              </a:rPr>
              <a:t>it is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would have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absolute pathname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external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argue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</a:t>
            </a:r>
            <a:r>
              <a:rPr lang="en-GB" sz="1200" spc="-15" noProof="0" dirty="0">
                <a:latin typeface="+mn-lt"/>
                <a:cs typeface="Segoe UI"/>
              </a:rPr>
              <a:t> speed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operations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safer.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4999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22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hierarchical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structure,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quite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easy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forget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particular</a:t>
            </a:r>
            <a:r>
              <a:rPr lang="en-GB" sz="1200" spc="-20" noProof="0" dirty="0">
                <a:latin typeface="+mn-lt"/>
                <a:cs typeface="Segoe UI"/>
              </a:rPr>
              <a:t> file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Even </a:t>
            </a:r>
            <a:r>
              <a:rPr lang="en-GB" sz="1200" spc="-15" noProof="0" dirty="0">
                <a:latin typeface="+mn-lt"/>
                <a:cs typeface="Segoe UI"/>
              </a:rPr>
              <a:t>more </a:t>
            </a:r>
            <a:r>
              <a:rPr lang="en-GB" sz="1200" spc="-25" noProof="0" dirty="0">
                <a:latin typeface="+mn-lt"/>
                <a:cs typeface="Segoe UI"/>
              </a:rPr>
              <a:t>importantly, </a:t>
            </a:r>
            <a:r>
              <a:rPr lang="en-GB" sz="1200" spc="-20" noProof="0" dirty="0">
                <a:latin typeface="+mn-lt"/>
                <a:cs typeface="Segoe UI"/>
              </a:rPr>
              <a:t>sometimes </a:t>
            </a:r>
            <a:r>
              <a:rPr lang="en-GB" sz="1200" spc="-15" noProof="0" dirty="0">
                <a:latin typeface="+mn-lt"/>
                <a:cs typeface="Segoe UI"/>
              </a:rPr>
              <a:t>we need to </a:t>
            </a:r>
            <a:r>
              <a:rPr lang="en-GB" sz="1200" spc="-20" noProof="0" dirty="0">
                <a:latin typeface="+mn-lt"/>
                <a:cs typeface="Segoe UI"/>
              </a:rPr>
              <a:t>generate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5" noProof="0" dirty="0">
                <a:latin typeface="+mn-lt"/>
                <a:cs typeface="Segoe UI"/>
              </a:rPr>
              <a:t>specific </a:t>
            </a:r>
            <a:r>
              <a:rPr lang="en-GB" sz="1200" spc="-20" noProof="0" dirty="0">
                <a:latin typeface="+mn-lt"/>
                <a:cs typeface="Segoe UI"/>
              </a:rPr>
              <a:t>list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files, according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their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15" noProof="0" dirty="0">
                <a:latin typeface="+mn-lt"/>
                <a:cs typeface="Segoe UI"/>
              </a:rPr>
              <a:t> 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print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reports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today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fred</a:t>
            </a:r>
            <a:r>
              <a:rPr lang="en-GB" sz="1200" spc="-15" noProof="0" dirty="0">
                <a:latin typeface="+mn-lt"/>
                <a:cs typeface="Segoe UI"/>
              </a:rPr>
              <a:t>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need to </a:t>
            </a:r>
            <a:r>
              <a:rPr lang="en-GB" sz="1200" spc="-20" noProof="0" dirty="0">
                <a:latin typeface="+mn-lt"/>
                <a:cs typeface="Segoe UI"/>
              </a:rPr>
              <a:t>identify </a:t>
            </a:r>
            <a:r>
              <a:rPr lang="en-GB" sz="1200" spc="-15" noProof="0" dirty="0">
                <a:latin typeface="+mn-lt"/>
                <a:cs typeface="Segoe UI"/>
              </a:rPr>
              <a:t>those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 have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5" noProof="0" dirty="0">
                <a:latin typeface="+mn-lt"/>
                <a:cs typeface="Segoe UI"/>
              </a:rPr>
              <a:t>accessed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last </a:t>
            </a:r>
            <a:r>
              <a:rPr lang="en-GB" sz="1200" spc="-15" noProof="0" dirty="0">
                <a:latin typeface="+mn-lt"/>
                <a:cs typeface="Segoe UI"/>
              </a:rPr>
              <a:t>three </a:t>
            </a:r>
            <a:r>
              <a:rPr lang="en-GB" sz="1200" spc="-20" noProof="0" dirty="0">
                <a:latin typeface="+mn-lt"/>
                <a:cs typeface="Segoe UI"/>
              </a:rPr>
              <a:t>months, </a:t>
            </a:r>
            <a:r>
              <a:rPr lang="en-GB" sz="1200" spc="-15" noProof="0" dirty="0">
                <a:latin typeface="+mn-lt"/>
                <a:cs typeface="Segoe UI"/>
              </a:rPr>
              <a:t>in order to </a:t>
            </a:r>
            <a:r>
              <a:rPr lang="en-GB" sz="1200" spc="-20" noProof="0" dirty="0">
                <a:latin typeface="+mn-lt"/>
                <a:cs typeface="Segoe UI"/>
              </a:rPr>
              <a:t>archive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perhaps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23050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Unix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answer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here.</a:t>
            </a:r>
          </a:p>
          <a:p>
            <a:pPr marL="12700" marR="23050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sub-directories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powerful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branches,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non-interactively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31526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30" noProof="0" dirty="0">
                <a:latin typeface="+mn-lt"/>
                <a:cs typeface="Segoe UI"/>
              </a:rPr>
              <a:t>facilitate</a:t>
            </a:r>
            <a:r>
              <a:rPr lang="en-GB" sz="1200" spc="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20" noProof="0" dirty="0">
                <a:latin typeface="+mn-lt"/>
                <a:cs typeface="Segoe UI"/>
              </a:rPr>
              <a:t> according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just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about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attribute.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submitted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223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25" noProof="0" dirty="0">
                <a:latin typeface="+mn-lt"/>
                <a:cs typeface="Segoe UI"/>
              </a:rPr>
              <a:t> wildcard characters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(*,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?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[]). </a:t>
            </a:r>
            <a:r>
              <a:rPr lang="en-GB" sz="1200" spc="-20" noProof="0" dirty="0">
                <a:latin typeface="+mn-lt"/>
                <a:cs typeface="Segoe UI"/>
              </a:rPr>
              <a:t>Remember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put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25" noProof="0" dirty="0">
                <a:latin typeface="+mn-lt"/>
                <a:cs typeface="Segoe UI"/>
              </a:rPr>
              <a:t>containing </a:t>
            </a:r>
            <a:r>
              <a:rPr lang="en-GB" sz="1200" spc="-20" noProof="0" dirty="0">
                <a:latin typeface="+mn-lt"/>
                <a:cs typeface="Segoe UI"/>
              </a:rPr>
              <a:t>these </a:t>
            </a:r>
            <a:r>
              <a:rPr lang="en-GB" sz="1200" spc="-25" noProof="0" dirty="0">
                <a:latin typeface="+mn-lt"/>
                <a:cs typeface="Segoe UI"/>
              </a:rPr>
              <a:t>characters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0" noProof="0" dirty="0">
                <a:latin typeface="+mn-lt"/>
                <a:cs typeface="Segoe UI"/>
              </a:rPr>
              <a:t>. </a:t>
            </a:r>
          </a:p>
          <a:p>
            <a:pPr marL="12700" marR="14351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calendar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days,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touch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midnight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-newer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locate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newer than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touched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969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Later versions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find provide enhanced time </a:t>
            </a:r>
            <a:r>
              <a:rPr lang="en-GB" sz="1200" spc="-25" noProof="0" dirty="0">
                <a:latin typeface="+mn-lt"/>
                <a:cs typeface="Segoe UI"/>
              </a:rPr>
              <a:t>specification,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allow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time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(access,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modification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well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multiples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24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hours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(-amin,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</a:t>
            </a:r>
            <a:r>
              <a:rPr lang="en-GB" sz="1200" spc="-20" noProof="0" dirty="0" err="1">
                <a:latin typeface="+mn-lt"/>
                <a:cs typeface="Segoe UI"/>
              </a:rPr>
              <a:t>cmin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mmin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respectively).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7051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addition,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–</a:t>
            </a:r>
            <a:r>
              <a:rPr lang="en-GB" sz="1200" spc="-25" noProof="0" dirty="0" err="1">
                <a:latin typeface="+mn-lt"/>
                <a:cs typeface="Segoe UI"/>
              </a:rPr>
              <a:t>daystart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change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measure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beginning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today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(instead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24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hours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ago).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595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Search</a:t>
            </a:r>
            <a:r>
              <a:rPr lang="en-GB" sz="1200" spc="-20" noProof="0" dirty="0">
                <a:latin typeface="+mn-lt"/>
                <a:cs typeface="Segoe UI"/>
              </a:rPr>
              <a:t> criteria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combined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sophisticated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searches,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'standard'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operators.</a:t>
            </a: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slide above, </a:t>
            </a:r>
            <a:r>
              <a:rPr lang="en-GB" sz="1200" spc="-15" noProof="0" dirty="0">
                <a:latin typeface="+mn-lt"/>
                <a:cs typeface="Segoe UI"/>
              </a:rPr>
              <a:t>we show some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more </a:t>
            </a:r>
            <a:r>
              <a:rPr lang="en-GB" sz="1200" spc="-20" noProof="0" dirty="0">
                <a:latin typeface="+mn-lt"/>
                <a:cs typeface="Segoe UI"/>
              </a:rPr>
              <a:t>popular operators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5" noProof="0" dirty="0">
                <a:latin typeface="+mn-lt"/>
                <a:cs typeface="Segoe UI"/>
              </a:rPr>
              <a:t>action.</a:t>
            </a: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all,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listing two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criteria,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logical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AND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(although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between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them).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Log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35" noProof="0" dirty="0">
                <a:latin typeface="+mn-lt"/>
                <a:cs typeface="Segoe UI"/>
              </a:rPr>
              <a:t>ca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im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5" noProof="0" dirty="0">
                <a:latin typeface="+mn-lt"/>
                <a:cs typeface="Segoe UI"/>
              </a:rPr>
              <a:t>eme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wit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20" noProof="0" dirty="0">
                <a:latin typeface="+mn-lt"/>
                <a:cs typeface="Segoe UI"/>
              </a:rPr>
              <a:t> -</a:t>
            </a:r>
            <a:r>
              <a:rPr lang="en-GB" sz="1200" noProof="0" dirty="0">
                <a:latin typeface="+mn-lt"/>
                <a:cs typeface="Segoe UI"/>
              </a:rPr>
              <a:t>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20" noProof="0" dirty="0">
                <a:latin typeface="+mn-lt"/>
                <a:cs typeface="Segoe UI"/>
              </a:rPr>
              <a:t>g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ti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wit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30" noProof="0" dirty="0">
                <a:latin typeface="+mn-lt"/>
                <a:cs typeface="Segoe UI"/>
              </a:rPr>
              <a:t> 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mili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!</a:t>
            </a:r>
            <a:r>
              <a:rPr lang="en-GB" sz="1200" spc="-35" noProof="0" dirty="0">
                <a:latin typeface="+mn-lt"/>
                <a:cs typeface="Segoe UI"/>
              </a:rPr>
              <a:t> c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5" noProof="0" dirty="0">
                <a:latin typeface="+mn-lt"/>
                <a:cs typeface="Segoe UI"/>
              </a:rPr>
              <a:t>ac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noProof="0" dirty="0">
                <a:latin typeface="+mn-lt"/>
                <a:cs typeface="Segoe UI"/>
              </a:rPr>
              <a:t>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group </a:t>
            </a:r>
            <a:r>
              <a:rPr lang="en-GB" sz="1200" spc="-20" noProof="0" dirty="0">
                <a:latin typeface="+mn-lt"/>
                <a:cs typeface="Segoe UI"/>
              </a:rPr>
              <a:t>conditions 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brackets, remember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protect </a:t>
            </a:r>
            <a:r>
              <a:rPr lang="en-GB" sz="1200" spc="-15" noProof="0" dirty="0">
                <a:latin typeface="+mn-lt"/>
                <a:cs typeface="Segoe UI"/>
              </a:rPr>
              <a:t>them from the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</a:p>
          <a:p>
            <a:pPr marL="12700" marR="3098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says: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/var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10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days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belong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ian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bob.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92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performed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find-located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pathnames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.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what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explicit</a:t>
            </a:r>
            <a:r>
              <a:rPr lang="en-GB" sz="1200" spc="-15" noProof="0" dirty="0">
                <a:latin typeface="+mn-lt"/>
                <a:cs typeface="Segoe UI"/>
              </a:rPr>
              <a:t> request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–print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well.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144395">
              <a:lnSpc>
                <a:spcPct val="150000"/>
              </a:lnSpc>
            </a:pPr>
            <a:r>
              <a:rPr lang="en-GB" sz="1200" spc="-20" noProof="0" dirty="0">
                <a:latin typeface="+mn-lt"/>
                <a:cs typeface="Segoe UI"/>
              </a:rPr>
              <a:t>Two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inherited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UNIX:</a:t>
            </a:r>
            <a:r>
              <a:rPr lang="en-GB" sz="1200" spc="2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-exec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cmd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{}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\;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1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-ok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cmd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{}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\;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5651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braces</a:t>
            </a:r>
            <a:r>
              <a:rPr lang="en-GB" sz="1200" spc="-25" noProof="0" dirty="0">
                <a:latin typeface="+mn-lt"/>
                <a:cs typeface="Segoe UI"/>
              </a:rPr>
              <a:t> acts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placeholder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want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execute </a:t>
            </a:r>
            <a:r>
              <a:rPr lang="en-GB" sz="1200" spc="-10" noProof="0" dirty="0">
                <a:latin typeface="+mn-lt"/>
                <a:cs typeface="Segoe UI"/>
              </a:rPr>
              <a:t>on. </a:t>
            </a:r>
            <a:r>
              <a:rPr lang="en-GB" sz="1200" spc="-15" noProof="0" dirty="0">
                <a:latin typeface="+mn-lt"/>
                <a:cs typeface="Segoe UI"/>
              </a:rPr>
              <a:t>The quoted </a:t>
            </a:r>
            <a:r>
              <a:rPr lang="en-GB" sz="1200" spc="-20" noProof="0" dirty="0">
                <a:latin typeface="+mn-lt"/>
                <a:cs typeface="Segoe UI"/>
              </a:rPr>
              <a:t>semicolon </a:t>
            </a:r>
            <a:r>
              <a:rPr lang="en-GB" sz="1200" spc="-25" noProof="0" dirty="0">
                <a:latin typeface="+mn-lt"/>
                <a:cs typeface="Segoe UI"/>
              </a:rPr>
              <a:t>terminates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action, </a:t>
            </a:r>
            <a:r>
              <a:rPr lang="en-GB" sz="1200" spc="-15" noProof="0" dirty="0">
                <a:latin typeface="+mn-lt"/>
                <a:cs typeface="Segoe UI"/>
              </a:rPr>
              <a:t>thus </a:t>
            </a:r>
            <a:r>
              <a:rPr lang="en-GB" sz="1200" spc="-25" noProof="0" dirty="0">
                <a:latin typeface="+mn-lt"/>
                <a:cs typeface="Segoe UI"/>
              </a:rPr>
              <a:t>allowing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 </a:t>
            </a:r>
            <a:r>
              <a:rPr lang="en-GB" sz="1200" spc="-20" noProof="0" dirty="0">
                <a:latin typeface="+mn-lt"/>
                <a:cs typeface="Segoe UI"/>
              </a:rPr>
              <a:t>than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5" noProof="0" dirty="0">
                <a:latin typeface="+mn-lt"/>
                <a:cs typeface="Segoe UI"/>
              </a:rPr>
              <a:t>action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5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54659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introduced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6820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Answers: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5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filenames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/etc 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hosts;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dispose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messages</a:t>
            </a:r>
            <a:endParaRPr lang="en-GB" sz="1200" noProof="0" dirty="0">
              <a:latin typeface="+mn-lt"/>
              <a:cs typeface="Segoe UI"/>
            </a:endParaRPr>
          </a:p>
          <a:p>
            <a:pPr marL="241300" marR="4508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List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filenames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type;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recursive,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tree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structure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below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;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dispose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messages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/</a:t>
            </a:r>
            <a:r>
              <a:rPr lang="en-GB" sz="1200" spc="-15" noProof="0" dirty="0" err="1">
                <a:latin typeface="+mn-lt"/>
                <a:cs typeface="Segoe UI"/>
              </a:rPr>
              <a:t>usr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X11</a:t>
            </a:r>
            <a:endParaRPr lang="en-GB" sz="1200" noProof="0" dirty="0">
              <a:latin typeface="+mn-lt"/>
              <a:cs typeface="Segoe UI"/>
            </a:endParaRPr>
          </a:p>
          <a:p>
            <a:pPr marL="241300" marR="107950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Search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</a:t>
            </a:r>
            <a:r>
              <a:rPr lang="en-GB" sz="1200" spc="-20" noProof="0" dirty="0" err="1">
                <a:latin typeface="+mn-lt"/>
                <a:cs typeface="Segoe UI"/>
              </a:rPr>
              <a:t>tmp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/</a:t>
            </a:r>
            <a:r>
              <a:rPr lang="en-GB" sz="1200" spc="-15" noProof="0" dirty="0" err="1">
                <a:latin typeface="+mn-lt"/>
                <a:cs typeface="Segoe UI"/>
              </a:rPr>
              <a:t>usr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core,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ac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fil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c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mm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 f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ond</a:t>
            </a:r>
            <a:r>
              <a:rPr lang="en-GB" sz="1200" spc="-30" noProof="0" dirty="0">
                <a:latin typeface="+mn-lt"/>
                <a:cs typeface="Segoe UI"/>
              </a:rPr>
              <a:t>iti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ti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n</a:t>
            </a:r>
          </a:p>
          <a:p>
            <a:pPr marL="241300" marR="40957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/home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 err="1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-node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200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rm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ask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permission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execute;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/var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ordinary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larger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1mbytes.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ordinary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two days,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dirty="0"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j</a:t>
            </a:r>
            <a:r>
              <a:rPr lang="en-GB" sz="1200" spc="-20" noProof="0" dirty="0">
                <a:latin typeface="+mn-lt"/>
                <a:cs typeface="Segoe UI"/>
              </a:rPr>
              <a:t>us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he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 err="1">
                <a:latin typeface="+mn-lt"/>
                <a:cs typeface="Segoe UI"/>
              </a:rPr>
              <a:t>i</a:t>
            </a:r>
            <a:r>
              <a:rPr lang="en-GB" sz="1200" spc="-20" noProof="0" dirty="0" err="1">
                <a:latin typeface="+mn-lt"/>
                <a:cs typeface="Segoe UI"/>
              </a:rPr>
              <a:t>n</a:t>
            </a:r>
            <a:r>
              <a:rPr lang="en-GB" sz="1200" spc="-15" noProof="0" dirty="0" err="1">
                <a:latin typeface="+mn-lt"/>
                <a:cs typeface="Segoe UI"/>
              </a:rPr>
              <a:t>od</a:t>
            </a:r>
            <a:r>
              <a:rPr lang="en-GB" sz="1200" spc="5" noProof="0" dirty="0" err="1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15" noProof="0" dirty="0">
                <a:latin typeface="+mn-lt"/>
                <a:cs typeface="Segoe UI"/>
              </a:rPr>
              <a:t>b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855033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333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41630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216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mlocate.db</a:t>
            </a:r>
            <a:r>
              <a:rPr lang="en-GB" sz="1200" spc="-25" noProof="0" dirty="0">
                <a:latin typeface="+mn-lt"/>
                <a:cs typeface="Segoe UI"/>
              </a:rPr>
              <a:t>(5)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updatedb</a:t>
            </a:r>
            <a:r>
              <a:rPr lang="en-GB" sz="1200" spc="-20" noProof="0" dirty="0">
                <a:latin typeface="+mn-lt"/>
                <a:cs typeface="Segoe UI"/>
              </a:rPr>
              <a:t>(8),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whose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5" noProof="0" dirty="0">
                <a:latin typeface="+mn-lt"/>
                <a:cs typeface="Segoe UI"/>
              </a:rPr>
              <a:t>/etc/</a:t>
            </a:r>
            <a:r>
              <a:rPr lang="en-GB" sz="1200" spc="-25" noProof="0" dirty="0" err="1">
                <a:latin typeface="+mn-lt"/>
                <a:cs typeface="Segoe UI"/>
              </a:rPr>
              <a:t>update.conf</a:t>
            </a:r>
            <a:r>
              <a:rPr lang="en-GB" sz="1200" spc="-25" noProof="0" dirty="0">
                <a:latin typeface="+mn-lt"/>
                <a:cs typeface="Segoe UI"/>
              </a:rPr>
              <a:t>.</a:t>
            </a:r>
            <a:endParaRPr lang="en-GB" sz="1200" spc="-3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3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 allows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administrator</a:t>
            </a:r>
            <a:r>
              <a:rPr lang="en-GB" sz="1200" spc="-15" noProof="0" dirty="0">
                <a:latin typeface="+mn-lt"/>
                <a:cs typeface="Segoe UI"/>
              </a:rPr>
              <a:t> to </a:t>
            </a:r>
            <a:r>
              <a:rPr lang="en-GB" sz="1200" spc="-20" noProof="0" dirty="0">
                <a:latin typeface="+mn-lt"/>
                <a:cs typeface="Segoe UI"/>
              </a:rPr>
              <a:t>configure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should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indexed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purpose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locate(1)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skip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“prune”).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reports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6855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12037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Keeping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mlocate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fully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challenge.</a:t>
            </a:r>
            <a:endParaRPr lang="en-GB" sz="1200" spc="-55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continuous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 process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impose </a:t>
            </a:r>
            <a:r>
              <a:rPr lang="en-GB" sz="1200" spc="-15" noProof="0" dirty="0">
                <a:latin typeface="+mn-lt"/>
                <a:cs typeface="Segoe UI"/>
              </a:rPr>
              <a:t>too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much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overhead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(point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comparison: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Windows'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service).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reason,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daily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only.</a:t>
            </a:r>
            <a:endParaRPr lang="en-GB" sz="1200" spc="-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Normally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it's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rebuilt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overnight,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via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daily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job.</a:t>
            </a:r>
            <a:endParaRPr lang="en-GB" sz="1200" spc="-6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course,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content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date, </a:t>
            </a:r>
            <a:r>
              <a:rPr lang="en-GB" sz="1200" spc="-15" noProof="0" dirty="0">
                <a:latin typeface="+mn-lt"/>
                <a:cs typeface="Segoe UI"/>
              </a:rPr>
              <a:t> and should </a:t>
            </a:r>
            <a:r>
              <a:rPr lang="en-GB" sz="1200" spc="-10" noProof="0" dirty="0">
                <a:latin typeface="+mn-lt"/>
                <a:cs typeface="Segoe UI"/>
              </a:rPr>
              <a:t>not be </a:t>
            </a:r>
            <a:r>
              <a:rPr lang="en-GB" sz="1200" spc="-20" noProof="0" dirty="0">
                <a:latin typeface="+mn-lt"/>
                <a:cs typeface="Segoe UI"/>
              </a:rPr>
              <a:t>relied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too </a:t>
            </a:r>
            <a:r>
              <a:rPr lang="en-GB" sz="1200" spc="-25" noProof="0" dirty="0">
                <a:latin typeface="+mn-lt"/>
                <a:cs typeface="Segoe UI"/>
              </a:rPr>
              <a:t>decisively.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 err="1">
                <a:latin typeface="+mn-lt"/>
                <a:cs typeface="Segoe UI"/>
              </a:rPr>
              <a:t>updatedb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 </a:t>
            </a:r>
            <a:r>
              <a:rPr lang="en-GB" sz="1200" spc="-20" noProof="0" dirty="0">
                <a:latin typeface="+mn-lt"/>
                <a:cs typeface="Segoe UI"/>
              </a:rPr>
              <a:t>can refresh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state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database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demand,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PRUNENAMES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PRUNEPATHS definitions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5" noProof="0" dirty="0">
                <a:latin typeface="+mn-lt"/>
                <a:cs typeface="Segoe UI"/>
              </a:rPr>
              <a:t>/etc/</a:t>
            </a:r>
            <a:r>
              <a:rPr lang="en-GB" sz="1200" spc="-25" noProof="0" dirty="0" err="1">
                <a:latin typeface="+mn-lt"/>
                <a:cs typeface="Segoe UI"/>
              </a:rPr>
              <a:t>updatedb.conf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allow </a:t>
            </a:r>
            <a:r>
              <a:rPr lang="en-GB" sz="1200" spc="-15" noProof="0" dirty="0">
                <a:latin typeface="+mn-lt"/>
                <a:cs typeface="Segoe UI"/>
              </a:rPr>
              <a:t>to hide </a:t>
            </a:r>
            <a:r>
              <a:rPr lang="en-GB" sz="1200" spc="-20" noProof="0" dirty="0">
                <a:latin typeface="+mn-lt"/>
                <a:cs typeface="Segoe UI"/>
              </a:rPr>
              <a:t>directories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don't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index.</a:t>
            </a: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exclude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locations </a:t>
            </a:r>
            <a:r>
              <a:rPr lang="en-GB" sz="1200" spc="-20" noProof="0" dirty="0">
                <a:latin typeface="+mn-lt"/>
                <a:cs typeface="Segoe UI"/>
              </a:rPr>
              <a:t>because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temporary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nature,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plainly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interest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(like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browser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caches,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01150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78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endParaRPr lang="en-US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 isn’t. Normally, there is a daily </a:t>
            </a:r>
            <a:r>
              <a:rPr lang="en-US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job recreating the file index. It is advisable to run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r>
              <a:rPr lang="en-US" noProof="0" dirty="0">
                <a:latin typeface="+mn-lt"/>
              </a:rPr>
              <a:t> before using locate command.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  -exec command {} \;  -ok command {} \;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They use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noProof="0" dirty="0">
                <a:latin typeface="+mn-lt"/>
              </a:rPr>
              <a:t> variable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By listing the search criteria on the command line, separated by whitespace (though you can use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–a</a:t>
            </a:r>
            <a:r>
              <a:rPr lang="en-US" noProof="0" dirty="0">
                <a:latin typeface="+mn-lt"/>
              </a:rPr>
              <a:t> The </a:t>
            </a:r>
            <a:r>
              <a:rPr lang="en-US" i="1" noProof="0" dirty="0">
                <a:latin typeface="+mn-lt"/>
              </a:rPr>
              <a:t>AND</a:t>
            </a:r>
            <a:r>
              <a:rPr lang="en-US" noProof="0" dirty="0">
                <a:latin typeface="+mn-lt"/>
              </a:rPr>
              <a:t> operator)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By listing the search criteria on the command line, separating them with 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 </a:t>
            </a:r>
            <a:r>
              <a:rPr lang="en-US" noProof="0" dirty="0">
                <a:latin typeface="+mn-lt"/>
              </a:rPr>
              <a:t>(</a:t>
            </a:r>
            <a:r>
              <a:rPr lang="en-US" i="1" noProof="0" dirty="0">
                <a:latin typeface="+mn-lt"/>
              </a:rPr>
              <a:t>OR</a:t>
            </a:r>
            <a:r>
              <a:rPr lang="en-US" noProof="0" dirty="0">
                <a:latin typeface="+mn-lt"/>
              </a:rPr>
              <a:t> operator).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6150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60100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31207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692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8.png"/><Relationship Id="rId4" Type="http://schemas.openxmlformats.org/officeDocument/2006/relationships/image" Target="../media/image3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8.png"/><Relationship Id="rId4" Type="http://schemas.openxmlformats.org/officeDocument/2006/relationships/image" Target="../media/image44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8.png"/><Relationship Id="rId4" Type="http://schemas.openxmlformats.org/officeDocument/2006/relationships/image" Target="../media/image50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8.png"/><Relationship Id="rId4" Type="http://schemas.openxmlformats.org/officeDocument/2006/relationships/image" Target="../media/image56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363005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740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978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52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us Symbo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00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11: File tools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32264FE-6672-2687-981C-32F2BB9E0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D4D7A8-CBA5-5C0D-C1F9-A1D43D15B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27549"/>
              </p:ext>
            </p:extLst>
          </p:nvPr>
        </p:nvGraphicFramePr>
        <p:xfrm>
          <a:off x="473406" y="3766289"/>
          <a:ext cx="5373212" cy="139683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73212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11: File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12: Backup and compression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13: Pipes and filters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80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Locate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695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Path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FA88374-C864-0D75-3E49-309396D6D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568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03518-D536-9920-C84C-2AAC81259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type (recap)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  <a:r>
              <a:rPr lang="en-US" b="1" spc="24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identify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where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comes</a:t>
            </a:r>
            <a:r>
              <a:rPr lang="en-US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from.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Similar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sequence</a:t>
            </a:r>
            <a:r>
              <a:rPr lang="en-US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checks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as performed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shells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searching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Useful</a:t>
            </a:r>
            <a:r>
              <a:rPr lang="en-US" spc="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  <a:r>
              <a:rPr lang="en-US" b="1" spc="12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</a:rPr>
              <a:t>option: </a:t>
            </a:r>
            <a:r>
              <a:rPr lang="en-US" b="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</a:rPr>
              <a:t>which shows all it could find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noProof="0" dirty="0">
                <a:solidFill>
                  <a:schemeClr val="tx1"/>
                </a:solidFill>
                <a:cs typeface="Segoe UI"/>
              </a:rPr>
              <a:t>Bash checks if a command is in this order: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An alias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keyword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function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built-in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An external command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1D0C9F-975A-9AD3-2CB5-43207A0F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4798412"/>
            <a:ext cx="6770687" cy="118494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–a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aliased 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`ls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--color=auto‘</a:t>
            </a:r>
          </a:p>
          <a:p>
            <a:pPr marL="10319">
              <a:spcBef>
                <a:spcPts val="81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12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9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84DF6-A797-2D94-3540-71DE07DBB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PATH variable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often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referred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2D2C2C"/>
                </a:solidFill>
                <a:cs typeface="Segoe UI"/>
              </a:rPr>
              <a:t>search</a:t>
            </a:r>
            <a:r>
              <a:rPr lang="en-US" sz="1800" b="1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path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Shells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locate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external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until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found. </a:t>
            </a:r>
            <a:endParaRPr lang="en-US" sz="1800" noProof="0" dirty="0">
              <a:cs typeface="Segoe UI"/>
            </a:endParaRPr>
          </a:p>
          <a:p>
            <a:pPr marL="51800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searched, unless in</a:t>
            </a:r>
            <a:r>
              <a:rPr lang="en-US" sz="1800" spc="-12" noProof="0" dirty="0">
                <a:solidFill>
                  <a:srgbClr val="2D2C2C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Set and changed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z="1800" b="1" spc="-12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and/or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start-up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Interactively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session,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line: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Bypassing</a:t>
            </a:r>
            <a:r>
              <a:rPr lang="en-US" sz="1800" noProof="0" dirty="0">
                <a:solidFill>
                  <a:srgbClr val="2D2C2C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telling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program’s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location: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54ABDF-F115-A7CC-E5EF-32DAB4D2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141" y="3732764"/>
            <a:ext cx="7400041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400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–c</a:t>
            </a:r>
            <a:r>
              <a:rPr lang="en-US" sz="1400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'echo PATH=${PATH}:/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’ &gt;&gt; 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2A9B2A9-A4C3-C411-4881-92DD8A68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141" y="4200299"/>
            <a:ext cx="7400041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export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PATH=${PATH}:${HOME}/bin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B462B0B-9CB4-B479-4D63-80ED49E8C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557" y="5028971"/>
            <a:ext cx="7400041" cy="105285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 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</a:t>
            </a:r>
            <a:r>
              <a:rPr lang="en-US" sz="14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8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     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a relative path</a:t>
            </a:r>
          </a:p>
        </p:txBody>
      </p:sp>
    </p:spTree>
    <p:extLst>
      <p:ext uri="{BB962C8B-B14F-4D97-AF65-F5344CB8AC3E}">
        <p14:creationId xmlns:p14="http://schemas.microsoft.com/office/powerpoint/2010/main" val="223315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4C949AA-0D8B-4BE5-FD7C-21D73C04C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458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F43FF9-6FE6-746A-A814-43EE03E3D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find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 one of the tools used to locate files.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Originally used on UNIX systems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Has been tweaked on Linux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Searches the live filesystem recursively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Syntax: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 Linux the only required word is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find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itself.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(LU) Default search criteria is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all ‘files’</a:t>
            </a:r>
          </a:p>
          <a:p>
            <a:pPr marL="469953" lvl="2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(L) Default starting directory is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current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(L) Default action </a:t>
            </a:r>
            <a:r>
              <a:rPr lang="en-US" sz="1800" spc="-8" noProof="0" dirty="0">
                <a:solidFill>
                  <a:srgbClr val="7030A0"/>
                </a:solidFill>
                <a:cs typeface="Segoe UI"/>
              </a:rPr>
              <a:t>is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display the path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of found item</a:t>
            </a:r>
          </a:p>
          <a:p>
            <a:endParaRPr lang="en-US" sz="1800" noProof="0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8C69168D-A855-A383-5B5C-4816F5069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14678"/>
              </p:ext>
            </p:extLst>
          </p:nvPr>
        </p:nvGraphicFramePr>
        <p:xfrm>
          <a:off x="2031206" y="359156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2740271078"/>
                    </a:ext>
                  </a:extLst>
                </a:gridCol>
                <a:gridCol w="868920">
                  <a:extLst>
                    <a:ext uri="{9D8B030D-6E8A-4147-A177-3AD203B41FA5}">
                      <a16:colId xmlns:a16="http://schemas.microsoft.com/office/drawing/2014/main" val="3984428466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2572427041"/>
                    </a:ext>
                  </a:extLst>
                </a:gridCol>
                <a:gridCol w="3265012">
                  <a:extLst>
                    <a:ext uri="{9D8B030D-6E8A-4147-A177-3AD203B41FA5}">
                      <a16:colId xmlns:a16="http://schemas.microsoft.com/office/drawing/2014/main" val="33881134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87380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[-L]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[Dir(s)]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</a:t>
                      </a:r>
                      <a:r>
                        <a:rPr lang="en-US" noProof="0" dirty="0" err="1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Search_criteria</a:t>
                      </a:r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(s)]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[Action]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93493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03D0682-B34D-93E6-3EFD-BAD9FA1EF4B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4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8BBB89-021F-E901-E8F8-0245C687F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Search criteria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B49E8BD5-36E1-CAC0-31C5-396C0F2D7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983065"/>
              </p:ext>
            </p:extLst>
          </p:nvPr>
        </p:nvGraphicFramePr>
        <p:xfrm>
          <a:off x="1679545" y="1792816"/>
          <a:ext cx="8832329" cy="400762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00036">
                  <a:extLst>
                    <a:ext uri="{9D8B030D-6E8A-4147-A177-3AD203B41FA5}">
                      <a16:colId xmlns:a16="http://schemas.microsoft.com/office/drawing/2014/main" val="2007301274"/>
                    </a:ext>
                  </a:extLst>
                </a:gridCol>
                <a:gridCol w="6232293">
                  <a:extLst>
                    <a:ext uri="{9D8B030D-6E8A-4147-A177-3AD203B41FA5}">
                      <a16:colId xmlns:a16="http://schemas.microsoft.com/office/drawing/2014/main" val="260219051"/>
                    </a:ext>
                  </a:extLst>
                </a:gridCol>
              </a:tblGrid>
              <a:tr h="395814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Find files that: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3919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-name</a:t>
                      </a:r>
                      <a:r>
                        <a:rPr lang="en-US" sz="1800" b="1" spc="-6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i="1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0440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50" noProof="0" dirty="0"/>
                        <a:t> </a:t>
                      </a:r>
                      <a:r>
                        <a:rPr lang="en-US" sz="1800" spc="-10" noProof="0" dirty="0"/>
                        <a:t>called</a:t>
                      </a:r>
                      <a:r>
                        <a:rPr lang="en-US" sz="1800" spc="25" noProof="0" dirty="0"/>
                        <a:t> </a:t>
                      </a:r>
                      <a:r>
                        <a:rPr lang="en-US" sz="1800" spc="-15" noProof="0" dirty="0"/>
                        <a:t>name (put wildcard names in single quotes)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30440" marB="0"/>
                </a:tc>
                <a:extLst>
                  <a:ext uri="{0D108BD9-81ED-4DB2-BD59-A6C34878D82A}">
                    <a16:rowId xmlns:a16="http://schemas.microsoft.com/office/drawing/2014/main" val="3376479943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-user</a:t>
                      </a:r>
                      <a:r>
                        <a:rPr lang="en-US" sz="1800" b="1" spc="-4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-15" noProof="0" dirty="0"/>
                        <a:t>owned</a:t>
                      </a:r>
                      <a:r>
                        <a:rPr lang="en-US" sz="1800" spc="50" noProof="0" dirty="0"/>
                        <a:t> </a:t>
                      </a:r>
                      <a:r>
                        <a:rPr lang="en-US" sz="1800" spc="-5" noProof="0" dirty="0"/>
                        <a:t>by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user</a:t>
                      </a:r>
                      <a:r>
                        <a:rPr lang="en-US" sz="1800" spc="-15" noProof="0" dirty="0"/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3571118209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-group</a:t>
                      </a:r>
                      <a:r>
                        <a:rPr lang="en-US" sz="1800" b="1" spc="-4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-15" noProof="0" dirty="0"/>
                        <a:t>owned</a:t>
                      </a:r>
                      <a:r>
                        <a:rPr lang="en-US" sz="1800" spc="50" noProof="0" dirty="0"/>
                        <a:t> </a:t>
                      </a:r>
                      <a:r>
                        <a:rPr lang="en-US" sz="1800" spc="-5" noProof="0" dirty="0"/>
                        <a:t>by</a:t>
                      </a:r>
                      <a:r>
                        <a:rPr lang="en-US" sz="1800" spc="-15" noProof="0" dirty="0"/>
                        <a:t> </a:t>
                      </a:r>
                      <a:r>
                        <a:rPr lang="en-US" sz="1800" spc="-5" noProof="0" dirty="0"/>
                        <a:t>group</a:t>
                      </a:r>
                      <a:r>
                        <a:rPr lang="en-US" sz="1800" spc="15" noProof="0" dirty="0"/>
                        <a:t> </a:t>
                      </a:r>
                      <a:r>
                        <a:rPr lang="en-US" sz="1800" spc="-15" noProof="0" dirty="0"/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207375598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-type</a:t>
                      </a:r>
                      <a:r>
                        <a:rPr lang="en-US" sz="1800" b="1" spc="-3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fdlcb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-15" noProof="0" dirty="0"/>
                        <a:t> given</a:t>
                      </a:r>
                      <a:r>
                        <a:rPr lang="en-US" sz="1800" spc="55" noProof="0" dirty="0"/>
                        <a:t> </a:t>
                      </a:r>
                      <a:r>
                        <a:rPr lang="en-US" sz="1800" spc="-25" noProof="0" dirty="0"/>
                        <a:t>type </a:t>
                      </a:r>
                      <a:r>
                        <a:rPr lang="en-US" sz="1800" noProof="0" dirty="0"/>
                        <a:t>(f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5" noProof="0" dirty="0"/>
                        <a:t>: </a:t>
                      </a:r>
                      <a:r>
                        <a:rPr lang="en-US" sz="1800" spc="-10" noProof="0" dirty="0"/>
                        <a:t>ordinary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file,</a:t>
                      </a:r>
                      <a:r>
                        <a:rPr lang="en-US" sz="1800" spc="10" noProof="0" dirty="0"/>
                        <a:t> </a:t>
                      </a:r>
                      <a:r>
                        <a:rPr lang="en-US" sz="1800" spc="-5" noProof="0" dirty="0"/>
                        <a:t>d :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25" noProof="0" dirty="0"/>
                        <a:t>directory,</a:t>
                      </a:r>
                      <a:r>
                        <a:rPr lang="en-US" sz="1800" spc="60" noProof="0" dirty="0"/>
                        <a:t> </a:t>
                      </a:r>
                      <a:r>
                        <a:rPr lang="en-US" sz="1800" spc="-5" noProof="0" dirty="0" err="1"/>
                        <a:t>etc</a:t>
                      </a:r>
                      <a:r>
                        <a:rPr lang="en-US" sz="1800" spc="-5" noProof="0" dirty="0"/>
                        <a:t>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2908002960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-size</a:t>
                      </a:r>
                      <a:r>
                        <a:rPr lang="en-US" sz="1800" b="1" spc="-7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r>
                        <a:rPr lang="en-US" sz="180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n[ck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2731770" algn="l"/>
                          <a:tab pos="4005579" algn="l"/>
                        </a:tabLst>
                      </a:pPr>
                      <a:r>
                        <a:rPr lang="en-US" sz="1800" spc="-5" noProof="0" dirty="0"/>
                        <a:t>Use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n</a:t>
                      </a:r>
                      <a:r>
                        <a:rPr lang="en-US" sz="1800" spc="15" noProof="0" dirty="0"/>
                        <a:t> </a:t>
                      </a:r>
                      <a:r>
                        <a:rPr lang="en-US" sz="1800" spc="-10" noProof="0" dirty="0"/>
                        <a:t>units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space (e.g.,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15" noProof="0" dirty="0"/>
                        <a:t>+10k </a:t>
                      </a:r>
                      <a:r>
                        <a:rPr lang="en-US" sz="1800" noProof="0" dirty="0"/>
                        <a:t>for</a:t>
                      </a:r>
                      <a:r>
                        <a:rPr lang="en-US" sz="1800" spc="-75" noProof="0" dirty="0"/>
                        <a:t> </a:t>
                      </a:r>
                      <a:r>
                        <a:rPr lang="en-US" sz="1800" spc="-5" noProof="0" dirty="0"/>
                        <a:t>&gt;</a:t>
                      </a:r>
                      <a:r>
                        <a:rPr lang="en-US" sz="1800" spc="-15" noProof="0" dirty="0"/>
                        <a:t> 10kb)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1519183378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inum</a:t>
                      </a:r>
                      <a:r>
                        <a:rPr lang="en-US" sz="1800" b="1" spc="-8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number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15" noProof="0" dirty="0"/>
                        <a:t>Have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10" noProof="0" dirty="0" err="1"/>
                        <a:t>inode</a:t>
                      </a:r>
                      <a:r>
                        <a:rPr lang="en-US" sz="1800" spc="35" noProof="0" dirty="0"/>
                        <a:t> </a:t>
                      </a:r>
                      <a:r>
                        <a:rPr lang="en-US" sz="1800" spc="-5" noProof="0" dirty="0"/>
                        <a:t>number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(hard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links)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334914623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atime</a:t>
                      </a:r>
                      <a:r>
                        <a:rPr lang="en-US" sz="1800" b="1" spc="-7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Accessed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5" noProof="0" dirty="0"/>
                        <a:t>more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10" noProof="0" dirty="0"/>
                        <a:t>than / within</a:t>
                      </a:r>
                      <a:r>
                        <a:rPr lang="en-US" sz="1800" spc="100" noProof="0" dirty="0"/>
                        <a:t> </a:t>
                      </a:r>
                      <a:r>
                        <a:rPr lang="en-US" sz="1800" spc="-5" noProof="0" dirty="0"/>
                        <a:t>n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number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25" noProof="0" dirty="0"/>
                        <a:t>days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413551419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mtime</a:t>
                      </a:r>
                      <a:r>
                        <a:rPr lang="en-US" sz="1800" b="1" spc="-9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Modified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5" noProof="0" dirty="0"/>
                        <a:t>more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10" noProof="0" dirty="0"/>
                        <a:t>than / within</a:t>
                      </a:r>
                      <a:r>
                        <a:rPr lang="en-US" sz="1800" spc="95" noProof="0" dirty="0"/>
                        <a:t> </a:t>
                      </a:r>
                      <a:r>
                        <a:rPr lang="en-US" sz="1800" spc="-5" noProof="0" dirty="0"/>
                        <a:t>n</a:t>
                      </a:r>
                      <a:r>
                        <a:rPr lang="en-US" sz="1800" spc="-15" noProof="0" dirty="0"/>
                        <a:t> </a:t>
                      </a:r>
                      <a:r>
                        <a:rPr lang="en-US" sz="1800" spc="-5" noProof="0" dirty="0"/>
                        <a:t>number</a:t>
                      </a:r>
                      <a:r>
                        <a:rPr lang="en-US" sz="1800" spc="-25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25" noProof="0" dirty="0"/>
                        <a:t>days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4044780585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-perm</a:t>
                      </a:r>
                      <a:r>
                        <a:rPr lang="en-US" sz="1800" b="1" spc="-5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]mode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spc="-15" noProof="0" dirty="0"/>
                        <a:t>Have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5" noProof="0" dirty="0"/>
                        <a:t>permission</a:t>
                      </a:r>
                      <a:r>
                        <a:rPr lang="en-US" sz="1800" spc="-10" noProof="0" dirty="0"/>
                        <a:t> bits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5" noProof="0" dirty="0"/>
                        <a:t>according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to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spc="-15" noProof="0" dirty="0"/>
                        <a:t>mode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93396330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3D0682-B34D-93E6-3EFD-BAD9FA1EF4B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208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8C6E7F-B15B-A003-02A5-B5E6609C3E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Multiple criteria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If multiple criteria exist like </a:t>
            </a:r>
            <a:r>
              <a:rPr lang="en-US" sz="1800" spc="-8" noProof="0" dirty="0" err="1">
                <a:solidFill>
                  <a:schemeClr val="tx1"/>
                </a:solidFill>
                <a:cs typeface="Segoe UI"/>
              </a:rPr>
              <a:t>maths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, there is an order of preference.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Deals with </a:t>
            </a:r>
            <a:r>
              <a:rPr lang="en-US" sz="1800" b="1" spc="-8" noProof="0" dirty="0">
                <a:cs typeface="Segoe UI"/>
              </a:rPr>
              <a:t>brackets</a:t>
            </a:r>
            <a:r>
              <a:rPr lang="en-US" sz="1800" spc="-8" noProof="0" dirty="0">
                <a:cs typeface="Segoe UI"/>
              </a:rPr>
              <a:t> first (left to right)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Then </a:t>
            </a:r>
            <a:r>
              <a:rPr lang="en-US" sz="1800" b="1" spc="-8" noProof="0" dirty="0">
                <a:cs typeface="Segoe UI"/>
              </a:rPr>
              <a:t>And</a:t>
            </a:r>
            <a:r>
              <a:rPr lang="en-US" sz="1800" spc="-8" noProof="0" dirty="0">
                <a:cs typeface="Segoe UI"/>
              </a:rPr>
              <a:t>s (left to right)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Then </a:t>
            </a:r>
            <a:r>
              <a:rPr lang="en-US" sz="1800" b="1" spc="-8" noProof="0" dirty="0">
                <a:cs typeface="Segoe UI"/>
              </a:rPr>
              <a:t>Or</a:t>
            </a:r>
            <a:r>
              <a:rPr lang="en-US" sz="1800" spc="-8" noProof="0" dirty="0">
                <a:cs typeface="Segoe UI"/>
              </a:rPr>
              <a:t>s (left to right)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example (the </a:t>
            </a:r>
            <a:r>
              <a:rPr lang="en-US" sz="1800" b="1" spc="-8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not needed):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Or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example: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And Not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example: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This?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C6EAA0-96DD-BA6D-4674-BDA019E1B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528" y="3004264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i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-a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atime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+90 -print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1F2A9FB-7575-4187-F76F-DCC57C517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528" y="3789091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-o -user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cecil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-print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36E8674-D5A9-A6C1-95DD-2DBA9B64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528" y="4706378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! –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mtime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-10 -print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7A4C6AF-CE62-9645-0A9A-E174D956E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20" y="5649221"/>
            <a:ext cx="7521655" cy="63607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 /var !</a:t>
            </a:r>
            <a:r>
              <a:rPr lang="en-US" sz="1600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\( -user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ian</a:t>
            </a:r>
            <a:r>
              <a:rPr lang="en-US" sz="1600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 -user bob \) -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mtime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-10 -print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095681-DDEA-8AA4-C73E-539C9591271D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170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B06704-51BB-4AEC-FE08-722708891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Traditional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(from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UNIX) (on Linux defaults to </a:t>
            </a:r>
            <a:r>
              <a:rPr lang="en-US" sz="1800" b="1" spc="-5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):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Selected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introduced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Linux: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9803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9BA6938C-1FD4-7A3F-B446-CF13ABF79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41725"/>
              </p:ext>
            </p:extLst>
          </p:nvPr>
        </p:nvGraphicFramePr>
        <p:xfrm>
          <a:off x="443922" y="2144970"/>
          <a:ext cx="7249969" cy="1747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3970">
                  <a:extLst>
                    <a:ext uri="{9D8B030D-6E8A-4147-A177-3AD203B41FA5}">
                      <a16:colId xmlns:a16="http://schemas.microsoft.com/office/drawing/2014/main" val="3522573771"/>
                    </a:ext>
                  </a:extLst>
                </a:gridCol>
                <a:gridCol w="5215999">
                  <a:extLst>
                    <a:ext uri="{9D8B030D-6E8A-4147-A177-3AD203B41FA5}">
                      <a16:colId xmlns:a16="http://schemas.microsoft.com/office/drawing/2014/main" val="1474598381"/>
                    </a:ext>
                  </a:extLst>
                </a:gridCol>
              </a:tblGrid>
              <a:tr h="294859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6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-print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9924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print paths of files found to </a:t>
                      </a:r>
                      <a:r>
                        <a:rPr lang="en-US" sz="1800" noProof="0" dirty="0" err="1"/>
                        <a:t>stdout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57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2056764" algn="l"/>
                          <a:tab pos="2393315" algn="l"/>
                        </a:tabLst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-exec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command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{}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\;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run given command for each file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5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325"/>
                        </a:lnSpc>
                        <a:spcBef>
                          <a:spcPts val="229"/>
                        </a:spcBef>
                        <a:tabLst>
                          <a:tab pos="1788795" algn="l"/>
                        </a:tabLst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-ok</a:t>
                      </a:r>
                      <a:r>
                        <a:rPr lang="en-US" sz="1800" b="1" spc="-2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command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{}</a:t>
                      </a:r>
                      <a:r>
                        <a:rPr lang="en-US" sz="1800" b="1" spc="-5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\;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run given command for each file found, but asks for confirmation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83251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8198A10-DFD5-B655-59E6-03416618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633384"/>
              </p:ext>
            </p:extLst>
          </p:nvPr>
        </p:nvGraphicFramePr>
        <p:xfrm>
          <a:off x="4747923" y="4304351"/>
          <a:ext cx="6770688" cy="2123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5095">
                  <a:extLst>
                    <a:ext uri="{9D8B030D-6E8A-4147-A177-3AD203B41FA5}">
                      <a16:colId xmlns:a16="http://schemas.microsoft.com/office/drawing/2014/main" val="2665777620"/>
                    </a:ext>
                  </a:extLst>
                </a:gridCol>
                <a:gridCol w="5265593">
                  <a:extLst>
                    <a:ext uri="{9D8B030D-6E8A-4147-A177-3AD203B41FA5}">
                      <a16:colId xmlns:a16="http://schemas.microsoft.com/office/drawing/2014/main" val="1161152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25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-delete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0956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use with caution</a:t>
                      </a:r>
                    </a:p>
                    <a:p>
                      <a:r>
                        <a:rPr lang="en-US" sz="1800" noProof="0" dirty="0"/>
                        <a:t>(always place at the 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16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-ls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list files in the ls –</a:t>
                      </a:r>
                      <a:r>
                        <a:rPr lang="en-US" sz="1800" noProof="0" dirty="0" err="1"/>
                        <a:t>dils</a:t>
                      </a:r>
                      <a:r>
                        <a:rPr lang="en-US" sz="1800" noProof="0" dirty="0"/>
                        <a:t>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7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printf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display according to formatting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912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fprint</a:t>
                      </a:r>
                      <a:r>
                        <a:rPr lang="en-US" sz="1800" b="1" spc="-6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&lt;</a:t>
                      </a:r>
                      <a:r>
                        <a:rPr lang="en-US" sz="1800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file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&gt;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send the </a:t>
                      </a:r>
                      <a:r>
                        <a:rPr lang="en-US" sz="1800" noProof="0" dirty="0" err="1"/>
                        <a:t>stdout</a:t>
                      </a:r>
                      <a:r>
                        <a:rPr lang="en-US" sz="1800" noProof="0" dirty="0"/>
                        <a:t> to the file specified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92835"/>
                  </a:ext>
                </a:extLst>
              </a:tr>
            </a:tbl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5572073-17B8-92C4-124F-89D46CFA599B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97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D3177EA-B07B-4E9E-9F6B-A421E248E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Knowledge check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What</a:t>
            </a:r>
            <a:r>
              <a:rPr lang="en-US" sz="1800" spc="-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following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3333CC"/>
                </a:solidFill>
                <a:cs typeface="Segoe UI"/>
              </a:rPr>
              <a:t>find</a:t>
            </a:r>
            <a:r>
              <a:rPr lang="en-US" sz="1800" b="1" spc="-12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do?</a:t>
            </a:r>
            <a:endParaRPr lang="en-US" sz="1800" noProof="0" dirty="0">
              <a:cs typeface="Segoe U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AFFFD0-7A96-C054-4267-74524B227D7B}"/>
              </a:ext>
            </a:extLst>
          </p:cNvPr>
          <p:cNvGrpSpPr/>
          <p:nvPr/>
        </p:nvGrpSpPr>
        <p:grpSpPr>
          <a:xfrm>
            <a:off x="1405988" y="2529480"/>
            <a:ext cx="7161114" cy="3344505"/>
            <a:chOff x="4646101" y="1963577"/>
            <a:chExt cx="7161114" cy="3344505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50118EB7-BDF1-41E6-8B26-5DB85A2EC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528" y="1963577"/>
              <a:ext cx="6770687" cy="3344505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7391">
                <a:spcBef>
                  <a:spcPts val="150"/>
                </a:spcBef>
              </a:pPr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</a:t>
              </a:r>
              <a:r>
                <a:rPr lang="en-US" sz="1600" b="1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hosts –print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2&gt;/dev/null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lang="en-US" sz="1600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 .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-type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–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fprint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tmp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tree.list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2&gt;/dev/null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usr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X11 -print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 .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tmp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usr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 core -exec file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/home 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inum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200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-ok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rm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 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/var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-type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-size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+1M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-exec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-l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 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. -type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 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mtime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-2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printf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'%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\n'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4B07493-2D92-93E7-1DB7-DC22C5740BB0}"/>
                </a:ext>
              </a:extLst>
            </p:cNvPr>
            <p:cNvGrpSpPr/>
            <p:nvPr/>
          </p:nvGrpSpPr>
          <p:grpSpPr>
            <a:xfrm>
              <a:off x="4646101" y="2019985"/>
              <a:ext cx="343682" cy="3288097"/>
              <a:chOff x="4840530" y="2856232"/>
              <a:chExt cx="343682" cy="3249976"/>
            </a:xfrm>
          </p:grpSpPr>
          <p:sp>
            <p:nvSpPr>
              <p:cNvPr id="4" name="Heptagon 3">
                <a:extLst>
                  <a:ext uri="{FF2B5EF4-FFF2-40B4-BE49-F238E27FC236}">
                    <a16:creationId xmlns:a16="http://schemas.microsoft.com/office/drawing/2014/main" id="{A20FFC4B-3FEA-3C42-77D3-1CA1D5C88B7A}"/>
                  </a:ext>
                </a:extLst>
              </p:cNvPr>
              <p:cNvSpPr/>
              <p:nvPr/>
            </p:nvSpPr>
            <p:spPr>
              <a:xfrm>
                <a:off x="4840530" y="2856232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7" name="Heptagon 6">
                <a:extLst>
                  <a:ext uri="{FF2B5EF4-FFF2-40B4-BE49-F238E27FC236}">
                    <a16:creationId xmlns:a16="http://schemas.microsoft.com/office/drawing/2014/main" id="{6C1B2A99-4F7C-8FF4-66B2-C11F828CFE81}"/>
                  </a:ext>
                </a:extLst>
              </p:cNvPr>
              <p:cNvSpPr/>
              <p:nvPr/>
            </p:nvSpPr>
            <p:spPr>
              <a:xfrm>
                <a:off x="4840531" y="3316705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2</a:t>
                </a:r>
              </a:p>
            </p:txBody>
          </p:sp>
          <p:sp>
            <p:nvSpPr>
              <p:cNvPr id="8" name="Heptagon 7">
                <a:extLst>
                  <a:ext uri="{FF2B5EF4-FFF2-40B4-BE49-F238E27FC236}">
                    <a16:creationId xmlns:a16="http://schemas.microsoft.com/office/drawing/2014/main" id="{E1A84B08-D46E-7316-8728-DA1D67C11D6B}"/>
                  </a:ext>
                </a:extLst>
              </p:cNvPr>
              <p:cNvSpPr/>
              <p:nvPr/>
            </p:nvSpPr>
            <p:spPr>
              <a:xfrm>
                <a:off x="4840531" y="3839294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3</a:t>
                </a:r>
              </a:p>
            </p:txBody>
          </p:sp>
          <p:sp>
            <p:nvSpPr>
              <p:cNvPr id="9" name="Heptagon 8">
                <a:extLst>
                  <a:ext uri="{FF2B5EF4-FFF2-40B4-BE49-F238E27FC236}">
                    <a16:creationId xmlns:a16="http://schemas.microsoft.com/office/drawing/2014/main" id="{76873EB7-21F1-7B89-1B01-0A511A8B22A7}"/>
                  </a:ext>
                </a:extLst>
              </p:cNvPr>
              <p:cNvSpPr/>
              <p:nvPr/>
            </p:nvSpPr>
            <p:spPr>
              <a:xfrm>
                <a:off x="4855739" y="4330825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4</a:t>
                </a:r>
              </a:p>
            </p:txBody>
          </p:sp>
          <p:sp>
            <p:nvSpPr>
              <p:cNvPr id="10" name="Heptagon 9">
                <a:extLst>
                  <a:ext uri="{FF2B5EF4-FFF2-40B4-BE49-F238E27FC236}">
                    <a16:creationId xmlns:a16="http://schemas.microsoft.com/office/drawing/2014/main" id="{DE8BBA5B-DED5-E888-6C43-5E6455F42F87}"/>
                  </a:ext>
                </a:extLst>
              </p:cNvPr>
              <p:cNvSpPr/>
              <p:nvPr/>
            </p:nvSpPr>
            <p:spPr>
              <a:xfrm>
                <a:off x="4855738" y="4822356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>
                    <a:solidFill>
                      <a:schemeClr val="tx1"/>
                    </a:solidFill>
                    <a:cs typeface="Arial" pitchFamily="34" charset="0"/>
                  </a:rPr>
                  <a:t>5</a:t>
                </a:r>
                <a:endParaRPr lang="en-US" sz="1800" b="1" noProof="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1" name="Heptagon 10">
                <a:extLst>
                  <a:ext uri="{FF2B5EF4-FFF2-40B4-BE49-F238E27FC236}">
                    <a16:creationId xmlns:a16="http://schemas.microsoft.com/office/drawing/2014/main" id="{CB3DCCC8-11DF-4E58-0191-02EEB4F5F3D2}"/>
                  </a:ext>
                </a:extLst>
              </p:cNvPr>
              <p:cNvSpPr/>
              <p:nvPr/>
            </p:nvSpPr>
            <p:spPr>
              <a:xfrm>
                <a:off x="4859359" y="5313887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6</a:t>
                </a:r>
              </a:p>
            </p:txBody>
          </p:sp>
          <p:sp>
            <p:nvSpPr>
              <p:cNvPr id="13" name="Heptagon 12">
                <a:extLst>
                  <a:ext uri="{FF2B5EF4-FFF2-40B4-BE49-F238E27FC236}">
                    <a16:creationId xmlns:a16="http://schemas.microsoft.com/office/drawing/2014/main" id="{A8FB7C20-2B13-7594-CB47-885388464383}"/>
                  </a:ext>
                </a:extLst>
              </p:cNvPr>
              <p:cNvSpPr/>
              <p:nvPr/>
            </p:nvSpPr>
            <p:spPr>
              <a:xfrm>
                <a:off x="4840530" y="5805418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7</a:t>
                </a:r>
              </a:p>
            </p:txBody>
          </p:sp>
        </p:grpSp>
      </p:grp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BAF2F29-D93F-9F55-B8C2-61C9804BB1E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789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DDC0CF-BF6C-6ACE-AA92-8D2B0D311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9A8263-FDB2-FC97-C4B9-88D515D30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293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713EBC-794F-D13B-2571-57F7B4E7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11 – T1 and T2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660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21A2C58-0860-BAEF-4561-17E6E2C54C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3290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71EE56-DAE1-578E-0155-1387F2112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Written by Red Hat but available in other distributions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Use a database of found files rather than live search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cs typeface="Segoe UI"/>
              </a:rPr>
              <a:t>Database: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b="1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sz="1800" b="1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As up-to-date as the last database update typically run overnight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ea typeface="Hack" panose="020B0609030202020204" pitchFamily="49" charset="0"/>
                <a:cs typeface="Hack" panose="020B0609030202020204" pitchFamily="49" charset="0"/>
              </a:rPr>
              <a:t>Configuration</a:t>
            </a:r>
            <a:r>
              <a:rPr lang="en-US" sz="1800" spc="33" noProof="0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28" noProof="0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8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updatedb.conf</a:t>
            </a:r>
            <a:endParaRPr lang="en-US" sz="1800" b="1" spc="-8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chemeClr val="tx1"/>
                </a:solidFill>
                <a:cs typeface="Segoe UI"/>
              </a:rPr>
              <a:t>Runs as a</a:t>
            </a:r>
            <a:r>
              <a:rPr lang="en-US" sz="1800" b="1" noProof="0" dirty="0">
                <a:solidFill>
                  <a:schemeClr val="tx1"/>
                </a:solidFill>
                <a:cs typeface="Segoe UI"/>
              </a:rPr>
              <a:t> partial </a:t>
            </a:r>
            <a:r>
              <a:rPr lang="en-US" sz="1800" noProof="0" dirty="0">
                <a:solidFill>
                  <a:schemeClr val="tx1"/>
                </a:solidFill>
                <a:cs typeface="Segoe UI"/>
              </a:rPr>
              <a:t>string search rather than as the full name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 </a:t>
            </a:r>
            <a:r>
              <a:rPr lang="en-US" sz="1800" i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part_of_filename</a:t>
            </a:r>
            <a:endParaRPr lang="en-US" sz="1800" i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8789E9-6821-A381-C07A-9327C35A0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760" y="2548470"/>
            <a:ext cx="5711215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tabLst>
                <a:tab pos="3793173" algn="l"/>
              </a:tabLst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	data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A535746-C6B2-1F69-0E20-580F85290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1472" y="4071789"/>
            <a:ext cx="6168415" cy="87716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updatedb.conf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PRUNEFS= "auto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iso9660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udf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vmhgfs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“</a:t>
            </a:r>
          </a:p>
          <a:p>
            <a:pPr marL="10319">
              <a:spcBef>
                <a:spcPts val="81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PRUNEPATHS="/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/media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/net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sfs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udev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...”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6A80F4B-FF0C-66F5-54D5-B06D0735549C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800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50B82-1507-CBB0-C88D-C53C2A8BD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 </a:t>
            </a:r>
            <a:r>
              <a:rPr lang="en-US" sz="1800" i="1" noProof="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part_of_filename</a:t>
            </a:r>
            <a:endParaRPr lang="en-US" sz="1800" i="1" noProof="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Additional switches include:</a:t>
            </a:r>
          </a:p>
          <a:p>
            <a:endParaRPr lang="en-US" sz="1800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sz="3200" noProof="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FF312757-6D09-A86C-231A-27AA90A26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62922"/>
              </p:ext>
            </p:extLst>
          </p:nvPr>
        </p:nvGraphicFramePr>
        <p:xfrm>
          <a:off x="2710167" y="3150648"/>
          <a:ext cx="6770077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7241">
                  <a:extLst>
                    <a:ext uri="{9D8B030D-6E8A-4147-A177-3AD203B41FA5}">
                      <a16:colId xmlns:a16="http://schemas.microsoft.com/office/drawing/2014/main" val="3375478741"/>
                    </a:ext>
                  </a:extLst>
                </a:gridCol>
                <a:gridCol w="5092836">
                  <a:extLst>
                    <a:ext uri="{9D8B030D-6E8A-4147-A177-3AD203B41FA5}">
                      <a16:colId xmlns:a16="http://schemas.microsoft.com/office/drawing/2014/main" val="154315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89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Hack" panose="020B0609030202020204"/>
                        </a:rPr>
                        <a:t>-c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4" noProof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ount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 number</a:t>
                      </a:r>
                      <a:r>
                        <a:rPr lang="en-US" sz="1800" spc="53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20" noProof="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matching</a:t>
                      </a:r>
                      <a:r>
                        <a:rPr lang="en-US" sz="1800" spc="57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lines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04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Hack" panose="020B0609030202020204"/>
                        </a:rPr>
                        <a:t>i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spc="-8" noProof="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gnore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en-US" sz="1800" spc="2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when</a:t>
                      </a:r>
                      <a:r>
                        <a:rPr lang="en-US" sz="1800" spc="37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matching</a:t>
                      </a:r>
                      <a:r>
                        <a:rPr lang="en-US" sz="1800" spc="53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patterns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529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Hack" panose="020B0609030202020204"/>
                        </a:rPr>
                        <a:t>-l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Follow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symbolic</a:t>
                      </a:r>
                      <a:r>
                        <a:rPr lang="en-US" sz="1800" spc="28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spc="-8" noProof="0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inks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711730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9FF1104-E35C-23DC-0149-0919F1BBF891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3840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8DE4-798B-3530-FCC2-DC405E5A8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Updatedb.conf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database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good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content.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Typically,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rebuilt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once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day,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job.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Hat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Ubuntu,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Scope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cache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via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2D2C2C"/>
                </a:solidFill>
                <a:cs typeface="Segoe UI"/>
              </a:rPr>
              <a:t>prune</a:t>
            </a:r>
            <a:r>
              <a:rPr lang="en-US" sz="1800" b="1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definitions.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avoid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indexing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scanning: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Memory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Unreadable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Cached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filenames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Transient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filenames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Administrator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can</a:t>
            </a:r>
            <a:r>
              <a:rPr lang="en-US" sz="180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rebuild</a:t>
            </a:r>
            <a:r>
              <a:rPr lang="en-US" sz="1800" spc="2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US" sz="1800" spc="-12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database</a:t>
            </a:r>
            <a:r>
              <a:rPr lang="en-US" sz="180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US" sz="1800" spc="-12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demand: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sz="32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785F68-BBA5-3290-EFC7-C802246A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540150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sudo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updatedb</a:t>
            </a:r>
            <a:endParaRPr lang="en-US" sz="1600" noProof="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331B53D6-3D59-0CD8-757B-4DF71B6A411E}"/>
              </a:ext>
            </a:extLst>
          </p:cNvPr>
          <p:cNvGrpSpPr/>
          <p:nvPr/>
        </p:nvGrpSpPr>
        <p:grpSpPr>
          <a:xfrm>
            <a:off x="7964043" y="1979999"/>
            <a:ext cx="3443732" cy="2120856"/>
            <a:chOff x="4795964" y="3093275"/>
            <a:chExt cx="6565900" cy="2062480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5CC98150-49CE-31C9-9D23-C37F867AA9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5426" y="3102737"/>
              <a:ext cx="6546723" cy="2043176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797BC860-4017-7EF3-39D2-44459E0D08B3}"/>
                </a:ext>
              </a:extLst>
            </p:cNvPr>
            <p:cNvSpPr/>
            <p:nvPr/>
          </p:nvSpPr>
          <p:spPr>
            <a:xfrm>
              <a:off x="4800727" y="3098038"/>
              <a:ext cx="6556375" cy="2052955"/>
            </a:xfrm>
            <a:custGeom>
              <a:avLst/>
              <a:gdLst/>
              <a:ahLst/>
              <a:cxnLst/>
              <a:rect l="l" t="t" r="r" b="b"/>
              <a:pathLst>
                <a:path w="6556375" h="2052954">
                  <a:moveTo>
                    <a:pt x="0" y="2052701"/>
                  </a:moveTo>
                  <a:lnTo>
                    <a:pt x="6556248" y="2052701"/>
                  </a:lnTo>
                  <a:lnTo>
                    <a:pt x="6556248" y="0"/>
                  </a:lnTo>
                  <a:lnTo>
                    <a:pt x="0" y="0"/>
                  </a:lnTo>
                  <a:lnTo>
                    <a:pt x="0" y="2052701"/>
                  </a:lnTo>
                  <a:close/>
                </a:path>
              </a:pathLst>
            </a:custGeom>
            <a:ln w="9525">
              <a:solidFill>
                <a:srgbClr val="17375E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</p:grp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984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8087-F452-F0F9-F846-008ED6B5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D81BBA-A830-1198-33B2-CC9F5FE87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893D6B-4943-2ED8-C2E5-5FEB2DA46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8544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805FE6-F763-6DAD-13B8-6EA96FDBD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tool can be used to update the </a:t>
            </a:r>
            <a:r>
              <a:rPr lang="en-US" sz="1800" noProof="0" dirty="0" err="1"/>
              <a:t>mlocate</a:t>
            </a:r>
            <a:r>
              <a:rPr lang="en-US" sz="1800" noProof="0" dirty="0"/>
              <a:t> database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up to date is the </a:t>
            </a:r>
            <a:r>
              <a:rPr lang="en-US" sz="1800" noProof="0" dirty="0" err="1"/>
              <a:t>mlocate</a:t>
            </a:r>
            <a:r>
              <a:rPr lang="en-US" sz="1800" noProof="0" dirty="0"/>
              <a:t> database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the three default actions available in every implementation of the find command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do the which and type commands identify where an external command (a program on disk) is stored?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ask find to search for files that match two (or more) search criteria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ask find to search for files that match either one of two search criteria 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082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9950E1-6EEB-FA59-EB9E-8001CE9E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11 – T3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0355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7D9901-C939-FC85-F8FD-317465ED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16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33" noProof="0" dirty="0">
                <a:solidFill>
                  <a:srgbClr val="2D2C2C"/>
                </a:solidFill>
                <a:latin typeface="+mn-lt"/>
                <a:cs typeface="Segoe UI"/>
              </a:rPr>
              <a:t>PATH-aware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tools: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which</a:t>
            </a:r>
            <a:r>
              <a:rPr lang="en-US" sz="1800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-49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</a:p>
          <a:p>
            <a:pPr marL="289957" indent="-280154">
              <a:spcBef>
                <a:spcPts val="971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83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Applying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search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criteria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Effecting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actions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</a:t>
            </a:r>
            <a:r>
              <a:rPr lang="en-US" sz="1800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r>
              <a:rPr lang="en-US" sz="1800" b="1" spc="-20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ok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614482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Actions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unique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Linux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version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of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1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database: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83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Interrogation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614482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Refresh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3323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B18A-7297-7837-AAB6-355D294D0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24C4-B73B-1E95-51E6-6BF907C88D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08D6FFB-916D-A923-425A-3365445748E9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0790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microsoft.com/office/2006/documentManagement/types"/>
    <ds:schemaRef ds:uri="4851bab5-d36a-4f24-a761-998180967d12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52e7f57a-cc1d-4bce-9b60-d9dd785361c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19283</TotalTime>
  <Words>2526</Words>
  <Application>Microsoft Office PowerPoint</Application>
  <PresentationFormat>Widescreen</PresentationFormat>
  <Paragraphs>317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Aptos</vt:lpstr>
      <vt:lpstr>Arial</vt:lpstr>
      <vt:lpstr>Calibri</vt:lpstr>
      <vt:lpstr>Courier New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Red Module</vt:lpstr>
      <vt:lpstr>Purple Module</vt:lpstr>
      <vt:lpstr>Orange Module</vt:lpstr>
      <vt:lpstr>B/W Module</vt:lpstr>
      <vt:lpstr>Module 11: File tools</vt:lpstr>
      <vt:lpstr>Contents</vt:lpstr>
      <vt:lpstr>Path</vt:lpstr>
      <vt:lpstr>type (recap)</vt:lpstr>
      <vt:lpstr>PATH variable</vt:lpstr>
      <vt:lpstr>Find</vt:lpstr>
      <vt:lpstr>find</vt:lpstr>
      <vt:lpstr>Find: Search criteria</vt:lpstr>
      <vt:lpstr>Find: Multiple criteria</vt:lpstr>
      <vt:lpstr>Find: Actions</vt:lpstr>
      <vt:lpstr>Knowledge check</vt:lpstr>
      <vt:lpstr>Lab</vt:lpstr>
      <vt:lpstr>Practical exercise 11 – T1 and T2</vt:lpstr>
      <vt:lpstr>Locate</vt:lpstr>
      <vt:lpstr>Locate</vt:lpstr>
      <vt:lpstr>Locate command</vt:lpstr>
      <vt:lpstr>Updatedb.conf</vt:lpstr>
      <vt:lpstr>Review and lab</vt:lpstr>
      <vt:lpstr>Review questions</vt:lpstr>
      <vt:lpstr>Practical exercise 11 – T3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43</cp:revision>
  <dcterms:created xsi:type="dcterms:W3CDTF">2024-06-24T11:44:08Z</dcterms:created>
  <dcterms:modified xsi:type="dcterms:W3CDTF">2025-05-30T13:21:57Z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